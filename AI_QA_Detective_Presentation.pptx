
<file path=[Content_Types].xml><?xml version="1.0" encoding="utf-8"?>
<Types xmlns="http://schemas.openxmlformats.org/package/2006/content-types">
  <Default Extension="jpeg" ContentType="image/jpeg"/>
  <Default Extension="gif" ContentType="image/gi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142532691" r:id="rId5"/>
    <p:sldId id="2147482480" r:id="rId6"/>
    <p:sldId id="2147482481" r:id="rId7"/>
    <p:sldId id="2147482482" r:id="rId8"/>
    <p:sldId id="2147482492" r:id="rId9"/>
    <p:sldId id="2147482483" r:id="rId10"/>
    <p:sldId id="2147482484" r:id="rId11"/>
    <p:sldId id="2147482485" r:id="rId12"/>
    <p:sldId id="2147482486" r:id="rId13"/>
    <p:sldId id="2147482487" r:id="rId14"/>
    <p:sldId id="2147482488" r:id="rId15"/>
    <p:sldId id="2147482489" r:id="rId16"/>
    <p:sldId id="2147482490" r:id="rId17"/>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276D1D-C6CA-F54A-90E5-692A8DEA6E39}" name="Guest User" initials="GU" userId="S::urn:spo:tenantanon#3dcd35b5-f9c5-48ca-8653-821568ad3397::" providerId="AD"/>
  <p188:author id="{2C721B2C-5391-A48A-5E2C-F7E37873DB6E}" name="Chaytanya Bandishte" initials="CB" userId="Chaytanya Bandishte" providerId="None"/>
  <p188:author id="{C34A6937-FBE0-378B-2E93-D19CDF32EE2B}" name="Sheena Sandhu" initials="SS" userId="S::sheena.sandhu@alignedautomation.com::dca027a8-bbc2-4e1c-9531-ba5ebabd2bec" providerId="AD"/>
  <p188:author id="{3D7CC789-19CA-8CE6-5413-8A88F68619F3}" name="Zahra Rezaie" initials="ZR" userId="S::zahra.rezaie@alignedautomation.com::adace92b-d67b-4b93-8af0-30bde86cea07" providerId="AD"/>
  <p188:author id="{1F9A0DA9-01FD-89CD-40DB-EB256676375A}" name="Chaytanya Bandishte" initials="CB" userId="S::chaytanya.bandishte@alignedautomation.com::8b33e9f8-99e3-4783-9b6a-6271a1dfee4f" providerId="AD"/>
  <p188:author id="{DF30E5B5-FABE-9376-3664-3D8EE97410C1}" name="Shweta Abhijit Kulkarni" initials="" userId="S::shweta.kulkarni@alignedautomation.com::6bbac900-e867-46b7-8052-4cde05eb1c9c" providerId="AD"/>
  <p188:author id="{360429DC-CF3E-2343-FFB4-33E7C5405F62}" name="Joshua Solomon" initials="JS" userId="S::joshua.solomon@alignedautomation.com::20cf9af5-5275-47bd-ab7e-fa367de32160" providerId="AD"/>
  <p188:author id="{2E4E4CE7-2039-8590-7C78-EE50274B280A}" name="Homyar Bhathena" initials="HB" userId="S::homyar.bhathena@alignedautomation.com::06b8b912-9a4c-43b5-a3f4-ba9416602a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DF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6A6F40-4955-4B2D-8595-13D38AEB0101}" v="8" dt="2026-07-14T08:05:32.14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0784" autoAdjust="0"/>
  </p:normalViewPr>
  <p:slideViewPr>
    <p:cSldViewPr snapToGrid="0">
      <p:cViewPr>
        <p:scale>
          <a:sx n="60" d="100"/>
          <a:sy n="60" d="100"/>
        </p:scale>
        <p:origin x="1522" y="187"/>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A0D756-D53A-4484-92EA-327834045B43}" type="datetimeFigureOut">
              <a:rPr lang="en-IN" smtClean="0"/>
              <a:t>17-07-2026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4CEA73-17E1-4B80-A650-5FA11E4686DF}" type="slidenum">
              <a:rPr lang="en-IN" smtClean="0"/>
              <a:t>‹#›</a:t>
            </a:fld>
            <a:endParaRPr lang="en-IN"/>
          </a:p>
        </p:txBody>
      </p:sp>
    </p:spTree>
    <p:extLst>
      <p:ext uri="{BB962C8B-B14F-4D97-AF65-F5344CB8AC3E}">
        <p14:creationId xmlns:p14="http://schemas.microsoft.com/office/powerpoint/2010/main" val="685067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and introduce yourself.</a:t>
            </a:r>
          </a:p>
          <a:p>
            <a:r>
              <a:rPr lang="en-US" dirty="0"/>
              <a:t>One line on what this is: when an automated test fails, somebody still has to sit down and work out why. This tool does that first investigation for us and shows its working.</a:t>
            </a:r>
          </a:p>
          <a:p>
            <a:r>
              <a:rPr lang="en-US" dirty="0"/>
              <a:t>Use the detective idea throughout: a failed test is a case, the logs are the evidence, and the tool is the investigator that names a suspect and shows the receipts.</a:t>
            </a:r>
          </a:p>
          <a:p>
            <a:r>
              <a:rPr lang="en-US" dirty="0"/>
              <a:t>No prior knowledge needed. We will keep the words simple, and there is a live demo at the end that needs no signup and no API key.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list slowly so people know the shape of the session.</a:t>
            </a:r>
          </a:p>
          <a:p>
            <a:r>
              <a:rPr lang="en-US" dirty="0"/>
              <a:t>Frame the journey: first we look at the problem QA teams actually have, then how the tool solves it in three steps, then we open a real case and follow the evidence.</a:t>
            </a:r>
          </a:p>
          <a:p>
            <a:r>
              <a:rPr lang="en-US" dirty="0"/>
              <a:t>The middle section is the interesting part - the API-versus-UI example is where this tool behaves differently from everything else.</a:t>
            </a:r>
          </a:p>
          <a:p>
            <a:r>
              <a:rPr lang="en-US" dirty="0"/>
              <a:t>We finish with how it is built, how it was verified, and a live link anyone can open.</a:t>
            </a:r>
          </a:p>
          <a:p>
            <a:r>
              <a:rPr lang="en-US" dirty="0"/>
              <a:t>Tell people they can interrupt with questions at any point.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something everyone recognises: the test run finishes and there is a wall of red.</a:t>
            </a:r>
          </a:p>
          <a:p>
            <a:r>
              <a:rPr lang="en-US" dirty="0"/>
              <a:t>The failure itself is not the expensive part. The expensive part is the person who now has to open the logs and work out what the red actually means.</a:t>
            </a:r>
          </a:p>
          <a:p>
            <a:r>
              <a:rPr lang="en-US" dirty="0"/>
              <a:t>Walk the four questions on screen. Stress that they have completely different answers and completely different owners - a broken locator is the test team's problem, a 500 error is the developer's problem.</a:t>
            </a:r>
          </a:p>
          <a:p>
            <a:r>
              <a:rPr lang="en-US" dirty="0"/>
              <a:t>The killer line is at the bottom: this work is redone from scratch every single time, because nothing remembers the last investigation.</a:t>
            </a:r>
          </a:p>
          <a:p>
            <a:r>
              <a:rPr lang="en-US" dirty="0"/>
              <a:t>Ask the room: how long does your team spend triaging a failed run? Let a couple of people answer.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simple - it is only three boxes.</a:t>
            </a:r>
          </a:p>
          <a:p>
            <a:r>
              <a:rPr lang="en-US" dirty="0"/>
              <a:t>Step one: the test fails and we hand over the raw material exactly as it came out. Nothing is tidied up first, because tidying it up is where humans accidentally throw away the clue.</a:t>
            </a:r>
          </a:p>
          <a:p>
            <a:r>
              <a:rPr lang="en-US" dirty="0"/>
              <a:t>Step two: the tool reads all of it together. Not just the error message - the logs, the API response, and what the test expected versus what it got.</a:t>
            </a:r>
          </a:p>
          <a:p>
            <a:r>
              <a:rPr lang="en-US" dirty="0"/>
              <a:t>Step three: QA gets a written answer rather than a pile of raw data.</a:t>
            </a:r>
          </a:p>
          <a:p>
            <a:r>
              <a:rPr lang="en-US" dirty="0"/>
              <a:t>Point at the quote in the middle and land it clearly: it says most probable cause, not certain cause. An honest tool tells you how sure it is. That honesty is built into the code, not just claimed on a slide.</a:t>
            </a:r>
          </a:p>
          <a:p>
            <a:r>
              <a:rPr lang="en-US" dirty="0"/>
              <a:t>The green row is what actually lands on the engineer's desk at the end.</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trust slide. Slow down here.</a:t>
            </a:r>
          </a:p>
          <a:p>
            <a:r>
              <a:rPr lang="en-US" dirty="0"/>
              <a:t>Anybody can build something that prints an opinion. The difference is whether it can show you where the opinion came from.</a:t>
            </a:r>
          </a:p>
          <a:p>
            <a:r>
              <a:rPr lang="en-US" dirty="0"/>
              <a:t>Left side is the verdict: what kind of failure, how bad, how urgent, and how sure the tool is.</a:t>
            </a:r>
          </a:p>
          <a:p>
            <a:r>
              <a:rPr lang="en-US" dirty="0"/>
              <a:t>Right side is the receipts. Each line is copied out of the logs that were submitted - not summarised, not paraphrased, quoted.</a:t>
            </a:r>
          </a:p>
          <a:p>
            <a:r>
              <a:rPr lang="en-US" dirty="0"/>
              <a:t>Use an everyday comparison: a doctor who says 'you are ill' is useless. A doctor who says 'you are ill, here is the blood test, and this is the line in it that worries me' is someone you can actually work with.</a:t>
            </a:r>
          </a:p>
          <a:p>
            <a:r>
              <a:rPr lang="en-US" dirty="0"/>
              <a:t>The last line matters too - when the evidence is weak, the confidence drops rather than the tool inventing something confident-sounding.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spend the most time on. It is the clearest proof that the tool is reasoning rather than pattern-matching.</a:t>
            </a:r>
          </a:p>
          <a:p>
            <a:r>
              <a:rPr lang="en-US" dirty="0"/>
              <a:t>Set the scene: a customer's order goes through perfectly. The money is taken, the order is confirmed. But the automated test still fails, because it could not find the green confirmation banner on screen.</a:t>
            </a:r>
          </a:p>
          <a:p>
            <a:r>
              <a:rPr lang="en-US" dirty="0"/>
              <a:t>Ask the room: whose bug is that? Let them answer before you reveal.</a:t>
            </a:r>
          </a:p>
          <a:p>
            <a:r>
              <a:rPr lang="en-US" dirty="0"/>
              <a:t>Left box is what most tools do - the test failed, so raise a bug against checkout. That sends a developer hunting for a fault in code that is working perfectly.</a:t>
            </a:r>
          </a:p>
          <a:p>
            <a:r>
              <a:rPr lang="en-US" dirty="0"/>
              <a:t>Right box is the correct answer. The API clearly says CONFIRMED and SUCCESS, so the application did its job. The test simply looked for the wrong thing on the page.</a:t>
            </a:r>
          </a:p>
          <a:p>
            <a:r>
              <a:rPr lang="en-US" dirty="0"/>
              <a:t>Everyday version: the parcel was delivered, but the delivery photo was blurry. The delivery did not fail - the photo did. Blaming the courier wastes everybody's morning.</a:t>
            </a:r>
          </a:p>
          <a:p>
            <a:r>
              <a:rPr lang="en-US" dirty="0"/>
              <a:t>Land the closing line: same red test, completely different owner.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tool stops being interesting and starts being useful.</a:t>
            </a:r>
          </a:p>
          <a:p>
            <a:r>
              <a:rPr lang="en-US" dirty="0"/>
              <a:t>A root cause in a chat window still leaves someone to write the ticket. This writes the ticket, in the shape an engineer expects to receive it.</a:t>
            </a:r>
          </a:p>
          <a:p>
            <a:r>
              <a:rPr lang="en-US" dirty="0"/>
              <a:t>Walk the four fields. The business impact line is the one managers care about - customers charged without confirmation is a very different sentence from 'null pointer exception'.</a:t>
            </a:r>
          </a:p>
          <a:p>
            <a:r>
              <a:rPr lang="en-US" dirty="0"/>
              <a:t>Flag the honesty point at the bottom, because people will ask. The tool never says 'ticket created' unless Jira itself confirmed it. If it is a simulation, it says so on the screen.</a:t>
            </a:r>
          </a:p>
          <a:p>
            <a:r>
              <a:rPr lang="en-US" dirty="0"/>
              <a:t>That sounds like a small detail. It is the difference between a tool a team trusts and one they quietly stop using.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decisions usually get made in a meeting where the loudest person wins. This replaces that with a number and a reason.</a:t>
            </a:r>
          </a:p>
          <a:p>
            <a:r>
              <a:rPr lang="en-US" dirty="0"/>
              <a:t>Explain the score in plain words: it adds up every unresolved failure, counts the serious ones for more, trusts confirmed bugs more than suspected ones, and refuses to panic about tests that are known to be noisy.</a:t>
            </a:r>
          </a:p>
          <a:p>
            <a:r>
              <a:rPr lang="en-US" dirty="0"/>
              <a:t>The important word on this slide is 'argue'. The number is not the decision - it is the starting point for a conversation where everyone can see the same evidence.</a:t>
            </a:r>
          </a:p>
          <a:p>
            <a:r>
              <a:rPr lang="en-US" dirty="0"/>
              <a:t>Point at 'what changes it'. The score is not a verdict carved in stone. Fix the bug or prove the classification wrong and the number moves.</a:t>
            </a:r>
          </a:p>
          <a:p>
            <a:r>
              <a:rPr lang="en-US" dirty="0"/>
              <a:t>If someone asks whether they should automate the go/no-go on this: say no. It is a recommendation with its reasoning shown, and a human still signs off.</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criticism of any demo is that it only works on the one example it was built around. This slide answers that before anyone asks.</a:t>
            </a:r>
          </a:p>
          <a:p>
            <a:r>
              <a:rPr lang="en-US" dirty="0"/>
              <a:t>Five different fictional companies, in five different industries, with twelve failure scenarios between them.</a:t>
            </a:r>
          </a:p>
          <a:p>
            <a:r>
              <a:rPr lang="en-US" dirty="0"/>
              <a:t>Read a couple of rows from the table. Notice that the same kind of red test maps to completely different classifications depending on the evidence.</a:t>
            </a:r>
          </a:p>
          <a:p>
            <a:r>
              <a:rPr lang="en-US" dirty="0"/>
              <a:t>Row four is the most important row on the slide. A 401 error with nothing else to go on genuinely could be several things - so the tool says 'ambiguous' instead of picking one and sounding confident.</a:t>
            </a:r>
          </a:p>
          <a:p>
            <a:r>
              <a:rPr lang="en-US" dirty="0"/>
              <a:t>Everyday version: a good investigator who does not have enough evidence says 'I cannot charge anyone yet'. A bad one arrests the nearest person. Saying 'I do not know' is a feature.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unless the audience is technical - the detail is here for the people who want it.</a:t>
            </a:r>
          </a:p>
          <a:p>
            <a:r>
              <a:rPr lang="en-US" dirty="0"/>
              <a:t>Three parts. The screen you look at, the server bit in the middle, and the AI behind it.</a:t>
            </a:r>
          </a:p>
          <a:p>
            <a:r>
              <a:rPr lang="en-US" dirty="0"/>
              <a:t>The useful design decision is on the right: the AI is swappable. It can run on Claude, on OpenAI, or on a rule-based mock that needs no API key at all. That last option is why the live demo works for anyone with a browser.</a:t>
            </a:r>
          </a:p>
          <a:p>
            <a:r>
              <a:rPr lang="en-US" dirty="0"/>
              <a:t>The Zod validation point in plain words: the tool checks the AI's answer is the right shape before showing it. If it comes back malformed, it quietly asks again rather than displaying rubbish.</a:t>
            </a:r>
          </a:p>
          <a:p>
            <a:r>
              <a:rPr lang="en-US" dirty="0"/>
              <a:t>Front end and back end live in one deployment, which is why there is no CORS configuration to get wrong.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about credibility, and it is the one that separates a weekend hack from something worth trusting.</a:t>
            </a:r>
          </a:p>
          <a:p>
            <a:r>
              <a:rPr lang="en-US" dirty="0"/>
              <a:t>Twenty-seven automated tests, all twelve scenarios run through the real engine, and zero API keys needed to reproduce any of it.</a:t>
            </a:r>
          </a:p>
          <a:p>
            <a:r>
              <a:rPr lang="en-US" dirty="0"/>
              <a:t>Then be honest about the bug. A filter was too aggressive and was quietly hiding a genuine environment issue, reporting 'insufficient evidence' instead. That is exactly the kind of fault that never shows up in a happy-path demo.</a:t>
            </a:r>
          </a:p>
          <a:p>
            <a:r>
              <a:rPr lang="en-US" dirty="0"/>
              <a:t>It was found by actually running everything and reading the output line by line, then a regression test was added so it cannot silently return.</a:t>
            </a:r>
          </a:p>
          <a:p>
            <a:r>
              <a:rPr lang="en-US" dirty="0"/>
              <a:t>The closing line usually gets a laugh, and it is true: if nothing has ever broken in front of you, you have not really tested it.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slide - do not read all eight words out loud, let people scan them.</a:t>
            </a:r>
          </a:p>
          <a:p>
            <a:r>
              <a:rPr lang="en-US" dirty="0"/>
              <a:t>If you only repeat one thing, repeat 'evidence-led' and 'honest'. Those are the two that are hard to copy.</a:t>
            </a:r>
          </a:p>
          <a:p>
            <a:r>
              <a:rPr lang="en-US" dirty="0"/>
              <a:t>Push the live demo hard: it runs in mock mode, so there is genuinely nothing to sign up for and no key to paste. Anyone in the room can open it on their phone right now.</a:t>
            </a:r>
          </a:p>
          <a:p>
            <a:r>
              <a:rPr lang="en-US" dirty="0"/>
              <a:t>Mention what is coming next only briefly - CI/CD hooks so it triggers automatically, real Playwright execution, and Slack alerts.</a:t>
            </a:r>
          </a:p>
          <a:p>
            <a:r>
              <a:rPr lang="en-US" dirty="0"/>
              <a:t>Then open the floor for questions.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a:t>
            </a:r>
          </a:p>
          <a:p>
            <a:r>
              <a:rPr lang="en-US" dirty="0"/>
              <a:t>Repeat the demo link once more and say it needs no signup and no API key.</a:t>
            </a:r>
          </a:p>
          <a:p>
            <a:r>
              <a:rPr lang="en-US" dirty="0"/>
              <a:t>Offer two follow-ups: a live walkthrough of the app, or a look at the code and how the classification rules are written.</a:t>
            </a:r>
          </a:p>
          <a:p>
            <a:r>
              <a:rPr lang="en-US" dirty="0"/>
              <a:t>Take questions.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you switch to the live app if the demo is going well.</a:t>
            </a:r>
          </a:p>
          <a:p>
            <a:r>
              <a:rPr lang="en-US" dirty="0"/>
              <a:t>The point to make: a judge, an interviewer or a new team member should never face an empty form. One button fills the whole thing with a realistic broken checkout.</a:t>
            </a:r>
          </a:p>
          <a:p>
            <a:r>
              <a:rPr lang="en-US" dirty="0"/>
              <a:t>Walk the tiles left to right - out of 150 tests analysed, 14 failed, and those 14 are already sorted into buckets: 4 environment problems, 5 real application defects, 3 probably-flaky tests.</a:t>
            </a:r>
          </a:p>
          <a:p>
            <a:r>
              <a:rPr lang="en-US" dirty="0"/>
              <a:t>That sorting is the whole value. Fourteen red tests is a wall. Fourteen red tests split into three named buckets is a morning's work with clear owners.</a:t>
            </a:r>
          </a:p>
          <a:p>
            <a:r>
              <a:rPr lang="en-US" dirty="0"/>
              <a:t>The bottom strip is the summary a release manager actually wants: one number, and a plain-English reason.</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16.png"/><Relationship Id="rId4" Type="http://schemas.openxmlformats.org/officeDocument/2006/relationships/image" Target="../media/image15.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16.png"/><Relationship Id="rId4" Type="http://schemas.openxmlformats.org/officeDocument/2006/relationships/image" Target="../media/image8.jpe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_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23E8FC-AD88-488C-B6EC-61E6E2C64BC7}"/>
              </a:ext>
            </a:extLst>
          </p:cNvPr>
          <p:cNvPicPr>
            <a:picLocks noChangeAspect="1"/>
          </p:cNvPicPr>
          <p:nvPr userDrawn="1"/>
        </p:nvPicPr>
        <p:blipFill>
          <a:blip r:embed="rId3"/>
          <a:stretch>
            <a:fillRect/>
          </a:stretch>
        </p:blipFill>
        <p:spPr>
          <a:xfrm>
            <a:off x="0" y="0"/>
            <a:ext cx="12192000" cy="6857999"/>
          </a:xfrm>
          <a:prstGeom prst="rect">
            <a:avLst/>
          </a:prstGeom>
        </p:spPr>
      </p:pic>
      <p:sp>
        <p:nvSpPr>
          <p:cNvPr id="4" name="Rectangle 3">
            <a:extLst>
              <a:ext uri="{FF2B5EF4-FFF2-40B4-BE49-F238E27FC236}">
                <a16:creationId xmlns:a16="http://schemas.microsoft.com/office/drawing/2014/main" id="{3ACFC958-D80D-4C9D-B373-D069ECF568FC}"/>
              </a:ext>
            </a:extLst>
          </p:cNvPr>
          <p:cNvSpPr/>
          <p:nvPr userDrawn="1"/>
        </p:nvSpPr>
        <p:spPr>
          <a:xfrm>
            <a:off x="0" y="5769033"/>
            <a:ext cx="12192000" cy="108896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FE240C-76DE-40B2-9EE2-88958056DAA9}"/>
              </a:ext>
            </a:extLst>
          </p:cNvPr>
          <p:cNvSpPr>
            <a:spLocks noGrp="1"/>
          </p:cNvSpPr>
          <p:nvPr userDrawn="1">
            <p:ph type="ctrTitle" hasCustomPrompt="1"/>
          </p:nvPr>
        </p:nvSpPr>
        <p:spPr>
          <a:xfrm>
            <a:off x="1279861" y="395461"/>
            <a:ext cx="10125201" cy="2387600"/>
          </a:xfrm>
        </p:spPr>
        <p:txBody>
          <a:bodyPr anchor="b"/>
          <a:lstStyle>
            <a:lvl1pPr algn="l">
              <a:defRPr sz="6000">
                <a:solidFill>
                  <a:schemeClr val="bg1"/>
                </a:solidFill>
              </a:defRPr>
            </a:lvl1pPr>
          </a:lstStyle>
          <a:p>
            <a:r>
              <a:rPr lang="en-US"/>
              <a:t>Click to edit title</a:t>
            </a:r>
          </a:p>
        </p:txBody>
      </p:sp>
      <p:sp>
        <p:nvSpPr>
          <p:cNvPr id="3" name="Subtitle 2">
            <a:extLst>
              <a:ext uri="{FF2B5EF4-FFF2-40B4-BE49-F238E27FC236}">
                <a16:creationId xmlns:a16="http://schemas.microsoft.com/office/drawing/2014/main" id="{40686FDA-2977-472A-A3B5-5F043B7AF48A}"/>
              </a:ext>
            </a:extLst>
          </p:cNvPr>
          <p:cNvSpPr>
            <a:spLocks noGrp="1"/>
          </p:cNvSpPr>
          <p:nvPr userDrawn="1">
            <p:ph type="subTitle" idx="1"/>
          </p:nvPr>
        </p:nvSpPr>
        <p:spPr>
          <a:xfrm>
            <a:off x="1279861" y="2875136"/>
            <a:ext cx="10125201" cy="44617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4" descr="A close up of a logo&#10;&#10;Description automatically generated">
            <a:extLst>
              <a:ext uri="{FF2B5EF4-FFF2-40B4-BE49-F238E27FC236}">
                <a16:creationId xmlns:a16="http://schemas.microsoft.com/office/drawing/2014/main" id="{68AEC2CE-BB2A-4DFC-BD59-55BE1D645684}"/>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a:stretch/>
        </p:blipFill>
        <p:spPr>
          <a:xfrm>
            <a:off x="0" y="2924005"/>
            <a:ext cx="3098031" cy="3933995"/>
          </a:xfrm>
          <a:prstGeom prst="rect">
            <a:avLst/>
          </a:prstGeom>
          <a:effectLst/>
        </p:spPr>
      </p:pic>
      <p:pic>
        <p:nvPicPr>
          <p:cNvPr id="25" name="Picture 24" descr="A picture containing drawing&#10;&#10;Description automatically generated">
            <a:extLst>
              <a:ext uri="{FF2B5EF4-FFF2-40B4-BE49-F238E27FC236}">
                <a16:creationId xmlns:a16="http://schemas.microsoft.com/office/drawing/2014/main" id="{675A6843-519E-4246-A565-836F6DB4C0F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112436" y="6051662"/>
            <a:ext cx="1842781" cy="671148"/>
          </a:xfrm>
          <a:prstGeom prst="rect">
            <a:avLst/>
          </a:prstGeom>
        </p:spPr>
      </p:pic>
      <p:cxnSp>
        <p:nvCxnSpPr>
          <p:cNvPr id="28" name="Straight Connector 27">
            <a:extLst>
              <a:ext uri="{FF2B5EF4-FFF2-40B4-BE49-F238E27FC236}">
                <a16:creationId xmlns:a16="http://schemas.microsoft.com/office/drawing/2014/main" id="{8AED7BB1-6144-4AA1-BE2A-A674DF81D463}"/>
              </a:ext>
            </a:extLst>
          </p:cNvPr>
          <p:cNvCxnSpPr>
            <a:cxnSpLocks/>
          </p:cNvCxnSpPr>
          <p:nvPr userDrawn="1"/>
        </p:nvCxnSpPr>
        <p:spPr>
          <a:xfrm>
            <a:off x="1329739" y="2816313"/>
            <a:ext cx="9136080"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03FC37E1-89E7-4DA1-9CCB-AA2744152536}"/>
              </a:ext>
            </a:extLst>
          </p:cNvPr>
          <p:cNvSpPr>
            <a:spLocks noGrp="1"/>
          </p:cNvSpPr>
          <p:nvPr>
            <p:ph type="body" sz="quarter" idx="10" hasCustomPrompt="1"/>
          </p:nvPr>
        </p:nvSpPr>
        <p:spPr>
          <a:xfrm>
            <a:off x="1279861" y="3321307"/>
            <a:ext cx="10125201" cy="390294"/>
          </a:xfrm>
        </p:spPr>
        <p:txBody>
          <a:bodyPr anchor="ctr">
            <a:normAutofit/>
          </a:bodyPr>
          <a:lstStyle>
            <a:lvl1pPr marL="0" indent="0">
              <a:buNone/>
              <a:defRPr sz="1400">
                <a:solidFill>
                  <a:schemeClr val="bg1"/>
                </a:solidFill>
              </a:defRPr>
            </a:lvl1pPr>
          </a:lstStyle>
          <a:p>
            <a:pPr lvl="0"/>
            <a:r>
              <a:rPr lang="en-US"/>
              <a:t>Date</a:t>
            </a:r>
          </a:p>
        </p:txBody>
      </p:sp>
    </p:spTree>
    <p:extLst>
      <p:ext uri="{BB962C8B-B14F-4D97-AF65-F5344CB8AC3E}">
        <p14:creationId xmlns:p14="http://schemas.microsoft.com/office/powerpoint/2010/main" val="373862569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_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6307CE2-FE1B-4B1D-8FD5-AE75F4EF0523}"/>
              </a:ext>
            </a:extLst>
          </p:cNvPr>
          <p:cNvPicPr>
            <a:picLocks noChangeAspect="1"/>
          </p:cNvPicPr>
          <p:nvPr userDrawn="1"/>
        </p:nvPicPr>
        <p:blipFill>
          <a:blip r:embed="rId3"/>
          <a:stretch>
            <a:fillRect/>
          </a:stretch>
        </p:blipFill>
        <p:spPr>
          <a:xfrm>
            <a:off x="0" y="0"/>
            <a:ext cx="12192000" cy="6857999"/>
          </a:xfrm>
          <a:prstGeom prst="rect">
            <a:avLst/>
          </a:prstGeom>
        </p:spPr>
      </p:pic>
      <p:sp>
        <p:nvSpPr>
          <p:cNvPr id="4" name="Rectangle 3">
            <a:extLst>
              <a:ext uri="{FF2B5EF4-FFF2-40B4-BE49-F238E27FC236}">
                <a16:creationId xmlns:a16="http://schemas.microsoft.com/office/drawing/2014/main" id="{3ACFC958-D80D-4C9D-B373-D069ECF568FC}"/>
              </a:ext>
            </a:extLst>
          </p:cNvPr>
          <p:cNvSpPr/>
          <p:nvPr userDrawn="1"/>
        </p:nvSpPr>
        <p:spPr>
          <a:xfrm>
            <a:off x="0" y="5778459"/>
            <a:ext cx="12192000" cy="108896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FE240C-76DE-40B2-9EE2-88958056DAA9}"/>
              </a:ext>
            </a:extLst>
          </p:cNvPr>
          <p:cNvSpPr>
            <a:spLocks noGrp="1"/>
          </p:cNvSpPr>
          <p:nvPr userDrawn="1">
            <p:ph type="ctrTitle" hasCustomPrompt="1"/>
          </p:nvPr>
        </p:nvSpPr>
        <p:spPr>
          <a:xfrm>
            <a:off x="1279861" y="395461"/>
            <a:ext cx="10125201" cy="2387600"/>
          </a:xfrm>
        </p:spPr>
        <p:txBody>
          <a:bodyPr anchor="b"/>
          <a:lstStyle>
            <a:lvl1pPr algn="l">
              <a:defRPr sz="6000">
                <a:solidFill>
                  <a:schemeClr val="bg1"/>
                </a:solidFill>
              </a:defRPr>
            </a:lvl1pPr>
          </a:lstStyle>
          <a:p>
            <a:r>
              <a:rPr lang="en-US"/>
              <a:t>Click to edit title</a:t>
            </a:r>
          </a:p>
        </p:txBody>
      </p:sp>
      <p:sp>
        <p:nvSpPr>
          <p:cNvPr id="3" name="Subtitle 2">
            <a:extLst>
              <a:ext uri="{FF2B5EF4-FFF2-40B4-BE49-F238E27FC236}">
                <a16:creationId xmlns:a16="http://schemas.microsoft.com/office/drawing/2014/main" id="{40686FDA-2977-472A-A3B5-5F043B7AF48A}"/>
              </a:ext>
            </a:extLst>
          </p:cNvPr>
          <p:cNvSpPr>
            <a:spLocks noGrp="1"/>
          </p:cNvSpPr>
          <p:nvPr userDrawn="1">
            <p:ph type="subTitle" idx="1"/>
          </p:nvPr>
        </p:nvSpPr>
        <p:spPr>
          <a:xfrm>
            <a:off x="1279861" y="2875136"/>
            <a:ext cx="10125201" cy="446171"/>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5" name="Picture 4" descr="A close up of a logo&#10;&#10;Description automatically generated">
            <a:extLst>
              <a:ext uri="{FF2B5EF4-FFF2-40B4-BE49-F238E27FC236}">
                <a16:creationId xmlns:a16="http://schemas.microsoft.com/office/drawing/2014/main" id="{68AEC2CE-BB2A-4DFC-BD59-55BE1D645684}"/>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34283" b="6977"/>
          <a:stretch/>
        </p:blipFill>
        <p:spPr>
          <a:xfrm>
            <a:off x="0" y="2924005"/>
            <a:ext cx="3098031" cy="3933995"/>
          </a:xfrm>
          <a:prstGeom prst="rect">
            <a:avLst/>
          </a:prstGeom>
          <a:effectLst/>
        </p:spPr>
      </p:pic>
      <p:pic>
        <p:nvPicPr>
          <p:cNvPr id="25" name="Picture 24" descr="A picture containing drawing&#10;&#10;Description automatically generated">
            <a:extLst>
              <a:ext uri="{FF2B5EF4-FFF2-40B4-BE49-F238E27FC236}">
                <a16:creationId xmlns:a16="http://schemas.microsoft.com/office/drawing/2014/main" id="{675A6843-519E-4246-A565-836F6DB4C0F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112436" y="6051662"/>
            <a:ext cx="1842781" cy="671148"/>
          </a:xfrm>
          <a:prstGeom prst="rect">
            <a:avLst/>
          </a:prstGeom>
        </p:spPr>
      </p:pic>
      <p:cxnSp>
        <p:nvCxnSpPr>
          <p:cNvPr id="28" name="Straight Connector 27">
            <a:extLst>
              <a:ext uri="{FF2B5EF4-FFF2-40B4-BE49-F238E27FC236}">
                <a16:creationId xmlns:a16="http://schemas.microsoft.com/office/drawing/2014/main" id="{8AED7BB1-6144-4AA1-BE2A-A674DF81D463}"/>
              </a:ext>
            </a:extLst>
          </p:cNvPr>
          <p:cNvCxnSpPr>
            <a:cxnSpLocks/>
          </p:cNvCxnSpPr>
          <p:nvPr userDrawn="1"/>
        </p:nvCxnSpPr>
        <p:spPr>
          <a:xfrm>
            <a:off x="1329739" y="2816313"/>
            <a:ext cx="9136080" cy="0"/>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03FC37E1-89E7-4DA1-9CCB-AA2744152536}"/>
              </a:ext>
            </a:extLst>
          </p:cNvPr>
          <p:cNvSpPr>
            <a:spLocks noGrp="1"/>
          </p:cNvSpPr>
          <p:nvPr>
            <p:ph type="body" sz="quarter" idx="10" hasCustomPrompt="1"/>
          </p:nvPr>
        </p:nvSpPr>
        <p:spPr>
          <a:xfrm>
            <a:off x="1279861" y="3321307"/>
            <a:ext cx="10125201" cy="390294"/>
          </a:xfrm>
        </p:spPr>
        <p:txBody>
          <a:bodyPr anchor="ctr">
            <a:normAutofit/>
          </a:bodyPr>
          <a:lstStyle>
            <a:lvl1pPr marL="0" indent="0">
              <a:buNone/>
              <a:defRPr sz="1400">
                <a:solidFill>
                  <a:schemeClr val="bg1"/>
                </a:solidFill>
              </a:defRPr>
            </a:lvl1pPr>
          </a:lstStyle>
          <a:p>
            <a:pPr lvl="0"/>
            <a:r>
              <a:rPr lang="en-US"/>
              <a:t>Date</a:t>
            </a:r>
          </a:p>
        </p:txBody>
      </p:sp>
    </p:spTree>
    <p:extLst>
      <p:ext uri="{BB962C8B-B14F-4D97-AF65-F5344CB8AC3E}">
        <p14:creationId xmlns:p14="http://schemas.microsoft.com/office/powerpoint/2010/main" val="302856186"/>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_5">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DEE016D-CB27-4B64-858D-28849B4CC06D}"/>
              </a:ext>
            </a:extLst>
          </p:cNvPr>
          <p:cNvSpPr/>
          <p:nvPr userDrawn="1"/>
        </p:nvSpPr>
        <p:spPr>
          <a:xfrm>
            <a:off x="0" y="1340529"/>
            <a:ext cx="12192000" cy="5517472"/>
          </a:xfrm>
          <a:prstGeom prst="rect">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FE240C-76DE-40B2-9EE2-88958056DAA9}"/>
              </a:ext>
            </a:extLst>
          </p:cNvPr>
          <p:cNvSpPr>
            <a:spLocks noGrp="1"/>
          </p:cNvSpPr>
          <p:nvPr userDrawn="1">
            <p:ph type="ctrTitle" hasCustomPrompt="1"/>
          </p:nvPr>
        </p:nvSpPr>
        <p:spPr>
          <a:xfrm>
            <a:off x="311258" y="2519091"/>
            <a:ext cx="10229280" cy="2111886"/>
          </a:xfrm>
        </p:spPr>
        <p:txBody>
          <a:bodyPr anchor="b"/>
          <a:lstStyle>
            <a:lvl1pPr algn="l">
              <a:defRPr sz="4800">
                <a:solidFill>
                  <a:schemeClr val="bg1"/>
                </a:solidFill>
              </a:defRPr>
            </a:lvl1pPr>
          </a:lstStyle>
          <a:p>
            <a:r>
              <a:rPr lang="en-US"/>
              <a:t>Click to edit title style</a:t>
            </a:r>
          </a:p>
        </p:txBody>
      </p:sp>
      <p:sp>
        <p:nvSpPr>
          <p:cNvPr id="3" name="Subtitle 2">
            <a:extLst>
              <a:ext uri="{FF2B5EF4-FFF2-40B4-BE49-F238E27FC236}">
                <a16:creationId xmlns:a16="http://schemas.microsoft.com/office/drawing/2014/main" id="{40686FDA-2977-472A-A3B5-5F043B7AF48A}"/>
              </a:ext>
            </a:extLst>
          </p:cNvPr>
          <p:cNvSpPr>
            <a:spLocks noGrp="1"/>
          </p:cNvSpPr>
          <p:nvPr userDrawn="1">
            <p:ph type="subTitle" idx="1"/>
          </p:nvPr>
        </p:nvSpPr>
        <p:spPr>
          <a:xfrm>
            <a:off x="311258" y="4643173"/>
            <a:ext cx="10229280" cy="451043"/>
          </a:xfrm>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descr="A picture containing clock, light&#10;&#10;Description automatically generated">
            <a:extLst>
              <a:ext uri="{FF2B5EF4-FFF2-40B4-BE49-F238E27FC236}">
                <a16:creationId xmlns:a16="http://schemas.microsoft.com/office/drawing/2014/main" id="{BB99412F-060B-4734-9FAA-C8ED7D425EA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40753" y="0"/>
            <a:ext cx="3845321" cy="1400480"/>
          </a:xfrm>
          <a:prstGeom prst="rect">
            <a:avLst/>
          </a:prstGeom>
        </p:spPr>
      </p:pic>
      <p:sp>
        <p:nvSpPr>
          <p:cNvPr id="15" name="Text Placeholder 14">
            <a:extLst>
              <a:ext uri="{FF2B5EF4-FFF2-40B4-BE49-F238E27FC236}">
                <a16:creationId xmlns:a16="http://schemas.microsoft.com/office/drawing/2014/main" id="{DFF3F52E-2FA1-4643-AD8A-7B6EA011A98C}"/>
              </a:ext>
            </a:extLst>
          </p:cNvPr>
          <p:cNvSpPr>
            <a:spLocks noGrp="1"/>
          </p:cNvSpPr>
          <p:nvPr>
            <p:ph type="body" sz="quarter" idx="10" hasCustomPrompt="1"/>
          </p:nvPr>
        </p:nvSpPr>
        <p:spPr>
          <a:xfrm>
            <a:off x="311150" y="5094288"/>
            <a:ext cx="10228637" cy="692150"/>
          </a:xfrm>
        </p:spPr>
        <p:txBody>
          <a:bodyPr>
            <a:normAutofit/>
          </a:bodyPr>
          <a:lstStyle>
            <a:lvl1pPr marL="0" indent="0">
              <a:buNone/>
              <a:defRPr sz="1600">
                <a:solidFill>
                  <a:schemeClr val="bg1"/>
                </a:solidFill>
              </a:defRPr>
            </a:lvl1pPr>
          </a:lstStyle>
          <a:p>
            <a:pPr lvl="0"/>
            <a:r>
              <a:rPr lang="en-US"/>
              <a:t>Date</a:t>
            </a:r>
          </a:p>
        </p:txBody>
      </p:sp>
      <p:pic>
        <p:nvPicPr>
          <p:cNvPr id="5" name="Picture 4">
            <a:extLst>
              <a:ext uri="{FF2B5EF4-FFF2-40B4-BE49-F238E27FC236}">
                <a16:creationId xmlns:a16="http://schemas.microsoft.com/office/drawing/2014/main" id="{40EC3C31-566D-4BB7-ADA7-A430E32CFBB2}"/>
              </a:ext>
            </a:extLst>
          </p:cNvPr>
          <p:cNvPicPr>
            <a:picLocks noChangeAspect="1"/>
          </p:cNvPicPr>
          <p:nvPr userDrawn="1"/>
        </p:nvPicPr>
        <p:blipFill>
          <a:blip r:embed="rId4"/>
          <a:stretch>
            <a:fillRect/>
          </a:stretch>
        </p:blipFill>
        <p:spPr>
          <a:xfrm>
            <a:off x="5568" y="1340529"/>
            <a:ext cx="12180864" cy="5563669"/>
          </a:xfrm>
          <a:prstGeom prst="rect">
            <a:avLst/>
          </a:prstGeom>
        </p:spPr>
      </p:pic>
    </p:spTree>
    <p:extLst>
      <p:ext uri="{BB962C8B-B14F-4D97-AF65-F5344CB8AC3E}">
        <p14:creationId xmlns:p14="http://schemas.microsoft.com/office/powerpoint/2010/main" val="1422848473"/>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_6">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E240C-76DE-40B2-9EE2-88958056DAA9}"/>
              </a:ext>
            </a:extLst>
          </p:cNvPr>
          <p:cNvSpPr>
            <a:spLocks noGrp="1"/>
          </p:cNvSpPr>
          <p:nvPr userDrawn="1">
            <p:ph type="ctrTitle" hasCustomPrompt="1"/>
          </p:nvPr>
        </p:nvSpPr>
        <p:spPr>
          <a:xfrm>
            <a:off x="311258" y="3549948"/>
            <a:ext cx="10229280" cy="1267460"/>
          </a:xfrm>
        </p:spPr>
        <p:txBody>
          <a:bodyPr anchor="b"/>
          <a:lstStyle>
            <a:lvl1pPr algn="l">
              <a:defRPr sz="4800">
                <a:solidFill>
                  <a:schemeClr val="tx1"/>
                </a:solidFill>
              </a:defRPr>
            </a:lvl1pPr>
          </a:lstStyle>
          <a:p>
            <a:r>
              <a:rPr lang="en-US"/>
              <a:t>Click to edit title style</a:t>
            </a:r>
          </a:p>
        </p:txBody>
      </p:sp>
      <p:sp>
        <p:nvSpPr>
          <p:cNvPr id="3" name="Subtitle 2">
            <a:extLst>
              <a:ext uri="{FF2B5EF4-FFF2-40B4-BE49-F238E27FC236}">
                <a16:creationId xmlns:a16="http://schemas.microsoft.com/office/drawing/2014/main" id="{40686FDA-2977-472A-A3B5-5F043B7AF48A}"/>
              </a:ext>
            </a:extLst>
          </p:cNvPr>
          <p:cNvSpPr>
            <a:spLocks noGrp="1"/>
          </p:cNvSpPr>
          <p:nvPr userDrawn="1">
            <p:ph type="subTitle" idx="1"/>
          </p:nvPr>
        </p:nvSpPr>
        <p:spPr>
          <a:xfrm>
            <a:off x="311258" y="4829604"/>
            <a:ext cx="10229280" cy="451043"/>
          </a:xfrm>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Text Placeholder 14">
            <a:extLst>
              <a:ext uri="{FF2B5EF4-FFF2-40B4-BE49-F238E27FC236}">
                <a16:creationId xmlns:a16="http://schemas.microsoft.com/office/drawing/2014/main" id="{DFF3F52E-2FA1-4643-AD8A-7B6EA011A98C}"/>
              </a:ext>
            </a:extLst>
          </p:cNvPr>
          <p:cNvSpPr>
            <a:spLocks noGrp="1"/>
          </p:cNvSpPr>
          <p:nvPr>
            <p:ph type="body" sz="quarter" idx="10" hasCustomPrompt="1"/>
          </p:nvPr>
        </p:nvSpPr>
        <p:spPr>
          <a:xfrm>
            <a:off x="311258" y="5292843"/>
            <a:ext cx="10228637" cy="692150"/>
          </a:xfrm>
        </p:spPr>
        <p:txBody>
          <a:bodyPr>
            <a:normAutofit/>
          </a:bodyPr>
          <a:lstStyle>
            <a:lvl1pPr marL="0" indent="0">
              <a:buNone/>
              <a:defRPr sz="1600">
                <a:solidFill>
                  <a:schemeClr val="tx1">
                    <a:lumMod val="50000"/>
                    <a:lumOff val="50000"/>
                  </a:schemeClr>
                </a:solidFill>
              </a:defRPr>
            </a:lvl1pPr>
          </a:lstStyle>
          <a:p>
            <a:pPr lvl="0"/>
            <a:r>
              <a:rPr lang="en-US"/>
              <a:t>Date</a:t>
            </a:r>
          </a:p>
        </p:txBody>
      </p:sp>
      <p:pic>
        <p:nvPicPr>
          <p:cNvPr id="7" name="Picture 6">
            <a:extLst>
              <a:ext uri="{FF2B5EF4-FFF2-40B4-BE49-F238E27FC236}">
                <a16:creationId xmlns:a16="http://schemas.microsoft.com/office/drawing/2014/main" id="{D4EE6133-2380-46D4-8D89-115721F4E543}"/>
              </a:ext>
            </a:extLst>
          </p:cNvPr>
          <p:cNvPicPr>
            <a:picLocks noChangeAspect="1"/>
          </p:cNvPicPr>
          <p:nvPr userDrawn="1"/>
        </p:nvPicPr>
        <p:blipFill>
          <a:blip r:embed="rId2"/>
          <a:stretch>
            <a:fillRect/>
          </a:stretch>
        </p:blipFill>
        <p:spPr>
          <a:xfrm>
            <a:off x="0" y="2897676"/>
            <a:ext cx="12192000" cy="652272"/>
          </a:xfrm>
          <a:prstGeom prst="rect">
            <a:avLst/>
          </a:prstGeom>
        </p:spPr>
      </p:pic>
    </p:spTree>
    <p:extLst>
      <p:ext uri="{BB962C8B-B14F-4D97-AF65-F5344CB8AC3E}">
        <p14:creationId xmlns:p14="http://schemas.microsoft.com/office/powerpoint/2010/main" val="2498521419"/>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_2">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C5F310DF-7B89-4C23-B922-D0712E480425}"/>
              </a:ext>
            </a:extLst>
          </p:cNvPr>
          <p:cNvGrpSpPr/>
          <p:nvPr userDrawn="1"/>
        </p:nvGrpSpPr>
        <p:grpSpPr>
          <a:xfrm>
            <a:off x="34563" y="0"/>
            <a:ext cx="12148811" cy="6858000"/>
            <a:chOff x="34563" y="0"/>
            <a:chExt cx="12148811" cy="6858000"/>
          </a:xfrm>
        </p:grpSpPr>
        <p:pic>
          <p:nvPicPr>
            <p:cNvPr id="14" name="Picture 13">
              <a:extLst>
                <a:ext uri="{FF2B5EF4-FFF2-40B4-BE49-F238E27FC236}">
                  <a16:creationId xmlns:a16="http://schemas.microsoft.com/office/drawing/2014/main" id="{005945F7-00A7-4DC8-BD7C-453C72931DD1}"/>
                </a:ext>
              </a:extLst>
            </p:cNvPr>
            <p:cNvPicPr>
              <a:picLocks noChangeAspect="1"/>
            </p:cNvPicPr>
            <p:nvPr userDrawn="1"/>
          </p:nvPicPr>
          <p:blipFill>
            <a:blip r:embed="rId2"/>
            <a:stretch>
              <a:fillRect/>
            </a:stretch>
          </p:blipFill>
          <p:spPr>
            <a:xfrm>
              <a:off x="34563" y="0"/>
              <a:ext cx="6858000" cy="6858000"/>
            </a:xfrm>
            <a:prstGeom prst="rect">
              <a:avLst/>
            </a:prstGeom>
          </p:spPr>
        </p:pic>
        <p:pic>
          <p:nvPicPr>
            <p:cNvPr id="15" name="Picture 14">
              <a:extLst>
                <a:ext uri="{FF2B5EF4-FFF2-40B4-BE49-F238E27FC236}">
                  <a16:creationId xmlns:a16="http://schemas.microsoft.com/office/drawing/2014/main" id="{02971653-ECAD-4763-B3C8-451ADEB680E6}"/>
                </a:ext>
              </a:extLst>
            </p:cNvPr>
            <p:cNvPicPr>
              <a:picLocks noChangeAspect="1"/>
            </p:cNvPicPr>
            <p:nvPr userDrawn="1"/>
          </p:nvPicPr>
          <p:blipFill>
            <a:blip r:embed="rId3"/>
            <a:stretch>
              <a:fillRect/>
            </a:stretch>
          </p:blipFill>
          <p:spPr>
            <a:xfrm>
              <a:off x="5325374" y="0"/>
              <a:ext cx="6858000" cy="6858000"/>
            </a:xfrm>
            <a:prstGeom prst="rect">
              <a:avLst/>
            </a:prstGeom>
          </p:spPr>
        </p:pic>
      </p:grpSp>
      <p:pic>
        <p:nvPicPr>
          <p:cNvPr id="5" name="Picture 4" descr="A close up of a logo&#10;&#10;Description automatically generated">
            <a:extLst>
              <a:ext uri="{FF2B5EF4-FFF2-40B4-BE49-F238E27FC236}">
                <a16:creationId xmlns:a16="http://schemas.microsoft.com/office/drawing/2014/main" id="{1F9E86A6-3E53-4633-9855-B4DDD12B1766}"/>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a:stretch/>
        </p:blipFill>
        <p:spPr>
          <a:xfrm>
            <a:off x="-2" y="1701318"/>
            <a:ext cx="9919253" cy="2964345"/>
          </a:xfrm>
          <a:prstGeom prst="rect">
            <a:avLst/>
          </a:prstGeom>
        </p:spPr>
      </p:pic>
      <p:sp>
        <p:nvSpPr>
          <p:cNvPr id="3" name="Slide Number Placeholder 2">
            <a:extLst>
              <a:ext uri="{FF2B5EF4-FFF2-40B4-BE49-F238E27FC236}">
                <a16:creationId xmlns:a16="http://schemas.microsoft.com/office/drawing/2014/main" id="{84861F15-8BC2-4309-A0B2-6161A79103B3}"/>
              </a:ext>
            </a:extLst>
          </p:cNvPr>
          <p:cNvSpPr>
            <a:spLocks noGrp="1"/>
          </p:cNvSpPr>
          <p:nvPr>
            <p:ph type="sldNum" sz="quarter" idx="10"/>
          </p:nvPr>
        </p:nvSpPr>
        <p:spPr/>
        <p:txBody>
          <a:bodyPr/>
          <a:lstStyle/>
          <a:p>
            <a:fld id="{F58B522F-7218-4DD2-9A79-8098A090879F}" type="slidenum">
              <a:rPr lang="en-US" smtClean="0"/>
              <a:pPr/>
              <a:t>‹#›</a:t>
            </a:fld>
            <a:endParaRPr lang="en-US"/>
          </a:p>
        </p:txBody>
      </p:sp>
      <p:sp>
        <p:nvSpPr>
          <p:cNvPr id="11" name="Text Placeholder 21">
            <a:extLst>
              <a:ext uri="{FF2B5EF4-FFF2-40B4-BE49-F238E27FC236}">
                <a16:creationId xmlns:a16="http://schemas.microsoft.com/office/drawing/2014/main" id="{25610824-46D8-4C0C-A8BD-0EA7AA54E1BC}"/>
              </a:ext>
            </a:extLst>
          </p:cNvPr>
          <p:cNvSpPr>
            <a:spLocks noGrp="1"/>
          </p:cNvSpPr>
          <p:nvPr>
            <p:ph type="body" sz="quarter" idx="11" hasCustomPrompt="1"/>
          </p:nvPr>
        </p:nvSpPr>
        <p:spPr>
          <a:xfrm>
            <a:off x="5515795" y="1701800"/>
            <a:ext cx="4025900" cy="2963863"/>
          </a:xfrm>
        </p:spPr>
        <p:txBody>
          <a:bodyPr anchor="ctr">
            <a:normAutofit/>
          </a:bodyPr>
          <a:lstStyle>
            <a:lvl1pPr marL="0" indent="0">
              <a:buNone/>
              <a:defRPr sz="2000">
                <a:solidFill>
                  <a:schemeClr val="bg1"/>
                </a:solidFill>
              </a:defRPr>
            </a:lvl1pPr>
          </a:lstStyle>
          <a:p>
            <a:pPr lvl="0"/>
            <a:r>
              <a:rPr lang="en-US"/>
              <a:t>Click to edit section subtitle</a:t>
            </a:r>
          </a:p>
        </p:txBody>
      </p:sp>
      <p:pic>
        <p:nvPicPr>
          <p:cNvPr id="7" name="Picture 6">
            <a:extLst>
              <a:ext uri="{FF2B5EF4-FFF2-40B4-BE49-F238E27FC236}">
                <a16:creationId xmlns:a16="http://schemas.microsoft.com/office/drawing/2014/main" id="{1D3602EE-567D-4C91-919A-876F559F0C25}"/>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34562" y="1701318"/>
            <a:ext cx="3968096" cy="2964345"/>
          </a:xfrm>
          <a:prstGeom prst="rect">
            <a:avLst/>
          </a:prstGeom>
        </p:spPr>
      </p:pic>
      <p:sp>
        <p:nvSpPr>
          <p:cNvPr id="2" name="Title 1">
            <a:extLst>
              <a:ext uri="{FF2B5EF4-FFF2-40B4-BE49-F238E27FC236}">
                <a16:creationId xmlns:a16="http://schemas.microsoft.com/office/drawing/2014/main" id="{26C50B9E-F2C5-45DB-A0DB-6AFBE4E0054B}"/>
              </a:ext>
            </a:extLst>
          </p:cNvPr>
          <p:cNvSpPr>
            <a:spLocks noGrp="1"/>
          </p:cNvSpPr>
          <p:nvPr>
            <p:ph type="title" hasCustomPrompt="1"/>
          </p:nvPr>
        </p:nvSpPr>
        <p:spPr>
          <a:xfrm>
            <a:off x="1705458" y="1702076"/>
            <a:ext cx="3586903" cy="2964345"/>
          </a:xfrm>
        </p:spPr>
        <p:txBody>
          <a:bodyPr/>
          <a:lstStyle>
            <a:lvl1pPr algn="r">
              <a:defRPr>
                <a:solidFill>
                  <a:schemeClr val="bg1"/>
                </a:solidFill>
              </a:defRPr>
            </a:lvl1pPr>
          </a:lstStyle>
          <a:p>
            <a:r>
              <a:rPr lang="en-US"/>
              <a:t>Click to edit section header</a:t>
            </a:r>
          </a:p>
        </p:txBody>
      </p:sp>
      <p:cxnSp>
        <p:nvCxnSpPr>
          <p:cNvPr id="12" name="Straight Connector 11">
            <a:extLst>
              <a:ext uri="{FF2B5EF4-FFF2-40B4-BE49-F238E27FC236}">
                <a16:creationId xmlns:a16="http://schemas.microsoft.com/office/drawing/2014/main" id="{A2ABAB92-5D27-4F9B-B5E6-9110236A3D33}"/>
              </a:ext>
            </a:extLst>
          </p:cNvPr>
          <p:cNvCxnSpPr>
            <a:cxnSpLocks/>
          </p:cNvCxnSpPr>
          <p:nvPr userDrawn="1"/>
        </p:nvCxnSpPr>
        <p:spPr>
          <a:xfrm>
            <a:off x="5384031" y="2000578"/>
            <a:ext cx="0" cy="23882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Picture 18" descr="A close up of a logo&#10;&#10;Description automatically generated">
            <a:extLst>
              <a:ext uri="{FF2B5EF4-FFF2-40B4-BE49-F238E27FC236}">
                <a16:creationId xmlns:a16="http://schemas.microsoft.com/office/drawing/2014/main" id="{0812EE4C-A908-4398-A542-23D9F8E49D55}"/>
              </a:ext>
            </a:extLst>
          </p:cNvPr>
          <p:cNvPicPr>
            <a:picLocks noChangeAspect="1"/>
          </p:cNvPicPr>
          <p:nvPr userDrawn="1"/>
        </p:nvPicPr>
        <p:blipFill rotWithShape="1">
          <a:blip r:embed="rId6">
            <a:alphaModFix/>
            <a:extLst>
              <a:ext uri="{28A0092B-C50C-407E-A947-70E740481C1C}">
                <a14:useLocalDpi xmlns:a14="http://schemas.microsoft.com/office/drawing/2010/main" val="0"/>
              </a:ext>
            </a:extLst>
          </a:blip>
          <a:srcRect l="34283" b="6977"/>
          <a:stretch/>
        </p:blipFill>
        <p:spPr>
          <a:xfrm>
            <a:off x="0" y="2924005"/>
            <a:ext cx="3098031" cy="3933995"/>
          </a:xfrm>
          <a:prstGeom prst="rect">
            <a:avLst/>
          </a:prstGeom>
          <a:effectLst/>
        </p:spPr>
      </p:pic>
    </p:spTree>
    <p:extLst>
      <p:ext uri="{BB962C8B-B14F-4D97-AF65-F5344CB8AC3E}">
        <p14:creationId xmlns:p14="http://schemas.microsoft.com/office/powerpoint/2010/main" val="4217390336"/>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Divider_3">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7E1F2CA8-B568-4802-930B-F26579AFFAA7}"/>
              </a:ext>
            </a:extLst>
          </p:cNvPr>
          <p:cNvGrpSpPr/>
          <p:nvPr userDrawn="1"/>
        </p:nvGrpSpPr>
        <p:grpSpPr>
          <a:xfrm>
            <a:off x="34563" y="0"/>
            <a:ext cx="12148811" cy="6858000"/>
            <a:chOff x="34563" y="0"/>
            <a:chExt cx="12148811" cy="6858000"/>
          </a:xfrm>
        </p:grpSpPr>
        <p:pic>
          <p:nvPicPr>
            <p:cNvPr id="14" name="Picture 13">
              <a:extLst>
                <a:ext uri="{FF2B5EF4-FFF2-40B4-BE49-F238E27FC236}">
                  <a16:creationId xmlns:a16="http://schemas.microsoft.com/office/drawing/2014/main" id="{4CF3A4DB-0224-4842-9709-18266C502500}"/>
                </a:ext>
              </a:extLst>
            </p:cNvPr>
            <p:cNvPicPr>
              <a:picLocks noChangeAspect="1"/>
            </p:cNvPicPr>
            <p:nvPr userDrawn="1"/>
          </p:nvPicPr>
          <p:blipFill>
            <a:blip r:embed="rId2"/>
            <a:stretch>
              <a:fillRect/>
            </a:stretch>
          </p:blipFill>
          <p:spPr>
            <a:xfrm>
              <a:off x="34563" y="0"/>
              <a:ext cx="6858000" cy="6858000"/>
            </a:xfrm>
            <a:prstGeom prst="rect">
              <a:avLst/>
            </a:prstGeom>
          </p:spPr>
        </p:pic>
        <p:pic>
          <p:nvPicPr>
            <p:cNvPr id="15" name="Picture 14">
              <a:extLst>
                <a:ext uri="{FF2B5EF4-FFF2-40B4-BE49-F238E27FC236}">
                  <a16:creationId xmlns:a16="http://schemas.microsoft.com/office/drawing/2014/main" id="{39DA9256-61E6-4EF8-BA57-586A0EB093CB}"/>
                </a:ext>
              </a:extLst>
            </p:cNvPr>
            <p:cNvPicPr>
              <a:picLocks noChangeAspect="1"/>
            </p:cNvPicPr>
            <p:nvPr userDrawn="1"/>
          </p:nvPicPr>
          <p:blipFill>
            <a:blip r:embed="rId3"/>
            <a:stretch>
              <a:fillRect/>
            </a:stretch>
          </p:blipFill>
          <p:spPr>
            <a:xfrm>
              <a:off x="5325374" y="0"/>
              <a:ext cx="6858000" cy="6858000"/>
            </a:xfrm>
            <a:prstGeom prst="rect">
              <a:avLst/>
            </a:prstGeom>
          </p:spPr>
        </p:pic>
      </p:grpSp>
      <p:pic>
        <p:nvPicPr>
          <p:cNvPr id="5" name="Picture 4" descr="A picture containing bird, blue&#10;&#10;Description automatically generated">
            <a:extLst>
              <a:ext uri="{FF2B5EF4-FFF2-40B4-BE49-F238E27FC236}">
                <a16:creationId xmlns:a16="http://schemas.microsoft.com/office/drawing/2014/main" id="{1D1A63CB-E2E3-45AB-83B6-3E4F572748C7}"/>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21919" r="13217" b="31982"/>
          <a:stretch/>
        </p:blipFill>
        <p:spPr>
          <a:xfrm>
            <a:off x="-2" y="1701319"/>
            <a:ext cx="9919253" cy="2963864"/>
          </a:xfrm>
          <a:prstGeom prst="rect">
            <a:avLst/>
          </a:prstGeom>
        </p:spPr>
      </p:pic>
      <p:sp>
        <p:nvSpPr>
          <p:cNvPr id="3" name="Slide Number Placeholder 2">
            <a:extLst>
              <a:ext uri="{FF2B5EF4-FFF2-40B4-BE49-F238E27FC236}">
                <a16:creationId xmlns:a16="http://schemas.microsoft.com/office/drawing/2014/main" id="{84861F15-8BC2-4309-A0B2-6161A79103B3}"/>
              </a:ext>
            </a:extLst>
          </p:cNvPr>
          <p:cNvSpPr>
            <a:spLocks noGrp="1"/>
          </p:cNvSpPr>
          <p:nvPr>
            <p:ph type="sldNum" sz="quarter" idx="10"/>
          </p:nvPr>
        </p:nvSpPr>
        <p:spPr/>
        <p:txBody>
          <a:bodyPr/>
          <a:lstStyle/>
          <a:p>
            <a:fld id="{F58B522F-7218-4DD2-9A79-8098A090879F}" type="slidenum">
              <a:rPr lang="en-US" smtClean="0"/>
              <a:pPr/>
              <a:t>‹#›</a:t>
            </a:fld>
            <a:endParaRPr lang="en-US"/>
          </a:p>
        </p:txBody>
      </p:sp>
      <p:sp>
        <p:nvSpPr>
          <p:cNvPr id="11" name="Text Placeholder 21">
            <a:extLst>
              <a:ext uri="{FF2B5EF4-FFF2-40B4-BE49-F238E27FC236}">
                <a16:creationId xmlns:a16="http://schemas.microsoft.com/office/drawing/2014/main" id="{14F5CD50-E23E-45A6-9C1C-63621EFAB93E}"/>
              </a:ext>
            </a:extLst>
          </p:cNvPr>
          <p:cNvSpPr>
            <a:spLocks noGrp="1"/>
          </p:cNvSpPr>
          <p:nvPr>
            <p:ph type="body" sz="quarter" idx="11" hasCustomPrompt="1"/>
          </p:nvPr>
        </p:nvSpPr>
        <p:spPr>
          <a:xfrm>
            <a:off x="5515795" y="1701800"/>
            <a:ext cx="4025900" cy="2963863"/>
          </a:xfrm>
        </p:spPr>
        <p:txBody>
          <a:bodyPr anchor="ctr">
            <a:normAutofit/>
          </a:bodyPr>
          <a:lstStyle>
            <a:lvl1pPr marL="0" indent="0">
              <a:buNone/>
              <a:defRPr sz="2000">
                <a:solidFill>
                  <a:schemeClr val="bg1"/>
                </a:solidFill>
              </a:defRPr>
            </a:lvl1pPr>
          </a:lstStyle>
          <a:p>
            <a:pPr lvl="0"/>
            <a:r>
              <a:rPr lang="en-US"/>
              <a:t>Click to edit section subtitle</a:t>
            </a:r>
          </a:p>
        </p:txBody>
      </p:sp>
      <p:pic>
        <p:nvPicPr>
          <p:cNvPr id="7" name="Picture 6">
            <a:extLst>
              <a:ext uri="{FF2B5EF4-FFF2-40B4-BE49-F238E27FC236}">
                <a16:creationId xmlns:a16="http://schemas.microsoft.com/office/drawing/2014/main" id="{14EE1633-842D-4A35-8E59-51D2DC0E597F}"/>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34562" y="1701318"/>
            <a:ext cx="3968096" cy="2964345"/>
          </a:xfrm>
          <a:prstGeom prst="rect">
            <a:avLst/>
          </a:prstGeom>
        </p:spPr>
      </p:pic>
      <p:sp>
        <p:nvSpPr>
          <p:cNvPr id="2" name="Title 1">
            <a:extLst>
              <a:ext uri="{FF2B5EF4-FFF2-40B4-BE49-F238E27FC236}">
                <a16:creationId xmlns:a16="http://schemas.microsoft.com/office/drawing/2014/main" id="{26C50B9E-F2C5-45DB-A0DB-6AFBE4E0054B}"/>
              </a:ext>
            </a:extLst>
          </p:cNvPr>
          <p:cNvSpPr>
            <a:spLocks noGrp="1"/>
          </p:cNvSpPr>
          <p:nvPr>
            <p:ph type="title" hasCustomPrompt="1"/>
          </p:nvPr>
        </p:nvSpPr>
        <p:spPr>
          <a:xfrm>
            <a:off x="1705458" y="1702076"/>
            <a:ext cx="3586903" cy="2964345"/>
          </a:xfrm>
        </p:spPr>
        <p:txBody>
          <a:bodyPr/>
          <a:lstStyle>
            <a:lvl1pPr algn="r">
              <a:defRPr>
                <a:solidFill>
                  <a:schemeClr val="bg1"/>
                </a:solidFill>
              </a:defRPr>
            </a:lvl1pPr>
          </a:lstStyle>
          <a:p>
            <a:r>
              <a:rPr lang="en-US"/>
              <a:t>Click to edit section header</a:t>
            </a:r>
          </a:p>
        </p:txBody>
      </p:sp>
      <p:cxnSp>
        <p:nvCxnSpPr>
          <p:cNvPr id="12" name="Straight Connector 11">
            <a:extLst>
              <a:ext uri="{FF2B5EF4-FFF2-40B4-BE49-F238E27FC236}">
                <a16:creationId xmlns:a16="http://schemas.microsoft.com/office/drawing/2014/main" id="{A2ABAB92-5D27-4F9B-B5E6-9110236A3D33}"/>
              </a:ext>
            </a:extLst>
          </p:cNvPr>
          <p:cNvCxnSpPr>
            <a:cxnSpLocks/>
          </p:cNvCxnSpPr>
          <p:nvPr userDrawn="1"/>
        </p:nvCxnSpPr>
        <p:spPr>
          <a:xfrm>
            <a:off x="5384031" y="2000578"/>
            <a:ext cx="0" cy="2388233"/>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Picture 18" descr="A close up of a logo&#10;&#10;Description automatically generated">
            <a:extLst>
              <a:ext uri="{FF2B5EF4-FFF2-40B4-BE49-F238E27FC236}">
                <a16:creationId xmlns:a16="http://schemas.microsoft.com/office/drawing/2014/main" id="{0812EE4C-A908-4398-A542-23D9F8E49D55}"/>
              </a:ext>
            </a:extLst>
          </p:cNvPr>
          <p:cNvPicPr>
            <a:picLocks noChangeAspect="1"/>
          </p:cNvPicPr>
          <p:nvPr userDrawn="1"/>
        </p:nvPicPr>
        <p:blipFill rotWithShape="1">
          <a:blip r:embed="rId6">
            <a:alphaModFix/>
            <a:extLst>
              <a:ext uri="{28A0092B-C50C-407E-A947-70E740481C1C}">
                <a14:useLocalDpi xmlns:a14="http://schemas.microsoft.com/office/drawing/2010/main" val="0"/>
              </a:ext>
            </a:extLst>
          </a:blip>
          <a:srcRect l="34283" b="6977"/>
          <a:stretch/>
        </p:blipFill>
        <p:spPr>
          <a:xfrm>
            <a:off x="0" y="2924005"/>
            <a:ext cx="3098031" cy="3933995"/>
          </a:xfrm>
          <a:prstGeom prst="rect">
            <a:avLst/>
          </a:prstGeom>
          <a:effectLst/>
        </p:spPr>
      </p:pic>
    </p:spTree>
    <p:extLst>
      <p:ext uri="{BB962C8B-B14F-4D97-AF65-F5344CB8AC3E}">
        <p14:creationId xmlns:p14="http://schemas.microsoft.com/office/powerpoint/2010/main" val="3828620047"/>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CD22BC-8594-4491-9B6F-B5A7AA321B09}"/>
              </a:ext>
            </a:extLst>
          </p:cNvPr>
          <p:cNvSpPr>
            <a:spLocks noGrp="1"/>
          </p:cNvSpPr>
          <p:nvPr>
            <p:ph type="sldNum" sz="quarter" idx="12"/>
          </p:nvPr>
        </p:nvSpPr>
        <p:spPr/>
        <p:txBody>
          <a:bodyPr/>
          <a:lstStyle/>
          <a:p>
            <a:fld id="{F58B522F-7218-4DD2-9A79-8098A090879F}" type="slidenum">
              <a:rPr lang="en-US" smtClean="0"/>
              <a:t>‹#›</a:t>
            </a:fld>
            <a:endParaRPr lang="en-US"/>
          </a:p>
        </p:txBody>
      </p:sp>
    </p:spTree>
    <p:extLst>
      <p:ext uri="{BB962C8B-B14F-4D97-AF65-F5344CB8AC3E}">
        <p14:creationId xmlns:p14="http://schemas.microsoft.com/office/powerpoint/2010/main" val="2525129498"/>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B1C13-BC86-4A77-97EB-EBEFE00F96D9}"/>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503343A0-6BB7-4A45-84C0-3CF8A6379606}"/>
              </a:ext>
            </a:extLst>
          </p:cNvPr>
          <p:cNvSpPr>
            <a:spLocks noGrp="1"/>
          </p:cNvSpPr>
          <p:nvPr>
            <p:ph type="sldNum" sz="quarter" idx="12"/>
          </p:nvPr>
        </p:nvSpPr>
        <p:spPr/>
        <p:txBody>
          <a:bodyPr/>
          <a:lstStyle/>
          <a:p>
            <a:fld id="{F58B522F-7218-4DD2-9A79-8098A090879F}" type="slidenum">
              <a:rPr lang="en-US" smtClean="0"/>
              <a:t>‹#›</a:t>
            </a:fld>
            <a:endParaRPr lang="en-US"/>
          </a:p>
        </p:txBody>
      </p:sp>
    </p:spTree>
    <p:extLst>
      <p:ext uri="{BB962C8B-B14F-4D97-AF65-F5344CB8AC3E}">
        <p14:creationId xmlns:p14="http://schemas.microsoft.com/office/powerpoint/2010/main" val="4098228576"/>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8906A-5737-4113-AE7B-E4F8A2B257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A0559E-C144-4178-98DD-EA2FBC1DB644}"/>
              </a:ext>
            </a:extLst>
          </p:cNvPr>
          <p:cNvSpPr>
            <a:spLocks noGrp="1"/>
          </p:cNvSpPr>
          <p:nvPr>
            <p:ph idx="1"/>
          </p:nvPr>
        </p:nvSpPr>
        <p:spPr>
          <a:xfrm>
            <a:off x="388189" y="1009291"/>
            <a:ext cx="11429999" cy="51585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032AFA98-C621-425E-84EA-736B291B6698}"/>
              </a:ext>
            </a:extLst>
          </p:cNvPr>
          <p:cNvSpPr>
            <a:spLocks noGrp="1"/>
          </p:cNvSpPr>
          <p:nvPr>
            <p:ph type="sldNum" sz="quarter" idx="12"/>
          </p:nvPr>
        </p:nvSpPr>
        <p:spPr/>
        <p:txBody>
          <a:bodyPr/>
          <a:lstStyle/>
          <a:p>
            <a:fld id="{F58B522F-7218-4DD2-9A79-8098A090879F}" type="slidenum">
              <a:rPr lang="en-US" smtClean="0"/>
              <a:t>‹#›</a:t>
            </a:fld>
            <a:endParaRPr lang="en-US"/>
          </a:p>
        </p:txBody>
      </p:sp>
    </p:spTree>
    <p:extLst>
      <p:ext uri="{BB962C8B-B14F-4D97-AF65-F5344CB8AC3E}">
        <p14:creationId xmlns:p14="http://schemas.microsoft.com/office/powerpoint/2010/main" val="368950321"/>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8906A-5737-4113-AE7B-E4F8A2B2579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A0559E-C144-4178-98DD-EA2FBC1DB644}"/>
              </a:ext>
            </a:extLst>
          </p:cNvPr>
          <p:cNvSpPr>
            <a:spLocks noGrp="1"/>
          </p:cNvSpPr>
          <p:nvPr>
            <p:ph idx="1"/>
          </p:nvPr>
        </p:nvSpPr>
        <p:spPr>
          <a:xfrm>
            <a:off x="388189" y="1526875"/>
            <a:ext cx="11429999" cy="46500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032AFA98-C621-425E-84EA-736B291B6698}"/>
              </a:ext>
            </a:extLst>
          </p:cNvPr>
          <p:cNvSpPr>
            <a:spLocks noGrp="1"/>
          </p:cNvSpPr>
          <p:nvPr>
            <p:ph type="sldNum" sz="quarter" idx="12"/>
          </p:nvPr>
        </p:nvSpPr>
        <p:spPr/>
        <p:txBody>
          <a:bodyPr/>
          <a:lstStyle/>
          <a:p>
            <a:fld id="{F58B522F-7218-4DD2-9A79-8098A090879F}" type="slidenum">
              <a:rPr lang="en-US" smtClean="0"/>
              <a:t>‹#›</a:t>
            </a:fld>
            <a:endParaRPr lang="en-US"/>
          </a:p>
        </p:txBody>
      </p:sp>
      <p:sp>
        <p:nvSpPr>
          <p:cNvPr id="8" name="Text Placeholder 7">
            <a:extLst>
              <a:ext uri="{FF2B5EF4-FFF2-40B4-BE49-F238E27FC236}">
                <a16:creationId xmlns:a16="http://schemas.microsoft.com/office/drawing/2014/main" id="{25D81F86-65BF-4604-8862-4431E89C4319}"/>
              </a:ext>
            </a:extLst>
          </p:cNvPr>
          <p:cNvSpPr>
            <a:spLocks noGrp="1"/>
          </p:cNvSpPr>
          <p:nvPr>
            <p:ph type="body" sz="quarter" idx="13" hasCustomPrompt="1"/>
          </p:nvPr>
        </p:nvSpPr>
        <p:spPr>
          <a:xfrm>
            <a:off x="388189" y="879894"/>
            <a:ext cx="11430749" cy="492125"/>
          </a:xfrm>
        </p:spPr>
        <p:txBody>
          <a:bodyPr/>
          <a:lstStyle>
            <a:lvl1pPr marL="0" indent="0">
              <a:buNone/>
              <a:defRPr>
                <a:solidFill>
                  <a:schemeClr val="accent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subtitle</a:t>
            </a:r>
          </a:p>
        </p:txBody>
      </p:sp>
    </p:spTree>
    <p:extLst>
      <p:ext uri="{BB962C8B-B14F-4D97-AF65-F5344CB8AC3E}">
        <p14:creationId xmlns:p14="http://schemas.microsoft.com/office/powerpoint/2010/main" val="4017764871"/>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01389-47F3-468C-A795-CB9E11FDA6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D56054-A03E-4498-A3EA-066243B9D965}"/>
              </a:ext>
            </a:extLst>
          </p:cNvPr>
          <p:cNvSpPr>
            <a:spLocks noGrp="1"/>
          </p:cNvSpPr>
          <p:nvPr>
            <p:ph sz="half" idx="1"/>
          </p:nvPr>
        </p:nvSpPr>
        <p:spPr>
          <a:xfrm>
            <a:off x="388189" y="1010978"/>
            <a:ext cx="5572036" cy="4967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6488FA5-5E23-41D8-8B46-1D3FE3F50195}"/>
              </a:ext>
            </a:extLst>
          </p:cNvPr>
          <p:cNvSpPr>
            <a:spLocks noGrp="1"/>
          </p:cNvSpPr>
          <p:nvPr>
            <p:ph sz="half" idx="2"/>
          </p:nvPr>
        </p:nvSpPr>
        <p:spPr>
          <a:xfrm>
            <a:off x="6231775" y="1010978"/>
            <a:ext cx="5572036" cy="49671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907C8C6-B512-431C-A014-F75A96F5AC9D}"/>
              </a:ext>
            </a:extLst>
          </p:cNvPr>
          <p:cNvSpPr>
            <a:spLocks noGrp="1"/>
          </p:cNvSpPr>
          <p:nvPr>
            <p:ph type="sldNum" sz="quarter" idx="12"/>
          </p:nvPr>
        </p:nvSpPr>
        <p:spPr/>
        <p:txBody>
          <a:bodyPr/>
          <a:lstStyle/>
          <a:p>
            <a:fld id="{F58B522F-7218-4DD2-9A79-8098A090879F}" type="slidenum">
              <a:rPr lang="en-US" smtClean="0"/>
              <a:t>‹#›</a:t>
            </a:fld>
            <a:endParaRPr lang="en-US"/>
          </a:p>
        </p:txBody>
      </p:sp>
    </p:spTree>
    <p:extLst>
      <p:ext uri="{BB962C8B-B14F-4D97-AF65-F5344CB8AC3E}">
        <p14:creationId xmlns:p14="http://schemas.microsoft.com/office/powerpoint/2010/main" val="3886443257"/>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C68DA-7FF9-4455-9430-4953D51DE046}"/>
              </a:ext>
            </a:extLst>
          </p:cNvPr>
          <p:cNvSpPr>
            <a:spLocks noGrp="1"/>
          </p:cNvSpPr>
          <p:nvPr>
            <p:ph type="title"/>
          </p:nvPr>
        </p:nvSpPr>
        <p:spPr>
          <a:xfrm>
            <a:off x="388189" y="365125"/>
            <a:ext cx="11429998" cy="514769"/>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AAEFE9-48F2-4586-AA73-23A56D4C77C7}"/>
              </a:ext>
            </a:extLst>
          </p:cNvPr>
          <p:cNvSpPr>
            <a:spLocks noGrp="1"/>
          </p:cNvSpPr>
          <p:nvPr>
            <p:ph type="body" idx="1"/>
          </p:nvPr>
        </p:nvSpPr>
        <p:spPr>
          <a:xfrm>
            <a:off x="388189" y="1008303"/>
            <a:ext cx="54858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CB4F8E-5FD9-4131-9262-4A6FF34B22E9}"/>
              </a:ext>
            </a:extLst>
          </p:cNvPr>
          <p:cNvSpPr>
            <a:spLocks noGrp="1"/>
          </p:cNvSpPr>
          <p:nvPr>
            <p:ph sz="half" idx="2"/>
          </p:nvPr>
        </p:nvSpPr>
        <p:spPr>
          <a:xfrm>
            <a:off x="388189" y="2119111"/>
            <a:ext cx="5485837" cy="3936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F9B86D-A96D-42AC-AB1A-DBF6CF560D1B}"/>
              </a:ext>
            </a:extLst>
          </p:cNvPr>
          <p:cNvSpPr>
            <a:spLocks noGrp="1"/>
          </p:cNvSpPr>
          <p:nvPr>
            <p:ph type="body" sz="quarter" idx="3"/>
          </p:nvPr>
        </p:nvSpPr>
        <p:spPr>
          <a:xfrm>
            <a:off x="6332350" y="1008303"/>
            <a:ext cx="54858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45F8C7-CE22-4E40-A6C6-B929341023B1}"/>
              </a:ext>
            </a:extLst>
          </p:cNvPr>
          <p:cNvSpPr>
            <a:spLocks noGrp="1"/>
          </p:cNvSpPr>
          <p:nvPr>
            <p:ph sz="quarter" idx="4"/>
          </p:nvPr>
        </p:nvSpPr>
        <p:spPr>
          <a:xfrm>
            <a:off x="6332350" y="2119111"/>
            <a:ext cx="5485837" cy="3936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44441597-F69C-484F-B731-8D0E74F09180}"/>
              </a:ext>
            </a:extLst>
          </p:cNvPr>
          <p:cNvSpPr>
            <a:spLocks noGrp="1"/>
          </p:cNvSpPr>
          <p:nvPr>
            <p:ph type="sldNum" sz="quarter" idx="12"/>
          </p:nvPr>
        </p:nvSpPr>
        <p:spPr/>
        <p:txBody>
          <a:bodyPr/>
          <a:lstStyle/>
          <a:p>
            <a:fld id="{F58B522F-7218-4DD2-9A79-8098A090879F}" type="slidenum">
              <a:rPr lang="en-US" smtClean="0"/>
              <a:t>‹#›</a:t>
            </a:fld>
            <a:endParaRPr lang="en-US"/>
          </a:p>
        </p:txBody>
      </p:sp>
      <p:cxnSp>
        <p:nvCxnSpPr>
          <p:cNvPr id="10" name="Straight Connector 9">
            <a:extLst>
              <a:ext uri="{FF2B5EF4-FFF2-40B4-BE49-F238E27FC236}">
                <a16:creationId xmlns:a16="http://schemas.microsoft.com/office/drawing/2014/main" id="{9368D865-54F5-4D72-8B6E-610921294CD4}"/>
              </a:ext>
            </a:extLst>
          </p:cNvPr>
          <p:cNvCxnSpPr>
            <a:cxnSpLocks/>
          </p:cNvCxnSpPr>
          <p:nvPr userDrawn="1"/>
        </p:nvCxnSpPr>
        <p:spPr>
          <a:xfrm>
            <a:off x="388189" y="1915879"/>
            <a:ext cx="5485837"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E7BF8AB-70EF-4EAB-B727-33A3B31F5890}"/>
              </a:ext>
            </a:extLst>
          </p:cNvPr>
          <p:cNvCxnSpPr>
            <a:cxnSpLocks/>
          </p:cNvCxnSpPr>
          <p:nvPr userDrawn="1"/>
        </p:nvCxnSpPr>
        <p:spPr>
          <a:xfrm flipV="1">
            <a:off x="6332350" y="1912667"/>
            <a:ext cx="5485837" cy="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7568429"/>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67ADCB-005E-4579-9CEF-8D0856C0CE47}"/>
              </a:ext>
            </a:extLst>
          </p:cNvPr>
          <p:cNvPicPr>
            <a:picLocks noChangeAspect="1"/>
          </p:cNvPicPr>
          <p:nvPr userDrawn="1"/>
        </p:nvPicPr>
        <p:blipFill>
          <a:blip r:embed="rId3"/>
          <a:stretch>
            <a:fillRect/>
          </a:stretch>
        </p:blipFill>
        <p:spPr>
          <a:xfrm>
            <a:off x="0" y="0"/>
            <a:ext cx="12192000" cy="6857999"/>
          </a:xfrm>
          <a:prstGeom prst="rect">
            <a:avLst/>
          </a:prstGeom>
        </p:spPr>
      </p:pic>
      <p:sp>
        <p:nvSpPr>
          <p:cNvPr id="2" name="Title 1">
            <a:extLst>
              <a:ext uri="{FF2B5EF4-FFF2-40B4-BE49-F238E27FC236}">
                <a16:creationId xmlns:a16="http://schemas.microsoft.com/office/drawing/2014/main" id="{76BE7722-D8B2-446B-A111-CA9AE47E2197}"/>
              </a:ext>
            </a:extLst>
          </p:cNvPr>
          <p:cNvSpPr>
            <a:spLocks noGrp="1"/>
          </p:cNvSpPr>
          <p:nvPr>
            <p:ph type="title" hasCustomPrompt="1"/>
          </p:nvPr>
        </p:nvSpPr>
        <p:spPr>
          <a:xfrm>
            <a:off x="515778" y="460819"/>
            <a:ext cx="8947199" cy="2707684"/>
          </a:xfrm>
        </p:spPr>
        <p:txBody>
          <a:bodyPr anchor="b"/>
          <a:lstStyle>
            <a:lvl1pPr>
              <a:defRPr sz="3600">
                <a:solidFill>
                  <a:schemeClr val="bg1"/>
                </a:solidFill>
              </a:defRPr>
            </a:lvl1pPr>
          </a:lstStyle>
          <a:p>
            <a:r>
              <a:rPr lang="en-US"/>
              <a:t>“Click to edit quote style.”</a:t>
            </a:r>
          </a:p>
        </p:txBody>
      </p:sp>
      <p:sp>
        <p:nvSpPr>
          <p:cNvPr id="3" name="Slide Number Placeholder 2">
            <a:extLst>
              <a:ext uri="{FF2B5EF4-FFF2-40B4-BE49-F238E27FC236}">
                <a16:creationId xmlns:a16="http://schemas.microsoft.com/office/drawing/2014/main" id="{F30A477D-1CD3-4C89-AE91-156F2ECFC893}"/>
              </a:ext>
            </a:extLst>
          </p:cNvPr>
          <p:cNvSpPr>
            <a:spLocks noGrp="1"/>
          </p:cNvSpPr>
          <p:nvPr>
            <p:ph type="sldNum" sz="quarter" idx="10"/>
          </p:nvPr>
        </p:nvSpPr>
        <p:spPr/>
        <p:txBody>
          <a:bodyPr/>
          <a:lstStyle/>
          <a:p>
            <a:fld id="{F58B522F-7218-4DD2-9A79-8098A090879F}" type="slidenum">
              <a:rPr lang="en-US" smtClean="0"/>
              <a:pPr/>
              <a:t>‹#›</a:t>
            </a:fld>
            <a:endParaRPr lang="en-US"/>
          </a:p>
        </p:txBody>
      </p:sp>
      <p:sp>
        <p:nvSpPr>
          <p:cNvPr id="5" name="Text Placeholder 4">
            <a:extLst>
              <a:ext uri="{FF2B5EF4-FFF2-40B4-BE49-F238E27FC236}">
                <a16:creationId xmlns:a16="http://schemas.microsoft.com/office/drawing/2014/main" id="{0C30CA0A-F6BD-4ABD-ACEF-3DEC9913769C}"/>
              </a:ext>
            </a:extLst>
          </p:cNvPr>
          <p:cNvSpPr>
            <a:spLocks noGrp="1"/>
          </p:cNvSpPr>
          <p:nvPr>
            <p:ph type="body" sz="quarter" idx="11" hasCustomPrompt="1"/>
          </p:nvPr>
        </p:nvSpPr>
        <p:spPr>
          <a:xfrm>
            <a:off x="5943599" y="3348629"/>
            <a:ext cx="3519377" cy="1701800"/>
          </a:xfrm>
        </p:spPr>
        <p:txBody>
          <a:bodyPr/>
          <a:lstStyle>
            <a:lvl1pPr marL="0" indent="0" algn="l">
              <a:buNone/>
              <a:defRPr>
                <a:solidFill>
                  <a:schemeClr val="bg1"/>
                </a:solidFill>
              </a:defRPr>
            </a:lvl1pPr>
          </a:lstStyle>
          <a:p>
            <a:pPr lvl="0"/>
            <a:r>
              <a:rPr lang="en-US"/>
              <a:t>Speaker Name</a:t>
            </a:r>
          </a:p>
          <a:p>
            <a:pPr lvl="0"/>
            <a:r>
              <a:rPr lang="en-US"/>
              <a:t>Title, Company</a:t>
            </a:r>
          </a:p>
        </p:txBody>
      </p:sp>
    </p:spTree>
    <p:extLst>
      <p:ext uri="{BB962C8B-B14F-4D97-AF65-F5344CB8AC3E}">
        <p14:creationId xmlns:p14="http://schemas.microsoft.com/office/powerpoint/2010/main" val="1999632280"/>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C68DA-7FF9-4455-9430-4953D51DE046}"/>
              </a:ext>
            </a:extLst>
          </p:cNvPr>
          <p:cNvSpPr>
            <a:spLocks noGrp="1"/>
          </p:cNvSpPr>
          <p:nvPr>
            <p:ph type="title"/>
          </p:nvPr>
        </p:nvSpPr>
        <p:spPr>
          <a:xfrm>
            <a:off x="388189" y="365125"/>
            <a:ext cx="11429998" cy="514769"/>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AAEFE9-48F2-4586-AA73-23A56D4C77C7}"/>
              </a:ext>
            </a:extLst>
          </p:cNvPr>
          <p:cNvSpPr>
            <a:spLocks noGrp="1"/>
          </p:cNvSpPr>
          <p:nvPr>
            <p:ph type="body" idx="1"/>
          </p:nvPr>
        </p:nvSpPr>
        <p:spPr>
          <a:xfrm>
            <a:off x="388189" y="1008303"/>
            <a:ext cx="3577524"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CB4F8E-5FD9-4131-9262-4A6FF34B22E9}"/>
              </a:ext>
            </a:extLst>
          </p:cNvPr>
          <p:cNvSpPr>
            <a:spLocks noGrp="1"/>
          </p:cNvSpPr>
          <p:nvPr>
            <p:ph sz="half" idx="2"/>
          </p:nvPr>
        </p:nvSpPr>
        <p:spPr>
          <a:xfrm>
            <a:off x="388189" y="2119111"/>
            <a:ext cx="3577524" cy="3777608"/>
          </a:xfrm>
          <a:prstGeom prst="parallelogram">
            <a:avLst/>
          </a:prstGeom>
        </p:spPr>
        <p:txBody>
          <a:body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79F9B86D-A96D-42AC-AB1A-DBF6CF560D1B}"/>
              </a:ext>
            </a:extLst>
          </p:cNvPr>
          <p:cNvSpPr>
            <a:spLocks noGrp="1"/>
          </p:cNvSpPr>
          <p:nvPr>
            <p:ph type="body" sz="quarter" idx="3"/>
          </p:nvPr>
        </p:nvSpPr>
        <p:spPr>
          <a:xfrm>
            <a:off x="4302645" y="1008303"/>
            <a:ext cx="358670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45F8C7-CE22-4E40-A6C6-B929341023B1}"/>
              </a:ext>
            </a:extLst>
          </p:cNvPr>
          <p:cNvSpPr>
            <a:spLocks noGrp="1"/>
          </p:cNvSpPr>
          <p:nvPr>
            <p:ph sz="quarter" idx="4"/>
          </p:nvPr>
        </p:nvSpPr>
        <p:spPr>
          <a:xfrm>
            <a:off x="4302645" y="2119111"/>
            <a:ext cx="3586709" cy="3777608"/>
          </a:xfrm>
          <a:prstGeom prst="parallelogram">
            <a:avLst/>
          </a:prstGeom>
        </p:spPr>
        <p:txBody>
          <a:body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44441597-F69C-484F-B731-8D0E74F09180}"/>
              </a:ext>
            </a:extLst>
          </p:cNvPr>
          <p:cNvSpPr>
            <a:spLocks noGrp="1"/>
          </p:cNvSpPr>
          <p:nvPr>
            <p:ph type="sldNum" sz="quarter" idx="12"/>
          </p:nvPr>
        </p:nvSpPr>
        <p:spPr/>
        <p:txBody>
          <a:bodyPr/>
          <a:lstStyle/>
          <a:p>
            <a:fld id="{F58B522F-7218-4DD2-9A79-8098A090879F}" type="slidenum">
              <a:rPr lang="en-US" smtClean="0"/>
              <a:t>‹#›</a:t>
            </a:fld>
            <a:endParaRPr lang="en-US"/>
          </a:p>
        </p:txBody>
      </p:sp>
      <p:cxnSp>
        <p:nvCxnSpPr>
          <p:cNvPr id="10" name="Straight Connector 9">
            <a:extLst>
              <a:ext uri="{FF2B5EF4-FFF2-40B4-BE49-F238E27FC236}">
                <a16:creationId xmlns:a16="http://schemas.microsoft.com/office/drawing/2014/main" id="{9368D865-54F5-4D72-8B6E-610921294CD4}"/>
              </a:ext>
            </a:extLst>
          </p:cNvPr>
          <p:cNvCxnSpPr>
            <a:cxnSpLocks/>
          </p:cNvCxnSpPr>
          <p:nvPr userDrawn="1"/>
        </p:nvCxnSpPr>
        <p:spPr>
          <a:xfrm>
            <a:off x="388189" y="1915879"/>
            <a:ext cx="3573444"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E7BF8AB-70EF-4EAB-B727-33A3B31F5890}"/>
              </a:ext>
            </a:extLst>
          </p:cNvPr>
          <p:cNvCxnSpPr>
            <a:cxnSpLocks/>
          </p:cNvCxnSpPr>
          <p:nvPr userDrawn="1"/>
        </p:nvCxnSpPr>
        <p:spPr>
          <a:xfrm>
            <a:off x="4302645" y="1912667"/>
            <a:ext cx="3592422"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52905F1D-18EC-47A4-A67E-782768D9E09D}"/>
              </a:ext>
            </a:extLst>
          </p:cNvPr>
          <p:cNvSpPr>
            <a:spLocks noGrp="1"/>
          </p:cNvSpPr>
          <p:nvPr>
            <p:ph type="body" sz="quarter" idx="13"/>
          </p:nvPr>
        </p:nvSpPr>
        <p:spPr>
          <a:xfrm>
            <a:off x="8231478" y="1008303"/>
            <a:ext cx="358670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720D9848-0921-4B12-BDE4-F08E865E8592}"/>
              </a:ext>
            </a:extLst>
          </p:cNvPr>
          <p:cNvSpPr>
            <a:spLocks noGrp="1"/>
          </p:cNvSpPr>
          <p:nvPr>
            <p:ph sz="quarter" idx="14"/>
          </p:nvPr>
        </p:nvSpPr>
        <p:spPr>
          <a:xfrm>
            <a:off x="8231478" y="2119111"/>
            <a:ext cx="3586709" cy="3777608"/>
          </a:xfrm>
          <a:prstGeom prst="parallelogram">
            <a:avLst/>
          </a:prstGeom>
        </p:spPr>
        <p:txBody>
          <a:bodyPr/>
          <a:lstStyle/>
          <a:p>
            <a:pPr lvl="0"/>
            <a:r>
              <a:rPr lang="en-US"/>
              <a:t>Click to edit Master text styles</a:t>
            </a:r>
          </a:p>
          <a:p>
            <a:pPr lvl="1"/>
            <a:r>
              <a:rPr lang="en-US"/>
              <a:t>Second level</a:t>
            </a:r>
          </a:p>
          <a:p>
            <a:pPr lvl="2"/>
            <a:r>
              <a:rPr lang="en-US"/>
              <a:t>Third level</a:t>
            </a:r>
          </a:p>
        </p:txBody>
      </p:sp>
      <p:cxnSp>
        <p:nvCxnSpPr>
          <p:cNvPr id="14" name="Straight Connector 13">
            <a:extLst>
              <a:ext uri="{FF2B5EF4-FFF2-40B4-BE49-F238E27FC236}">
                <a16:creationId xmlns:a16="http://schemas.microsoft.com/office/drawing/2014/main" id="{38DD7937-E467-4FB2-BA44-BB56794EDDEC}"/>
              </a:ext>
            </a:extLst>
          </p:cNvPr>
          <p:cNvCxnSpPr>
            <a:cxnSpLocks/>
          </p:cNvCxnSpPr>
          <p:nvPr userDrawn="1"/>
        </p:nvCxnSpPr>
        <p:spPr>
          <a:xfrm>
            <a:off x="8231478" y="1912667"/>
            <a:ext cx="3592422"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4992718"/>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ntent with cap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C68DA-7FF9-4455-9430-4953D51DE046}"/>
              </a:ext>
            </a:extLst>
          </p:cNvPr>
          <p:cNvSpPr>
            <a:spLocks noGrp="1"/>
          </p:cNvSpPr>
          <p:nvPr>
            <p:ph type="title"/>
          </p:nvPr>
        </p:nvSpPr>
        <p:spPr>
          <a:xfrm>
            <a:off x="388189" y="365125"/>
            <a:ext cx="11429998" cy="514769"/>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AAEFE9-48F2-4586-AA73-23A56D4C77C7}"/>
              </a:ext>
            </a:extLst>
          </p:cNvPr>
          <p:cNvSpPr>
            <a:spLocks noGrp="1"/>
          </p:cNvSpPr>
          <p:nvPr>
            <p:ph type="body" idx="1"/>
          </p:nvPr>
        </p:nvSpPr>
        <p:spPr>
          <a:xfrm>
            <a:off x="388189" y="4787648"/>
            <a:ext cx="3577524" cy="542103"/>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1CB4F8E-5FD9-4131-9262-4A6FF34B22E9}"/>
              </a:ext>
            </a:extLst>
          </p:cNvPr>
          <p:cNvSpPr>
            <a:spLocks noGrp="1"/>
          </p:cNvSpPr>
          <p:nvPr>
            <p:ph sz="half" idx="2"/>
          </p:nvPr>
        </p:nvSpPr>
        <p:spPr>
          <a:xfrm>
            <a:off x="388189" y="1010041"/>
            <a:ext cx="3577524" cy="3777608"/>
          </a:xfrm>
          <a:prstGeom prst="parallelogram">
            <a:avLst/>
          </a:prstGeom>
        </p:spPr>
        <p:txBody>
          <a:bodyPr/>
          <a:lstStyle/>
          <a:p>
            <a:pPr lvl="0"/>
            <a:r>
              <a:rPr lang="en-US"/>
              <a:t>Click to edit Master text styles</a:t>
            </a:r>
          </a:p>
          <a:p>
            <a:pPr lvl="1"/>
            <a:r>
              <a:rPr lang="en-US"/>
              <a:t>Second level</a:t>
            </a:r>
          </a:p>
          <a:p>
            <a:pPr lvl="2"/>
            <a:r>
              <a:rPr lang="en-US"/>
              <a:t>Third level</a:t>
            </a:r>
          </a:p>
        </p:txBody>
      </p:sp>
      <p:sp>
        <p:nvSpPr>
          <p:cNvPr id="5" name="Text Placeholder 4">
            <a:extLst>
              <a:ext uri="{FF2B5EF4-FFF2-40B4-BE49-F238E27FC236}">
                <a16:creationId xmlns:a16="http://schemas.microsoft.com/office/drawing/2014/main" id="{79F9B86D-A96D-42AC-AB1A-DBF6CF560D1B}"/>
              </a:ext>
            </a:extLst>
          </p:cNvPr>
          <p:cNvSpPr>
            <a:spLocks noGrp="1"/>
          </p:cNvSpPr>
          <p:nvPr>
            <p:ph type="body" sz="quarter" idx="3"/>
          </p:nvPr>
        </p:nvSpPr>
        <p:spPr>
          <a:xfrm>
            <a:off x="4305241" y="4787648"/>
            <a:ext cx="3586709" cy="542103"/>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45F8C7-CE22-4E40-A6C6-B929341023B1}"/>
              </a:ext>
            </a:extLst>
          </p:cNvPr>
          <p:cNvSpPr>
            <a:spLocks noGrp="1"/>
          </p:cNvSpPr>
          <p:nvPr>
            <p:ph sz="quarter" idx="4"/>
          </p:nvPr>
        </p:nvSpPr>
        <p:spPr>
          <a:xfrm>
            <a:off x="4305241" y="1010041"/>
            <a:ext cx="3586709" cy="3777608"/>
          </a:xfrm>
          <a:prstGeom prst="parallelogram">
            <a:avLst/>
          </a:prstGeom>
        </p:spPr>
        <p:txBody>
          <a:bodyPr/>
          <a:lstStyle/>
          <a:p>
            <a:pPr lvl="0"/>
            <a:r>
              <a:rPr lang="en-US"/>
              <a:t>Click to edit Master text styles</a:t>
            </a:r>
          </a:p>
          <a:p>
            <a:pPr lvl="1"/>
            <a:r>
              <a:rPr lang="en-US"/>
              <a:t>Second level</a:t>
            </a:r>
          </a:p>
          <a:p>
            <a:pPr lvl="2"/>
            <a:r>
              <a:rPr lang="en-US"/>
              <a:t>Third level</a:t>
            </a:r>
          </a:p>
        </p:txBody>
      </p:sp>
      <p:sp>
        <p:nvSpPr>
          <p:cNvPr id="9" name="Slide Number Placeholder 8">
            <a:extLst>
              <a:ext uri="{FF2B5EF4-FFF2-40B4-BE49-F238E27FC236}">
                <a16:creationId xmlns:a16="http://schemas.microsoft.com/office/drawing/2014/main" id="{44441597-F69C-484F-B731-8D0E74F09180}"/>
              </a:ext>
            </a:extLst>
          </p:cNvPr>
          <p:cNvSpPr>
            <a:spLocks noGrp="1"/>
          </p:cNvSpPr>
          <p:nvPr>
            <p:ph type="sldNum" sz="quarter" idx="12"/>
          </p:nvPr>
        </p:nvSpPr>
        <p:spPr/>
        <p:txBody>
          <a:bodyPr/>
          <a:lstStyle/>
          <a:p>
            <a:fld id="{F58B522F-7218-4DD2-9A79-8098A090879F}" type="slidenum">
              <a:rPr lang="en-US" smtClean="0"/>
              <a:t>‹#›</a:t>
            </a:fld>
            <a:endParaRPr lang="en-US"/>
          </a:p>
        </p:txBody>
      </p:sp>
      <p:cxnSp>
        <p:nvCxnSpPr>
          <p:cNvPr id="10" name="Straight Connector 9">
            <a:extLst>
              <a:ext uri="{FF2B5EF4-FFF2-40B4-BE49-F238E27FC236}">
                <a16:creationId xmlns:a16="http://schemas.microsoft.com/office/drawing/2014/main" id="{9368D865-54F5-4D72-8B6E-610921294CD4}"/>
              </a:ext>
            </a:extLst>
          </p:cNvPr>
          <p:cNvCxnSpPr>
            <a:cxnSpLocks/>
          </p:cNvCxnSpPr>
          <p:nvPr userDrawn="1"/>
        </p:nvCxnSpPr>
        <p:spPr>
          <a:xfrm>
            <a:off x="384877" y="5373660"/>
            <a:ext cx="3576756"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E7BF8AB-70EF-4EAB-B727-33A3B31F5890}"/>
              </a:ext>
            </a:extLst>
          </p:cNvPr>
          <p:cNvCxnSpPr>
            <a:cxnSpLocks/>
          </p:cNvCxnSpPr>
          <p:nvPr userDrawn="1"/>
        </p:nvCxnSpPr>
        <p:spPr>
          <a:xfrm>
            <a:off x="4305241" y="5370448"/>
            <a:ext cx="3592422"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52905F1D-18EC-47A4-A67E-782768D9E09D}"/>
              </a:ext>
            </a:extLst>
          </p:cNvPr>
          <p:cNvSpPr>
            <a:spLocks noGrp="1"/>
          </p:cNvSpPr>
          <p:nvPr>
            <p:ph type="body" sz="quarter" idx="13"/>
          </p:nvPr>
        </p:nvSpPr>
        <p:spPr>
          <a:xfrm>
            <a:off x="8231478" y="4787648"/>
            <a:ext cx="3586709" cy="542103"/>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a:extLst>
              <a:ext uri="{FF2B5EF4-FFF2-40B4-BE49-F238E27FC236}">
                <a16:creationId xmlns:a16="http://schemas.microsoft.com/office/drawing/2014/main" id="{720D9848-0921-4B12-BDE4-F08E865E8592}"/>
              </a:ext>
            </a:extLst>
          </p:cNvPr>
          <p:cNvSpPr>
            <a:spLocks noGrp="1"/>
          </p:cNvSpPr>
          <p:nvPr>
            <p:ph sz="quarter" idx="14"/>
          </p:nvPr>
        </p:nvSpPr>
        <p:spPr>
          <a:xfrm>
            <a:off x="8231478" y="1010041"/>
            <a:ext cx="3586709" cy="3777608"/>
          </a:xfrm>
          <a:prstGeom prst="parallelogram">
            <a:avLst/>
          </a:prstGeom>
        </p:spPr>
        <p:txBody>
          <a:bodyPr/>
          <a:lstStyle/>
          <a:p>
            <a:pPr lvl="0"/>
            <a:r>
              <a:rPr lang="en-US"/>
              <a:t>Click to edit Master text styles</a:t>
            </a:r>
          </a:p>
          <a:p>
            <a:pPr lvl="1"/>
            <a:r>
              <a:rPr lang="en-US"/>
              <a:t>Second level</a:t>
            </a:r>
          </a:p>
          <a:p>
            <a:pPr lvl="2"/>
            <a:r>
              <a:rPr lang="en-US"/>
              <a:t>Third level</a:t>
            </a:r>
          </a:p>
        </p:txBody>
      </p:sp>
      <p:cxnSp>
        <p:nvCxnSpPr>
          <p:cNvPr id="14" name="Straight Connector 13">
            <a:extLst>
              <a:ext uri="{FF2B5EF4-FFF2-40B4-BE49-F238E27FC236}">
                <a16:creationId xmlns:a16="http://schemas.microsoft.com/office/drawing/2014/main" id="{38DD7937-E467-4FB2-BA44-BB56794EDDEC}"/>
              </a:ext>
            </a:extLst>
          </p:cNvPr>
          <p:cNvCxnSpPr>
            <a:cxnSpLocks/>
          </p:cNvCxnSpPr>
          <p:nvPr userDrawn="1"/>
        </p:nvCxnSpPr>
        <p:spPr>
          <a:xfrm>
            <a:off x="8229036" y="5370448"/>
            <a:ext cx="3594864"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4EF45764-B00A-4F3A-A34F-52BD817F610A}"/>
              </a:ext>
            </a:extLst>
          </p:cNvPr>
          <p:cNvSpPr>
            <a:spLocks noGrp="1"/>
          </p:cNvSpPr>
          <p:nvPr>
            <p:ph type="body" sz="quarter" idx="15" hasCustomPrompt="1"/>
          </p:nvPr>
        </p:nvSpPr>
        <p:spPr>
          <a:xfrm>
            <a:off x="384877" y="5426352"/>
            <a:ext cx="3577523" cy="627063"/>
          </a:xfrm>
        </p:spPr>
        <p:txBody>
          <a:bodyPr>
            <a:normAutofit/>
          </a:bodyPr>
          <a:lstStyle>
            <a:lvl1pPr marL="0" indent="0">
              <a:buNone/>
              <a:defRPr sz="1400"/>
            </a:lvl1pPr>
          </a:lstStyle>
          <a:p>
            <a:pPr lvl="0"/>
            <a:r>
              <a:rPr lang="en-US"/>
              <a:t>Click to insert caption text</a:t>
            </a:r>
          </a:p>
        </p:txBody>
      </p:sp>
      <p:sp>
        <p:nvSpPr>
          <p:cNvPr id="15" name="Text Placeholder 7">
            <a:extLst>
              <a:ext uri="{FF2B5EF4-FFF2-40B4-BE49-F238E27FC236}">
                <a16:creationId xmlns:a16="http://schemas.microsoft.com/office/drawing/2014/main" id="{9C618F45-B4FA-445C-8EED-4FAA28BBA367}"/>
              </a:ext>
            </a:extLst>
          </p:cNvPr>
          <p:cNvSpPr>
            <a:spLocks noGrp="1"/>
          </p:cNvSpPr>
          <p:nvPr>
            <p:ph type="body" sz="quarter" idx="16" hasCustomPrompt="1"/>
          </p:nvPr>
        </p:nvSpPr>
        <p:spPr>
          <a:xfrm>
            <a:off x="4305241" y="5421085"/>
            <a:ext cx="3577523" cy="627063"/>
          </a:xfrm>
        </p:spPr>
        <p:txBody>
          <a:bodyPr>
            <a:normAutofit/>
          </a:bodyPr>
          <a:lstStyle>
            <a:lvl1pPr marL="0" indent="0">
              <a:buNone/>
              <a:defRPr sz="1400"/>
            </a:lvl1pPr>
          </a:lstStyle>
          <a:p>
            <a:pPr lvl="0"/>
            <a:r>
              <a:rPr lang="en-US"/>
              <a:t>Click to insert caption text</a:t>
            </a:r>
          </a:p>
        </p:txBody>
      </p:sp>
      <p:sp>
        <p:nvSpPr>
          <p:cNvPr id="16" name="Text Placeholder 7">
            <a:extLst>
              <a:ext uri="{FF2B5EF4-FFF2-40B4-BE49-F238E27FC236}">
                <a16:creationId xmlns:a16="http://schemas.microsoft.com/office/drawing/2014/main" id="{DA971427-D38D-4BBC-9289-0A5895FBAC7A}"/>
              </a:ext>
            </a:extLst>
          </p:cNvPr>
          <p:cNvSpPr>
            <a:spLocks noGrp="1"/>
          </p:cNvSpPr>
          <p:nvPr>
            <p:ph type="body" sz="quarter" idx="17" hasCustomPrompt="1"/>
          </p:nvPr>
        </p:nvSpPr>
        <p:spPr>
          <a:xfrm>
            <a:off x="8229036" y="5426352"/>
            <a:ext cx="3577523" cy="627063"/>
          </a:xfrm>
        </p:spPr>
        <p:txBody>
          <a:bodyPr>
            <a:normAutofit/>
          </a:bodyPr>
          <a:lstStyle>
            <a:lvl1pPr marL="0" indent="0">
              <a:buNone/>
              <a:defRPr sz="1400"/>
            </a:lvl1pPr>
          </a:lstStyle>
          <a:p>
            <a:pPr lvl="0"/>
            <a:r>
              <a:rPr lang="en-US"/>
              <a:t>Click to insert caption text</a:t>
            </a:r>
          </a:p>
        </p:txBody>
      </p:sp>
    </p:spTree>
    <p:extLst>
      <p:ext uri="{BB962C8B-B14F-4D97-AF65-F5344CB8AC3E}">
        <p14:creationId xmlns:p14="http://schemas.microsoft.com/office/powerpoint/2010/main" val="4078703944"/>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1FC5D584-30B4-4599-A21C-6D9BF54A0CDD}"/>
              </a:ext>
            </a:extLst>
          </p:cNvPr>
          <p:cNvSpPr>
            <a:spLocks noGrp="1"/>
          </p:cNvSpPr>
          <p:nvPr>
            <p:ph type="sldNum" sz="quarter" idx="12"/>
          </p:nvPr>
        </p:nvSpPr>
        <p:spPr/>
        <p:txBody>
          <a:bodyPr/>
          <a:lstStyle/>
          <a:p>
            <a:fld id="{F58B522F-7218-4DD2-9A79-8098A090879F}" type="slidenum">
              <a:rPr lang="en-US" smtClean="0"/>
              <a:t>‹#›</a:t>
            </a:fld>
            <a:endParaRPr lang="en-US"/>
          </a:p>
        </p:txBody>
      </p:sp>
      <p:sp>
        <p:nvSpPr>
          <p:cNvPr id="6" name="Title 1">
            <a:extLst>
              <a:ext uri="{FF2B5EF4-FFF2-40B4-BE49-F238E27FC236}">
                <a16:creationId xmlns:a16="http://schemas.microsoft.com/office/drawing/2014/main" id="{06A65A23-EBBA-43D1-AE5D-82E4185BAC92}"/>
              </a:ext>
            </a:extLst>
          </p:cNvPr>
          <p:cNvSpPr>
            <a:spLocks noGrp="1"/>
          </p:cNvSpPr>
          <p:nvPr>
            <p:ph type="title"/>
          </p:nvPr>
        </p:nvSpPr>
        <p:spPr>
          <a:xfrm>
            <a:off x="388189" y="1628145"/>
            <a:ext cx="3918010" cy="1600200"/>
          </a:xfrm>
        </p:spPr>
        <p:txBody>
          <a:bodyPr anchor="b"/>
          <a:lstStyle>
            <a:lvl1pPr>
              <a:defRPr sz="3200"/>
            </a:lvl1pPr>
          </a:lstStyle>
          <a:p>
            <a:r>
              <a:rPr lang="en-US"/>
              <a:t>Click to edit Master title style</a:t>
            </a:r>
          </a:p>
        </p:txBody>
      </p:sp>
      <p:sp>
        <p:nvSpPr>
          <p:cNvPr id="8" name="Text Placeholder 3">
            <a:extLst>
              <a:ext uri="{FF2B5EF4-FFF2-40B4-BE49-F238E27FC236}">
                <a16:creationId xmlns:a16="http://schemas.microsoft.com/office/drawing/2014/main" id="{34B609ED-F263-4FE8-8E56-A6ABC579612C}"/>
              </a:ext>
            </a:extLst>
          </p:cNvPr>
          <p:cNvSpPr>
            <a:spLocks noGrp="1"/>
          </p:cNvSpPr>
          <p:nvPr>
            <p:ph type="body" sz="half" idx="2"/>
          </p:nvPr>
        </p:nvSpPr>
        <p:spPr>
          <a:xfrm>
            <a:off x="388189" y="3677478"/>
            <a:ext cx="3918010" cy="23782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9" name="Straight Connector 8">
            <a:extLst>
              <a:ext uri="{FF2B5EF4-FFF2-40B4-BE49-F238E27FC236}">
                <a16:creationId xmlns:a16="http://schemas.microsoft.com/office/drawing/2014/main" id="{D4B6DDB3-C82E-4697-ABEE-FBCB0E0B0AF8}"/>
              </a:ext>
            </a:extLst>
          </p:cNvPr>
          <p:cNvCxnSpPr/>
          <p:nvPr userDrawn="1"/>
        </p:nvCxnSpPr>
        <p:spPr>
          <a:xfrm>
            <a:off x="453475" y="3319671"/>
            <a:ext cx="1006264" cy="0"/>
          </a:xfrm>
          <a:prstGeom prst="line">
            <a:avLst/>
          </a:prstGeom>
          <a:ln w="57150">
            <a:gradFill flip="none" rotWithShape="1">
              <a:gsLst>
                <a:gs pos="24000">
                  <a:schemeClr val="tx2"/>
                </a:gs>
                <a:gs pos="91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FFCF009B-7DA6-4976-AF0A-E05AE5A4743A}"/>
              </a:ext>
            </a:extLst>
          </p:cNvPr>
          <p:cNvSpPr>
            <a:spLocks noGrp="1"/>
          </p:cNvSpPr>
          <p:nvPr>
            <p:ph sz="quarter" idx="13"/>
          </p:nvPr>
        </p:nvSpPr>
        <p:spPr>
          <a:xfrm>
            <a:off x="4880113" y="43102"/>
            <a:ext cx="7311887" cy="68148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2313186"/>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5B6BF2A-FB74-4DE5-B48B-5025A4A1E7FD}"/>
              </a:ext>
            </a:extLst>
          </p:cNvPr>
          <p:cNvSpPr>
            <a:spLocks noGrp="1"/>
          </p:cNvSpPr>
          <p:nvPr>
            <p:ph type="pic" idx="1"/>
          </p:nvPr>
        </p:nvSpPr>
        <p:spPr>
          <a:xfrm>
            <a:off x="4880113" y="43103"/>
            <a:ext cx="7311887" cy="68148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7" name="Slide Number Placeholder 6">
            <a:extLst>
              <a:ext uri="{FF2B5EF4-FFF2-40B4-BE49-F238E27FC236}">
                <a16:creationId xmlns:a16="http://schemas.microsoft.com/office/drawing/2014/main" id="{1FC5D584-30B4-4599-A21C-6D9BF54A0CDD}"/>
              </a:ext>
            </a:extLst>
          </p:cNvPr>
          <p:cNvSpPr>
            <a:spLocks noGrp="1"/>
          </p:cNvSpPr>
          <p:nvPr>
            <p:ph type="sldNum" sz="quarter" idx="12"/>
          </p:nvPr>
        </p:nvSpPr>
        <p:spPr/>
        <p:txBody>
          <a:bodyPr/>
          <a:lstStyle/>
          <a:p>
            <a:fld id="{F58B522F-7218-4DD2-9A79-8098A090879F}" type="slidenum">
              <a:rPr lang="en-US" smtClean="0"/>
              <a:t>‹#›</a:t>
            </a:fld>
            <a:endParaRPr lang="en-US"/>
          </a:p>
        </p:txBody>
      </p:sp>
      <p:sp>
        <p:nvSpPr>
          <p:cNvPr id="6" name="Title 1">
            <a:extLst>
              <a:ext uri="{FF2B5EF4-FFF2-40B4-BE49-F238E27FC236}">
                <a16:creationId xmlns:a16="http://schemas.microsoft.com/office/drawing/2014/main" id="{06A65A23-EBBA-43D1-AE5D-82E4185BAC92}"/>
              </a:ext>
            </a:extLst>
          </p:cNvPr>
          <p:cNvSpPr>
            <a:spLocks noGrp="1"/>
          </p:cNvSpPr>
          <p:nvPr>
            <p:ph type="title"/>
          </p:nvPr>
        </p:nvSpPr>
        <p:spPr>
          <a:xfrm>
            <a:off x="388189" y="1628145"/>
            <a:ext cx="3918010" cy="1600200"/>
          </a:xfrm>
        </p:spPr>
        <p:txBody>
          <a:bodyPr anchor="b"/>
          <a:lstStyle>
            <a:lvl1pPr>
              <a:defRPr sz="3200"/>
            </a:lvl1pPr>
          </a:lstStyle>
          <a:p>
            <a:r>
              <a:rPr lang="en-US"/>
              <a:t>Click to edit Master title style</a:t>
            </a:r>
          </a:p>
        </p:txBody>
      </p:sp>
      <p:sp>
        <p:nvSpPr>
          <p:cNvPr id="8" name="Text Placeholder 3">
            <a:extLst>
              <a:ext uri="{FF2B5EF4-FFF2-40B4-BE49-F238E27FC236}">
                <a16:creationId xmlns:a16="http://schemas.microsoft.com/office/drawing/2014/main" id="{34B609ED-F263-4FE8-8E56-A6ABC579612C}"/>
              </a:ext>
            </a:extLst>
          </p:cNvPr>
          <p:cNvSpPr>
            <a:spLocks noGrp="1"/>
          </p:cNvSpPr>
          <p:nvPr>
            <p:ph type="body" sz="half" idx="2"/>
          </p:nvPr>
        </p:nvSpPr>
        <p:spPr>
          <a:xfrm>
            <a:off x="388189" y="3677478"/>
            <a:ext cx="3918010" cy="23782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9" name="Straight Connector 8">
            <a:extLst>
              <a:ext uri="{FF2B5EF4-FFF2-40B4-BE49-F238E27FC236}">
                <a16:creationId xmlns:a16="http://schemas.microsoft.com/office/drawing/2014/main" id="{D4B6DDB3-C82E-4697-ABEE-FBCB0E0B0AF8}"/>
              </a:ext>
            </a:extLst>
          </p:cNvPr>
          <p:cNvCxnSpPr/>
          <p:nvPr userDrawn="1"/>
        </p:nvCxnSpPr>
        <p:spPr>
          <a:xfrm>
            <a:off x="453475" y="3319671"/>
            <a:ext cx="1006264" cy="0"/>
          </a:xfrm>
          <a:prstGeom prst="line">
            <a:avLst/>
          </a:prstGeom>
          <a:ln w="57150">
            <a:gradFill flip="none" rotWithShape="1">
              <a:gsLst>
                <a:gs pos="24000">
                  <a:schemeClr val="tx2"/>
                </a:gs>
                <a:gs pos="91000">
                  <a:schemeClr val="accent2"/>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1324285"/>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and Content with Subtitle">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30573" y="1421667"/>
            <a:ext cx="11051828" cy="350930"/>
          </a:xfrm>
          <a:prstGeom prst="rect">
            <a:avLst/>
          </a:prstGeom>
        </p:spPr>
        <p:txBody>
          <a:bodyPr wrap="square" anchor="t">
            <a:spAutoFit/>
          </a:bodyPr>
          <a:lstStyle>
            <a:lvl1pPr marL="0" indent="0">
              <a:buFontTx/>
              <a:buNone/>
              <a:defRPr sz="1867" b="0" i="0" cap="all" baseline="0">
                <a:solidFill>
                  <a:schemeClr val="accent5"/>
                </a:solidFill>
                <a:latin typeface="+mn-lt"/>
                <a:cs typeface="Trebuchet MS"/>
              </a:defRPr>
            </a:lvl1pPr>
          </a:lstStyle>
          <a:p>
            <a:pPr lvl="0"/>
            <a:r>
              <a:rPr lang="en-US"/>
              <a:t>Click to edit Master text styles</a:t>
            </a:r>
          </a:p>
        </p:txBody>
      </p:sp>
      <p:sp>
        <p:nvSpPr>
          <p:cNvPr id="10" name="Text Placeholder 2"/>
          <p:cNvSpPr>
            <a:spLocks noGrp="1"/>
          </p:cNvSpPr>
          <p:nvPr>
            <p:ph idx="1"/>
          </p:nvPr>
        </p:nvSpPr>
        <p:spPr>
          <a:xfrm>
            <a:off x="530574" y="1901668"/>
            <a:ext cx="11257145" cy="4108267"/>
          </a:xfrm>
          <a:prstGeom prst="rect">
            <a:avLst/>
          </a:prstGeom>
        </p:spPr>
        <p:txBody>
          <a:bodyPr vert="horz" lIns="68580" tIns="34290" rIns="68580" bIns="34290" rtlCol="0">
            <a:normAutofit/>
          </a:bodyPr>
          <a:lstStyle>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 </a:t>
            </a:r>
            <a:endParaRPr lang="en-GB"/>
          </a:p>
        </p:txBody>
      </p:sp>
      <p:sp>
        <p:nvSpPr>
          <p:cNvPr id="3" name="Title 2"/>
          <p:cNvSpPr>
            <a:spLocks noGrp="1"/>
          </p:cNvSpPr>
          <p:nvPr>
            <p:ph type="title"/>
          </p:nvPr>
        </p:nvSpPr>
        <p:spPr/>
        <p:txBody>
          <a:bodyPr/>
          <a:lstStyle/>
          <a:p>
            <a:r>
              <a:rPr lang="en-US"/>
              <a:t>Click to edit Master title style</a:t>
            </a:r>
          </a:p>
        </p:txBody>
      </p:sp>
      <p:sp>
        <p:nvSpPr>
          <p:cNvPr id="2" name="Slide Number Placeholder 1"/>
          <p:cNvSpPr>
            <a:spLocks noGrp="1"/>
          </p:cNvSpPr>
          <p:nvPr>
            <p:ph type="sldNum" sz="quarter" idx="11"/>
          </p:nvPr>
        </p:nvSpPr>
        <p:spPr/>
        <p:txBody>
          <a:bodyPr/>
          <a:lstStyle/>
          <a:p>
            <a:fld id="{92D2F243-6337-4E3B-AC27-21132E4B3D63}" type="slidenum">
              <a:rPr lang="en-US" smtClean="0">
                <a:solidFill>
                  <a:srgbClr val="3D86C6"/>
                </a:solidFill>
              </a:rPr>
              <a:pPr/>
              <a:t>‹#›</a:t>
            </a:fld>
            <a:endParaRPr lang="en-US">
              <a:solidFill>
                <a:srgbClr val="3D86C6"/>
              </a:solidFill>
            </a:endParaRPr>
          </a:p>
        </p:txBody>
      </p:sp>
    </p:spTree>
    <p:extLst>
      <p:ext uri="{BB962C8B-B14F-4D97-AF65-F5344CB8AC3E}">
        <p14:creationId xmlns:p14="http://schemas.microsoft.com/office/powerpoint/2010/main" val="969009164"/>
      </p:ext>
    </p:extLst>
  </p:cSld>
  <p:clrMapOvr>
    <a:masterClrMapping/>
  </p:clrMapOvr>
  <p:transition spd="slow">
    <p:wipe/>
  </p:transition>
  <p:extLst>
    <p:ext uri="{DCECCB84-F9BA-43D5-87BE-67443E8EF086}">
      <p15:sldGuideLst xmlns:p15="http://schemas.microsoft.com/office/powerpoint/2012/main">
        <p15:guide id="1" orient="horz" pos="9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Industry Title (Dark)">
    <p:bg>
      <p:bgPr>
        <a:solidFill>
          <a:srgbClr val="0F1C3F"/>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E0217BE-9DB9-4F13-BC38-60D98EFFEB82}"/>
              </a:ext>
            </a:extLst>
          </p:cNvPr>
          <p:cNvSpPr>
            <a:spLocks noGrp="1"/>
          </p:cNvSpPr>
          <p:nvPr>
            <p:ph type="body" sz="quarter" idx="11"/>
          </p:nvPr>
        </p:nvSpPr>
        <p:spPr>
          <a:xfrm>
            <a:off x="685800" y="1049927"/>
            <a:ext cx="6944770" cy="470898"/>
          </a:xfrm>
        </p:spPr>
        <p:txBody>
          <a:bodyPr lIns="0" tIns="0" rIns="0" bIns="0">
            <a:spAutoFit/>
          </a:bodyPr>
          <a:lstStyle>
            <a:lvl1pPr marL="0" indent="0">
              <a:buFont typeface="Arial" panose="020B0604020202020204" pitchFamily="34" charset="0"/>
              <a:buNone/>
              <a:defRPr sz="3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2" name="Text Placeholder 10">
            <a:extLst>
              <a:ext uri="{FF2B5EF4-FFF2-40B4-BE49-F238E27FC236}">
                <a16:creationId xmlns:a16="http://schemas.microsoft.com/office/drawing/2014/main" id="{9EE11E76-0911-42FF-8A23-680EC5AFBFD7}"/>
              </a:ext>
            </a:extLst>
          </p:cNvPr>
          <p:cNvSpPr>
            <a:spLocks noGrp="1"/>
          </p:cNvSpPr>
          <p:nvPr>
            <p:ph type="body" sz="quarter" idx="12"/>
          </p:nvPr>
        </p:nvSpPr>
        <p:spPr>
          <a:xfrm>
            <a:off x="685800" y="1992361"/>
            <a:ext cx="6944770" cy="360099"/>
          </a:xfrm>
        </p:spPr>
        <p:txBody>
          <a:bodyPr lIns="0" tIns="0" rIns="0" bIns="0">
            <a:noAutofit/>
          </a:bodyPr>
          <a:lstStyle>
            <a:lvl1pPr marL="0" indent="0">
              <a:buFont typeface="Arial" panose="020B0604020202020204" pitchFamily="34" charset="0"/>
              <a:buNone/>
              <a:defRPr sz="1400" b="1">
                <a:solidFill>
                  <a:schemeClr val="accent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13" name="Text Placeholder 10">
            <a:extLst>
              <a:ext uri="{FF2B5EF4-FFF2-40B4-BE49-F238E27FC236}">
                <a16:creationId xmlns:a16="http://schemas.microsoft.com/office/drawing/2014/main" id="{3B62F460-3DE3-41B2-922D-63D22B2076FB}"/>
              </a:ext>
            </a:extLst>
          </p:cNvPr>
          <p:cNvSpPr>
            <a:spLocks noGrp="1"/>
          </p:cNvSpPr>
          <p:nvPr>
            <p:ph type="body" sz="quarter" idx="13"/>
          </p:nvPr>
        </p:nvSpPr>
        <p:spPr>
          <a:xfrm>
            <a:off x="685800" y="2546852"/>
            <a:ext cx="6944770" cy="554288"/>
          </a:xfrm>
        </p:spPr>
        <p:txBody>
          <a:bodyPr lIns="0" tIns="0" rIns="0" bIns="0">
            <a:noAutofit/>
          </a:bodyPr>
          <a:lstStyle>
            <a:lvl1pPr marL="0" indent="0">
              <a:buFont typeface="Arial" panose="020B0604020202020204" pitchFamily="34" charset="0"/>
              <a:buNone/>
              <a:defRPr sz="1000" b="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9" name="Rectangle 8">
            <a:extLst>
              <a:ext uri="{FF2B5EF4-FFF2-40B4-BE49-F238E27FC236}">
                <a16:creationId xmlns:a16="http://schemas.microsoft.com/office/drawing/2014/main" id="{8EF5BE14-238B-435B-8E7B-8E976D1A1F61}"/>
              </a:ext>
            </a:extLst>
          </p:cNvPr>
          <p:cNvSpPr/>
          <p:nvPr userDrawn="1"/>
        </p:nvSpPr>
        <p:spPr>
          <a:xfrm>
            <a:off x="685800" y="1715217"/>
            <a:ext cx="548640" cy="73152"/>
          </a:xfrm>
          <a:prstGeom prst="rect">
            <a:avLst/>
          </a:prstGeom>
          <a:gradFill flip="none" rotWithShape="1">
            <a:gsLst>
              <a:gs pos="15000">
                <a:schemeClr val="bg2"/>
              </a:gs>
              <a:gs pos="85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0" name="Slide Number Placeholder 5">
            <a:extLst>
              <a:ext uri="{FF2B5EF4-FFF2-40B4-BE49-F238E27FC236}">
                <a16:creationId xmlns:a16="http://schemas.microsoft.com/office/drawing/2014/main" id="{FE224326-90FF-48A2-A312-1AFA50171344}"/>
              </a:ext>
            </a:extLst>
          </p:cNvPr>
          <p:cNvSpPr>
            <a:spLocks noGrp="1"/>
          </p:cNvSpPr>
          <p:nvPr>
            <p:ph type="sldNum" sz="quarter" idx="4"/>
          </p:nvPr>
        </p:nvSpPr>
        <p:spPr>
          <a:xfrm>
            <a:off x="11443063" y="6461763"/>
            <a:ext cx="377463" cy="272999"/>
          </a:xfrm>
          <a:prstGeom prst="rect">
            <a:avLst/>
          </a:prstGeom>
        </p:spPr>
        <p:txBody>
          <a:bodyPr vert="horz" lIns="0" tIns="0" rIns="0" bIns="0" rtlCol="0" anchor="ctr" anchorCtr="0"/>
          <a:lstStyle>
            <a:lvl1pPr algn="r">
              <a:defRPr sz="1000">
                <a:solidFill>
                  <a:schemeClr val="bg1"/>
                </a:solidFill>
              </a:defRPr>
            </a:lvl1pPr>
          </a:lstStyle>
          <a:p>
            <a:fld id="{F58B522F-7218-4DD2-9A79-8098A090879F}" type="slidenum">
              <a:rPr lang="en-US" smtClean="0"/>
              <a:pPr/>
              <a:t>‹#›</a:t>
            </a:fld>
            <a:endParaRPr lang="en-US"/>
          </a:p>
        </p:txBody>
      </p:sp>
    </p:spTree>
    <p:extLst>
      <p:ext uri="{BB962C8B-B14F-4D97-AF65-F5344CB8AC3E}">
        <p14:creationId xmlns:p14="http://schemas.microsoft.com/office/powerpoint/2010/main" val="1287629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Content slide, only headline">
    <p:spTree>
      <p:nvGrpSpPr>
        <p:cNvPr id="1" name=""/>
        <p:cNvGrpSpPr/>
        <p:nvPr/>
      </p:nvGrpSpPr>
      <p:grpSpPr>
        <a:xfrm>
          <a:off x="0" y="0"/>
          <a:ext cx="0" cy="0"/>
          <a:chOff x="0" y="0"/>
          <a:chExt cx="0" cy="0"/>
        </a:xfrm>
      </p:grpSpPr>
      <p:sp>
        <p:nvSpPr>
          <p:cNvPr id="3" name="Text Placeholder 21">
            <a:extLst>
              <a:ext uri="{FF2B5EF4-FFF2-40B4-BE49-F238E27FC236}">
                <a16:creationId xmlns:a16="http://schemas.microsoft.com/office/drawing/2014/main" id="{56C9242E-01AB-451A-98D7-8F391C6A6F46}"/>
              </a:ext>
            </a:extLst>
          </p:cNvPr>
          <p:cNvSpPr>
            <a:spLocks noGrp="1"/>
          </p:cNvSpPr>
          <p:nvPr>
            <p:ph type="body" sz="quarter" idx="14"/>
          </p:nvPr>
        </p:nvSpPr>
        <p:spPr>
          <a:xfrm>
            <a:off x="368300" y="321635"/>
            <a:ext cx="11329987" cy="332399"/>
          </a:xfrm>
        </p:spPr>
        <p:txBody>
          <a:bodyPr lIns="0" tIns="0" rIns="0" bIns="0" anchor="ctr">
            <a:spAutoFit/>
          </a:bodyPr>
          <a:lstStyle>
            <a:lvl1pPr marL="0" indent="0">
              <a:buFont typeface="Arial" panose="020B0604020202020204" pitchFamily="34" charset="0"/>
              <a:buNone/>
              <a:defRPr sz="2400" b="1">
                <a:solidFill>
                  <a:schemeClr val="tx1"/>
                </a:solidFill>
                <a:latin typeface="Avenir Next LT Pro Demi" panose="020B0704020202020204" pitchFamily="34" charset="0"/>
              </a:defRPr>
            </a:lvl1pPr>
          </a:lstStyle>
          <a:p>
            <a:pPr lvl="0"/>
            <a:r>
              <a:rPr lang="en-US"/>
              <a:t>Click to edit Master text styles</a:t>
            </a:r>
          </a:p>
        </p:txBody>
      </p:sp>
      <p:sp>
        <p:nvSpPr>
          <p:cNvPr id="8" name="Slide Number Placeholder 5">
            <a:extLst>
              <a:ext uri="{FF2B5EF4-FFF2-40B4-BE49-F238E27FC236}">
                <a16:creationId xmlns:a16="http://schemas.microsoft.com/office/drawing/2014/main" id="{8DC0ECD5-A81D-4BEB-A4B5-E7575D088CFD}"/>
              </a:ext>
            </a:extLst>
          </p:cNvPr>
          <p:cNvSpPr>
            <a:spLocks noGrp="1"/>
          </p:cNvSpPr>
          <p:nvPr>
            <p:ph type="sldNum" sz="quarter" idx="4"/>
          </p:nvPr>
        </p:nvSpPr>
        <p:spPr>
          <a:xfrm>
            <a:off x="11443063" y="6461763"/>
            <a:ext cx="377463" cy="272999"/>
          </a:xfrm>
          <a:prstGeom prst="rect">
            <a:avLst/>
          </a:prstGeom>
        </p:spPr>
        <p:txBody>
          <a:bodyPr vert="horz" lIns="0" tIns="0" rIns="0" bIns="0" rtlCol="0" anchor="ctr" anchorCtr="0"/>
          <a:lstStyle>
            <a:lvl1pPr algn="r">
              <a:defRPr sz="1000">
                <a:solidFill>
                  <a:schemeClr val="tx1">
                    <a:tint val="75000"/>
                  </a:schemeClr>
                </a:solidFill>
              </a:defRPr>
            </a:lvl1pPr>
          </a:lstStyle>
          <a:p>
            <a:fld id="{F58B522F-7218-4DD2-9A79-8098A090879F}" type="slidenum">
              <a:rPr lang="en-US" smtClean="0"/>
              <a:pPr/>
              <a:t>‹#›</a:t>
            </a:fld>
            <a:endParaRPr lang="en-US"/>
          </a:p>
        </p:txBody>
      </p:sp>
    </p:spTree>
    <p:extLst>
      <p:ext uri="{BB962C8B-B14F-4D97-AF65-F5344CB8AC3E}">
        <p14:creationId xmlns:p14="http://schemas.microsoft.com/office/powerpoint/2010/main" val="3743098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B900C83-2345-4E99-9864-3D8A55A07DFA}"/>
              </a:ext>
            </a:extLst>
          </p:cNvPr>
          <p:cNvGrpSpPr/>
          <p:nvPr userDrawn="1"/>
        </p:nvGrpSpPr>
        <p:grpSpPr>
          <a:xfrm>
            <a:off x="34563" y="0"/>
            <a:ext cx="12148811" cy="6858000"/>
            <a:chOff x="34563" y="0"/>
            <a:chExt cx="12148811" cy="6858000"/>
          </a:xfrm>
        </p:grpSpPr>
        <p:pic>
          <p:nvPicPr>
            <p:cNvPr id="5" name="Picture 4">
              <a:extLst>
                <a:ext uri="{FF2B5EF4-FFF2-40B4-BE49-F238E27FC236}">
                  <a16:creationId xmlns:a16="http://schemas.microsoft.com/office/drawing/2014/main" id="{1C22BF39-B17F-4C9A-BD87-904F194464B0}"/>
                </a:ext>
              </a:extLst>
            </p:cNvPr>
            <p:cNvPicPr>
              <a:picLocks noChangeAspect="1"/>
            </p:cNvPicPr>
            <p:nvPr userDrawn="1"/>
          </p:nvPicPr>
          <p:blipFill>
            <a:blip r:embed="rId22"/>
            <a:stretch>
              <a:fillRect/>
            </a:stretch>
          </p:blipFill>
          <p:spPr>
            <a:xfrm>
              <a:off x="34563" y="0"/>
              <a:ext cx="6858000" cy="6858000"/>
            </a:xfrm>
            <a:prstGeom prst="rect">
              <a:avLst/>
            </a:prstGeom>
          </p:spPr>
        </p:pic>
        <p:pic>
          <p:nvPicPr>
            <p:cNvPr id="8" name="Picture 7">
              <a:extLst>
                <a:ext uri="{FF2B5EF4-FFF2-40B4-BE49-F238E27FC236}">
                  <a16:creationId xmlns:a16="http://schemas.microsoft.com/office/drawing/2014/main" id="{928E34AE-1A68-478C-A596-5E82FF40CBC4}"/>
                </a:ext>
              </a:extLst>
            </p:cNvPr>
            <p:cNvPicPr>
              <a:picLocks noChangeAspect="1"/>
            </p:cNvPicPr>
            <p:nvPr userDrawn="1"/>
          </p:nvPicPr>
          <p:blipFill>
            <a:blip r:embed="rId23"/>
            <a:stretch>
              <a:fillRect/>
            </a:stretch>
          </p:blipFill>
          <p:spPr>
            <a:xfrm>
              <a:off x="5325374" y="0"/>
              <a:ext cx="6858000" cy="6858000"/>
            </a:xfrm>
            <a:prstGeom prst="rect">
              <a:avLst/>
            </a:prstGeom>
          </p:spPr>
        </p:pic>
      </p:grpSp>
      <p:cxnSp>
        <p:nvCxnSpPr>
          <p:cNvPr id="90" name="Straight Connector 89">
            <a:extLst>
              <a:ext uri="{FF2B5EF4-FFF2-40B4-BE49-F238E27FC236}">
                <a16:creationId xmlns:a16="http://schemas.microsoft.com/office/drawing/2014/main" id="{FDC06C08-0FB1-4EE3-9973-861931D2D242}"/>
              </a:ext>
            </a:extLst>
          </p:cNvPr>
          <p:cNvCxnSpPr>
            <a:cxnSpLocks/>
          </p:cNvCxnSpPr>
          <p:nvPr userDrawn="1"/>
        </p:nvCxnSpPr>
        <p:spPr>
          <a:xfrm flipH="1">
            <a:off x="773084" y="6349368"/>
            <a:ext cx="11035579" cy="0"/>
          </a:xfrm>
          <a:prstGeom prst="line">
            <a:avLst/>
          </a:prstGeom>
          <a:ln w="9525">
            <a:gradFill flip="none" rotWithShape="1">
              <a:gsLst>
                <a:gs pos="0">
                  <a:schemeClr val="accent1"/>
                </a:gs>
                <a:gs pos="61000">
                  <a:schemeClr val="accent3"/>
                </a:gs>
                <a:gs pos="34000">
                  <a:schemeClr val="accent2"/>
                </a:gs>
                <a:gs pos="100000">
                  <a:schemeClr val="accent5"/>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91" name="Rectangle 90">
            <a:extLst>
              <a:ext uri="{FF2B5EF4-FFF2-40B4-BE49-F238E27FC236}">
                <a16:creationId xmlns:a16="http://schemas.microsoft.com/office/drawing/2014/main" id="{CE883B35-5A34-4F7B-A305-D99232981DB9}"/>
              </a:ext>
            </a:extLst>
          </p:cNvPr>
          <p:cNvSpPr/>
          <p:nvPr userDrawn="1"/>
        </p:nvSpPr>
        <p:spPr>
          <a:xfrm rot="5400000">
            <a:off x="6073140" y="-6079586"/>
            <a:ext cx="45719" cy="12192000"/>
          </a:xfrm>
          <a:prstGeom prst="rect">
            <a:avLst/>
          </a:prstGeom>
          <a:gradFill flip="none" rotWithShape="1">
            <a:gsLst>
              <a:gs pos="0">
                <a:schemeClr val="tx2"/>
              </a:gs>
              <a:gs pos="19000">
                <a:schemeClr val="accent5"/>
              </a:gs>
              <a:gs pos="100000">
                <a:schemeClr val="accent3"/>
              </a:gs>
              <a:gs pos="31000">
                <a:schemeClr val="accent2"/>
              </a:gs>
              <a:gs pos="96000">
                <a:srgbClr val="156EB7"/>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FD2DFD60-48B5-4E06-BBF4-394DD7B7E415}"/>
              </a:ext>
            </a:extLst>
          </p:cNvPr>
          <p:cNvSpPr>
            <a:spLocks noGrp="1"/>
          </p:cNvSpPr>
          <p:nvPr>
            <p:ph type="title"/>
          </p:nvPr>
        </p:nvSpPr>
        <p:spPr>
          <a:xfrm>
            <a:off x="388189" y="365125"/>
            <a:ext cx="11430000" cy="514769"/>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a:extLst>
              <a:ext uri="{FF2B5EF4-FFF2-40B4-BE49-F238E27FC236}">
                <a16:creationId xmlns:a16="http://schemas.microsoft.com/office/drawing/2014/main" id="{6596D940-3859-4164-BAF9-76D34C216577}"/>
              </a:ext>
            </a:extLst>
          </p:cNvPr>
          <p:cNvSpPr>
            <a:spLocks noGrp="1"/>
          </p:cNvSpPr>
          <p:nvPr>
            <p:ph type="body" idx="1"/>
          </p:nvPr>
        </p:nvSpPr>
        <p:spPr>
          <a:xfrm>
            <a:off x="388189" y="1009291"/>
            <a:ext cx="11429999" cy="51676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18E91712-28F5-40B4-831E-09511448ABEF}"/>
              </a:ext>
            </a:extLst>
          </p:cNvPr>
          <p:cNvSpPr>
            <a:spLocks noGrp="1"/>
          </p:cNvSpPr>
          <p:nvPr>
            <p:ph type="sldNum" sz="quarter" idx="4"/>
          </p:nvPr>
        </p:nvSpPr>
        <p:spPr>
          <a:xfrm>
            <a:off x="11430000" y="6356350"/>
            <a:ext cx="388187"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F58B522F-7218-4DD2-9A79-8098A090879F}" type="slidenum">
              <a:rPr lang="en-US" smtClean="0"/>
              <a:pPr/>
              <a:t>‹#›</a:t>
            </a:fld>
            <a:endParaRPr lang="en-US"/>
          </a:p>
        </p:txBody>
      </p:sp>
    </p:spTree>
    <p:extLst>
      <p:ext uri="{BB962C8B-B14F-4D97-AF65-F5344CB8AC3E}">
        <p14:creationId xmlns:p14="http://schemas.microsoft.com/office/powerpoint/2010/main" val="41488973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81" r:id="rId19"/>
    <p:sldLayoutId id="2147483682" r:id="rId20"/>
  </p:sldLayoutIdLst>
  <p:transition spd="slow">
    <p:wipe/>
  </p:transition>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151" Type="http://schemas.openxmlformats.org/officeDocument/2006/relationships/notesSlide" Target="../notesSlides/notesSlide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000D6D3-F9A6-4F53-9F47-15EF7E0650E1}"/>
              </a:ext>
            </a:extLst>
          </p:cNvPr>
          <p:cNvSpPr>
            <a:spLocks noGrp="1"/>
          </p:cNvSpPr>
          <p:nvPr>
            <p:ph type="ctrTitle"/>
          </p:nvPr>
        </p:nvSpPr>
        <p:spPr/>
        <p:txBody>
          <a:bodyPr/>
          <a:lstStyle/>
          <a:p>
            <a:r>
              <a:rPr lang="en-US" sz="3600" b="1">
                <a:latin typeface="Avenir Next LT Pro" panose="020B0504020202020204" pitchFamily="34" charset="0"/>
              </a:rPr>
              <a:t>AI QA Detective</a:t>
            </a:r>
          </a:p>
        </p:txBody>
      </p:sp>
      <p:sp>
        <p:nvSpPr>
          <p:cNvPr id="11" name="Freeform: Shape 10">
            <a:extLst>
              <a:ext uri="{FF2B5EF4-FFF2-40B4-BE49-F238E27FC236}">
                <a16:creationId xmlns:a16="http://schemas.microsoft.com/office/drawing/2014/main" id="{11051343-1A6F-483E-A908-F5BD0F72B6FF}"/>
              </a:ext>
            </a:extLst>
          </p:cNvPr>
          <p:cNvSpPr>
            <a:spLocks/>
          </p:cNvSpPr>
          <p:nvPr/>
        </p:nvSpPr>
        <p:spPr>
          <a:xfrm>
            <a:off x="7184286" y="2519091"/>
            <a:ext cx="5007714" cy="4338909"/>
          </a:xfrm>
          <a:custGeom>
            <a:avLst/>
            <a:gdLst>
              <a:gd name="connsiteX0" fmla="*/ 3472095 w 4171109"/>
              <a:gd name="connsiteY0" fmla="*/ 2414436 h 3614036"/>
              <a:gd name="connsiteX1" fmla="*/ 4171109 w 4171109"/>
              <a:gd name="connsiteY1" fmla="*/ 3614036 h 3614036"/>
              <a:gd name="connsiteX2" fmla="*/ 3256424 w 4171109"/>
              <a:gd name="connsiteY2" fmla="*/ 3614036 h 3614036"/>
              <a:gd name="connsiteX3" fmla="*/ 3008009 w 4171109"/>
              <a:gd name="connsiteY3" fmla="*/ 3218256 h 3614036"/>
              <a:gd name="connsiteX4" fmla="*/ 2918121 w 4171109"/>
              <a:gd name="connsiteY4" fmla="*/ 1473308 h 3614036"/>
              <a:gd name="connsiteX5" fmla="*/ 3445819 w 4171109"/>
              <a:gd name="connsiteY5" fmla="*/ 2368509 h 3614036"/>
              <a:gd name="connsiteX6" fmla="*/ 3010550 w 4171109"/>
              <a:gd name="connsiteY6" fmla="*/ 3122418 h 3614036"/>
              <a:gd name="connsiteX7" fmla="*/ 3096622 w 4171109"/>
              <a:gd name="connsiteY7" fmla="*/ 2969795 h 3614036"/>
              <a:gd name="connsiteX8" fmla="*/ 2721835 w 4171109"/>
              <a:gd name="connsiteY8" fmla="*/ 3614036 h 3614036"/>
              <a:gd name="connsiteX9" fmla="*/ 1684244 w 4171109"/>
              <a:gd name="connsiteY9" fmla="*/ 3614036 h 3614036"/>
              <a:gd name="connsiteX10" fmla="*/ 2423342 w 4171109"/>
              <a:gd name="connsiteY10" fmla="*/ 2326299 h 3614036"/>
              <a:gd name="connsiteX11" fmla="*/ 2425070 w 4171109"/>
              <a:gd name="connsiteY11" fmla="*/ 2327297 h 3614036"/>
              <a:gd name="connsiteX12" fmla="*/ 2568789 w 4171109"/>
              <a:gd name="connsiteY12" fmla="*/ 872137 h 3614036"/>
              <a:gd name="connsiteX13" fmla="*/ 2890655 w 4171109"/>
              <a:gd name="connsiteY13" fmla="*/ 1429442 h 3614036"/>
              <a:gd name="connsiteX14" fmla="*/ 2408822 w 4171109"/>
              <a:gd name="connsiteY14" fmla="*/ 2264002 h 3614036"/>
              <a:gd name="connsiteX15" fmla="*/ 2078504 w 4171109"/>
              <a:gd name="connsiteY15" fmla="*/ 1721336 h 3614036"/>
              <a:gd name="connsiteX16" fmla="*/ 2069712 w 4171109"/>
              <a:gd name="connsiteY16" fmla="*/ 0 h 3614036"/>
              <a:gd name="connsiteX17" fmla="*/ 2545970 w 4171109"/>
              <a:gd name="connsiteY17" fmla="*/ 820222 h 3614036"/>
              <a:gd name="connsiteX18" fmla="*/ 2038150 w 4171109"/>
              <a:gd name="connsiteY18" fmla="*/ 1699793 h 3614036"/>
              <a:gd name="connsiteX19" fmla="*/ 2041058 w 4171109"/>
              <a:gd name="connsiteY19" fmla="*/ 1701472 h 3614036"/>
              <a:gd name="connsiteX20" fmla="*/ 935698 w 4171109"/>
              <a:gd name="connsiteY20" fmla="*/ 3614036 h 3614036"/>
              <a:gd name="connsiteX21" fmla="*/ 0 w 4171109"/>
              <a:gd name="connsiteY21" fmla="*/ 3614036 h 3614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4171109" h="3614036">
                <a:moveTo>
                  <a:pt x="3472095" y="2414436"/>
                </a:moveTo>
                <a:lnTo>
                  <a:pt x="4171109" y="3614036"/>
                </a:lnTo>
                <a:lnTo>
                  <a:pt x="3256424" y="3614036"/>
                </a:lnTo>
                <a:lnTo>
                  <a:pt x="3008009" y="3218256"/>
                </a:lnTo>
                <a:close/>
                <a:moveTo>
                  <a:pt x="2918121" y="1473308"/>
                </a:moveTo>
                <a:lnTo>
                  <a:pt x="3445819" y="2368509"/>
                </a:lnTo>
                <a:lnTo>
                  <a:pt x="3010550" y="3122418"/>
                </a:lnTo>
                <a:lnTo>
                  <a:pt x="3096622" y="2969795"/>
                </a:lnTo>
                <a:lnTo>
                  <a:pt x="2721835" y="3614036"/>
                </a:lnTo>
                <a:lnTo>
                  <a:pt x="1684244" y="3614036"/>
                </a:lnTo>
                <a:lnTo>
                  <a:pt x="2423342" y="2326299"/>
                </a:lnTo>
                <a:lnTo>
                  <a:pt x="2425070" y="2327297"/>
                </a:lnTo>
                <a:close/>
                <a:moveTo>
                  <a:pt x="2568789" y="872137"/>
                </a:moveTo>
                <a:lnTo>
                  <a:pt x="2890655" y="1429442"/>
                </a:lnTo>
                <a:lnTo>
                  <a:pt x="2408822" y="2264002"/>
                </a:lnTo>
                <a:lnTo>
                  <a:pt x="2078504" y="1721336"/>
                </a:lnTo>
                <a:close/>
                <a:moveTo>
                  <a:pt x="2069712" y="0"/>
                </a:moveTo>
                <a:lnTo>
                  <a:pt x="2545970" y="820222"/>
                </a:lnTo>
                <a:lnTo>
                  <a:pt x="2038150" y="1699793"/>
                </a:lnTo>
                <a:lnTo>
                  <a:pt x="2041058" y="1701472"/>
                </a:lnTo>
                <a:lnTo>
                  <a:pt x="935698" y="3614036"/>
                </a:lnTo>
                <a:lnTo>
                  <a:pt x="0" y="3614036"/>
                </a:lnTo>
                <a:close/>
              </a:path>
            </a:pathLst>
          </a:custGeom>
          <a:blipFill>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panose="020B0504020202020204" pitchFamily="34" charset="0"/>
            </a:endParaRPr>
          </a:p>
        </p:txBody>
      </p:sp>
      <p:sp>
        <p:nvSpPr>
          <p:cNvPr id="3" name="Subtitle 2">
            <a:extLst>
              <a:ext uri="{FF2B5EF4-FFF2-40B4-BE49-F238E27FC236}">
                <a16:creationId xmlns:a16="http://schemas.microsoft.com/office/drawing/2014/main" id="{AC924DF7-2B13-41B9-9042-279905C3FC11}"/>
              </a:ext>
            </a:extLst>
          </p:cNvPr>
          <p:cNvSpPr>
            <a:spLocks noGrp="1"/>
          </p:cNvSpPr>
          <p:nvPr>
            <p:ph type="subTitle" idx="1"/>
          </p:nvPr>
        </p:nvSpPr>
        <p:spPr/>
        <p:txBody>
          <a:bodyPr>
            <a:normAutofit/>
          </a:bodyPr>
          <a:lstStyle/>
          <a:p>
            <a:r>
              <a:rPr lang="en-US" b="1" dirty="0">
                <a:latin typeface="Avenir Next LT Pro" panose="020B0504020202020204" pitchFamily="34" charset="0"/>
              </a:rPr>
              <a:t>Your AI Senior QA Engineer for Failed Tests</a:t>
            </a:r>
          </a:p>
        </p:txBody>
      </p:sp>
    </p:spTree>
    <p:extLst>
      <p:ext uri="{BB962C8B-B14F-4D97-AF65-F5344CB8AC3E}">
        <p14:creationId xmlns:p14="http://schemas.microsoft.com/office/powerpoint/2010/main" val="98076585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body" sz="quarter" idx="14"/>
          </p:nvPr>
        </p:nvSpPr>
        <p:spPr/>
        <p:txBody>
          <a:bodyPr/>
          <a:lstStyle/>
          <a:p>
            <a:r>
              <a:rPr lang="en-US" dirty="0"/>
              <a:t>Agenda</a:t>
            </a:r>
          </a:p>
        </p:txBody>
      </p:sp>
      <p:sp>
        <p:nvSpPr>
          <p:cNvPr id="3" name="Slide Number Placeholder"/>
          <p:cNvSpPr>
            <a:spLocks noGrp="1"/>
          </p:cNvSpPr>
          <p:nvPr>
            <p:ph type="sldNum" sz="quarter" idx="4"/>
          </p:nvPr>
        </p:nvSpPr>
        <p:spPr/>
        <p:txBody>
          <a:bodyPr/>
          <a:lstStyle/>
          <a:p>
            <a:fld id="{F58B522F-7218-4DD2-9A79-8098A090879F}" type="slidenum">
              <a:rPr lang="en-US" smtClean="0"/>
              <a:pPr/>
              <a:t>2</a:t>
            </a:fld>
            <a:endParaRPr lang="en-US"/>
          </a:p>
        </p:txBody>
      </p:sp>
      <p:sp>
        <p:nvSpPr>
          <p:cNvPr id="401" name="Shape"/>
          <p:cNvSpPr/>
          <p:nvPr/>
        </p:nvSpPr>
        <p:spPr>
          <a:xfrm>
            <a:off x="460000" y="1150000"/>
            <a:ext cx="5450000" cy="7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02" name="Shape"/>
          <p:cNvSpPr/>
          <p:nvPr/>
        </p:nvSpPr>
        <p:spPr>
          <a:xfrm>
            <a:off x="640000" y="1290000"/>
            <a:ext cx="420000" cy="420000"/>
          </a:xfrm>
          <a:prstGeom prst="ellipse">
            <a:avLst/>
          </a:prstGeom>
          <a:solidFill>
            <a:srgbClr val="1C76BC"/>
          </a:solidFill>
          <a:ln>
            <a:noFill/>
          </a:ln>
        </p:spPr>
        <p:txBody>
          <a:bodyPr wrap="square" lIns="0" tIns="0" rIns="0" bIns="0" anchor="ctr">
            <a:noAutofit/>
          </a:bodyPr>
          <a:lstStyle/>
          <a:p>
            <a:pPr marL="0" indent="0" algn="ctr">
              <a:buNone/>
            </a:pPr>
            <a:r>
              <a:rPr lang="en-US" sz="1150" b="1" dirty="0">
                <a:solidFill>
                  <a:srgbClr val="FFFFFF"/>
                </a:solidFill>
                <a:latin typeface="Avenir Next LT Pro"/>
                <a:cs typeface="Avenir Next LT Pro"/>
              </a:rPr>
              <a:t>01</a:t>
            </a:r>
          </a:p>
        </p:txBody>
      </p:sp>
      <p:sp>
        <p:nvSpPr>
          <p:cNvPr id="403" name="TextBox"/>
          <p:cNvSpPr txBox="1"/>
          <p:nvPr/>
        </p:nvSpPr>
        <p:spPr>
          <a:xfrm>
            <a:off x="1220000" y="1180000"/>
            <a:ext cx="4510000" cy="640000"/>
          </a:xfrm>
          <a:prstGeom prst="rect">
            <a:avLst/>
          </a:prstGeom>
          <a:noFill/>
        </p:spPr>
        <p:txBody>
          <a:bodyPr wrap="square" lIns="0" tIns="0" rIns="0" bIns="0" anchor="t">
            <a:noAutofit/>
          </a:bodyPr>
          <a:lstStyle/>
          <a:p>
            <a:pPr marL="0" indent="0" algn="l">
              <a:spcAft>
                <a:spcPts val="120"/>
              </a:spcAft>
              <a:buNone/>
            </a:pPr>
            <a:r>
              <a:rPr lang="en-US" sz="1200" b="1" dirty="0">
                <a:solidFill>
                  <a:srgbClr val="1F2937"/>
                </a:solidFill>
                <a:latin typeface="Avenir Next LT Pro"/>
                <a:cs typeface="Avenir Next LT Pro"/>
              </a:rPr>
              <a:t>The Problem</a:t>
            </a:r>
          </a:p>
          <a:p>
            <a:pPr marL="0" indent="0" algn="l">
              <a:lnSpc>
                <a:spcPct val="102000"/>
              </a:lnSpc>
              <a:buNone/>
            </a:pPr>
            <a:r>
              <a:rPr lang="en-US" sz="950" dirty="0">
                <a:solidFill>
                  <a:srgbClr val="5A6472"/>
                </a:solidFill>
                <a:latin typeface="Calibri"/>
                <a:cs typeface="Calibri"/>
              </a:rPr>
              <a:t>Why every red test costs the same manual triage</a:t>
            </a:r>
          </a:p>
        </p:txBody>
      </p:sp>
      <p:sp>
        <p:nvSpPr>
          <p:cNvPr id="404" name="Shape"/>
          <p:cNvSpPr/>
          <p:nvPr/>
        </p:nvSpPr>
        <p:spPr>
          <a:xfrm>
            <a:off x="460000" y="1912000"/>
            <a:ext cx="5450000" cy="7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05" name="Shape"/>
          <p:cNvSpPr/>
          <p:nvPr/>
        </p:nvSpPr>
        <p:spPr>
          <a:xfrm>
            <a:off x="640000" y="2052000"/>
            <a:ext cx="420000" cy="420000"/>
          </a:xfrm>
          <a:prstGeom prst="ellipse">
            <a:avLst/>
          </a:prstGeom>
          <a:solidFill>
            <a:srgbClr val="29AAE1"/>
          </a:solidFill>
          <a:ln>
            <a:noFill/>
          </a:ln>
        </p:spPr>
        <p:txBody>
          <a:bodyPr wrap="square" lIns="0" tIns="0" rIns="0" bIns="0" anchor="ctr">
            <a:noAutofit/>
          </a:bodyPr>
          <a:lstStyle/>
          <a:p>
            <a:pPr marL="0" indent="0" algn="ctr">
              <a:buNone/>
            </a:pPr>
            <a:r>
              <a:rPr lang="en-US" sz="1150" b="1" dirty="0">
                <a:solidFill>
                  <a:srgbClr val="FFFFFF"/>
                </a:solidFill>
                <a:latin typeface="Avenir Next LT Pro"/>
                <a:cs typeface="Avenir Next LT Pro"/>
              </a:rPr>
              <a:t>02</a:t>
            </a:r>
          </a:p>
        </p:txBody>
      </p:sp>
      <p:sp>
        <p:nvSpPr>
          <p:cNvPr id="406" name="TextBox"/>
          <p:cNvSpPr txBox="1"/>
          <p:nvPr/>
        </p:nvSpPr>
        <p:spPr>
          <a:xfrm>
            <a:off x="1220000" y="1942000"/>
            <a:ext cx="4510000" cy="640000"/>
          </a:xfrm>
          <a:prstGeom prst="rect">
            <a:avLst/>
          </a:prstGeom>
          <a:noFill/>
        </p:spPr>
        <p:txBody>
          <a:bodyPr wrap="square" lIns="0" tIns="0" rIns="0" bIns="0" anchor="t">
            <a:noAutofit/>
          </a:bodyPr>
          <a:lstStyle/>
          <a:p>
            <a:pPr marL="0" indent="0" algn="l">
              <a:spcAft>
                <a:spcPts val="120"/>
              </a:spcAft>
              <a:buNone/>
            </a:pPr>
            <a:r>
              <a:rPr lang="en-US" sz="1200" b="1" dirty="0">
                <a:solidFill>
                  <a:srgbClr val="1F2937"/>
                </a:solidFill>
                <a:latin typeface="Avenir Next LT Pro"/>
                <a:cs typeface="Avenir Next LT Pro"/>
              </a:rPr>
              <a:t>How It Works</a:t>
            </a:r>
          </a:p>
          <a:p>
            <a:pPr marL="0" indent="0" algn="l">
              <a:lnSpc>
                <a:spcPct val="102000"/>
              </a:lnSpc>
              <a:buNone/>
            </a:pPr>
            <a:r>
              <a:rPr lang="en-US" sz="950" dirty="0">
                <a:solidFill>
                  <a:srgbClr val="5A6472"/>
                </a:solidFill>
                <a:latin typeface="Calibri"/>
                <a:cs typeface="Calibri"/>
              </a:rPr>
              <a:t>Three steps from failed test to a written verdict</a:t>
            </a:r>
          </a:p>
        </p:txBody>
      </p:sp>
      <p:sp>
        <p:nvSpPr>
          <p:cNvPr id="407" name="Shape"/>
          <p:cNvSpPr/>
          <p:nvPr/>
        </p:nvSpPr>
        <p:spPr>
          <a:xfrm>
            <a:off x="460000" y="2674000"/>
            <a:ext cx="5450000" cy="7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08" name="Shape"/>
          <p:cNvSpPr/>
          <p:nvPr/>
        </p:nvSpPr>
        <p:spPr>
          <a:xfrm>
            <a:off x="640000" y="2814000"/>
            <a:ext cx="420000" cy="420000"/>
          </a:xfrm>
          <a:prstGeom prst="ellipse">
            <a:avLst/>
          </a:prstGeom>
          <a:solidFill>
            <a:srgbClr val="24BFCC"/>
          </a:solidFill>
          <a:ln>
            <a:noFill/>
          </a:ln>
        </p:spPr>
        <p:txBody>
          <a:bodyPr wrap="square" lIns="0" tIns="0" rIns="0" bIns="0" anchor="ctr">
            <a:noAutofit/>
          </a:bodyPr>
          <a:lstStyle/>
          <a:p>
            <a:pPr marL="0" indent="0" algn="ctr">
              <a:buNone/>
            </a:pPr>
            <a:r>
              <a:rPr lang="en-US" sz="1150" b="1" dirty="0">
                <a:solidFill>
                  <a:srgbClr val="FFFFFF"/>
                </a:solidFill>
                <a:latin typeface="Avenir Next LT Pro"/>
                <a:cs typeface="Avenir Next LT Pro"/>
              </a:rPr>
              <a:t>03</a:t>
            </a:r>
          </a:p>
        </p:txBody>
      </p:sp>
      <p:sp>
        <p:nvSpPr>
          <p:cNvPr id="409" name="TextBox"/>
          <p:cNvSpPr txBox="1"/>
          <p:nvPr/>
        </p:nvSpPr>
        <p:spPr>
          <a:xfrm>
            <a:off x="1220000" y="2704000"/>
            <a:ext cx="4510000" cy="640000"/>
          </a:xfrm>
          <a:prstGeom prst="rect">
            <a:avLst/>
          </a:prstGeom>
          <a:noFill/>
        </p:spPr>
        <p:txBody>
          <a:bodyPr wrap="square" lIns="0" tIns="0" rIns="0" bIns="0" anchor="t">
            <a:noAutofit/>
          </a:bodyPr>
          <a:lstStyle/>
          <a:p>
            <a:pPr marL="0" indent="0" algn="l">
              <a:spcAft>
                <a:spcPts val="120"/>
              </a:spcAft>
              <a:buNone/>
            </a:pPr>
            <a:r>
              <a:rPr lang="en-US" sz="1200" b="1" dirty="0">
                <a:solidFill>
                  <a:srgbClr val="1F2937"/>
                </a:solidFill>
                <a:latin typeface="Avenir Next LT Pro"/>
                <a:cs typeface="Avenir Next LT Pro"/>
              </a:rPr>
              <a:t>Loading a Real Case</a:t>
            </a:r>
          </a:p>
          <a:p>
            <a:pPr marL="0" indent="0" algn="l">
              <a:lnSpc>
                <a:spcPct val="102000"/>
              </a:lnSpc>
              <a:buNone/>
            </a:pPr>
            <a:r>
              <a:rPr lang="en-US" sz="950" dirty="0">
                <a:solidFill>
                  <a:srgbClr val="5A6472"/>
                </a:solidFill>
                <a:latin typeface="Calibri"/>
                <a:cs typeface="Calibri"/>
              </a:rPr>
              <a:t>One click fills the dashboard with a live failure</a:t>
            </a:r>
          </a:p>
        </p:txBody>
      </p:sp>
      <p:sp>
        <p:nvSpPr>
          <p:cNvPr id="410" name="Shape"/>
          <p:cNvSpPr/>
          <p:nvPr/>
        </p:nvSpPr>
        <p:spPr>
          <a:xfrm>
            <a:off x="460000" y="3436000"/>
            <a:ext cx="5450000" cy="7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11" name="Shape"/>
          <p:cNvSpPr/>
          <p:nvPr/>
        </p:nvSpPr>
        <p:spPr>
          <a:xfrm>
            <a:off x="640000" y="3576000"/>
            <a:ext cx="420000" cy="420000"/>
          </a:xfrm>
          <a:prstGeom prst="ellipse">
            <a:avLst/>
          </a:prstGeom>
          <a:solidFill>
            <a:srgbClr val="55BF98"/>
          </a:solidFill>
          <a:ln>
            <a:noFill/>
          </a:ln>
        </p:spPr>
        <p:txBody>
          <a:bodyPr wrap="square" lIns="0" tIns="0" rIns="0" bIns="0" anchor="ctr">
            <a:noAutofit/>
          </a:bodyPr>
          <a:lstStyle/>
          <a:p>
            <a:pPr marL="0" indent="0" algn="ctr">
              <a:buNone/>
            </a:pPr>
            <a:r>
              <a:rPr lang="en-US" sz="1150" b="1" dirty="0">
                <a:solidFill>
                  <a:srgbClr val="FFFFFF"/>
                </a:solidFill>
                <a:latin typeface="Avenir Next LT Pro"/>
                <a:cs typeface="Avenir Next LT Pro"/>
              </a:rPr>
              <a:t>04</a:t>
            </a:r>
          </a:p>
        </p:txBody>
      </p:sp>
      <p:sp>
        <p:nvSpPr>
          <p:cNvPr id="412" name="TextBox"/>
          <p:cNvSpPr txBox="1"/>
          <p:nvPr/>
        </p:nvSpPr>
        <p:spPr>
          <a:xfrm>
            <a:off x="1220000" y="3466000"/>
            <a:ext cx="4510000" cy="640000"/>
          </a:xfrm>
          <a:prstGeom prst="rect">
            <a:avLst/>
          </a:prstGeom>
          <a:noFill/>
        </p:spPr>
        <p:txBody>
          <a:bodyPr wrap="square" lIns="0" tIns="0" rIns="0" bIns="0" anchor="t">
            <a:noAutofit/>
          </a:bodyPr>
          <a:lstStyle/>
          <a:p>
            <a:pPr marL="0" indent="0" algn="l">
              <a:spcAft>
                <a:spcPts val="120"/>
              </a:spcAft>
              <a:buNone/>
            </a:pPr>
            <a:r>
              <a:rPr lang="en-US" sz="1200" b="1" dirty="0">
                <a:solidFill>
                  <a:srgbClr val="1F2937"/>
                </a:solidFill>
                <a:latin typeface="Avenir Next LT Pro"/>
                <a:cs typeface="Avenir Next LT Pro"/>
              </a:rPr>
              <a:t>Root Cause &amp; Evidence</a:t>
            </a:r>
          </a:p>
          <a:p>
            <a:pPr marL="0" indent="0" algn="l">
              <a:lnSpc>
                <a:spcPct val="102000"/>
              </a:lnSpc>
              <a:buNone/>
            </a:pPr>
            <a:r>
              <a:rPr lang="en-US" sz="950" dirty="0">
                <a:solidFill>
                  <a:srgbClr val="5A6472"/>
                </a:solidFill>
                <a:latin typeface="Calibri"/>
                <a:cs typeface="Calibri"/>
              </a:rPr>
              <a:t>Every claim tied back to a quoted log line</a:t>
            </a:r>
          </a:p>
        </p:txBody>
      </p:sp>
      <p:sp>
        <p:nvSpPr>
          <p:cNvPr id="413" name="Shape"/>
          <p:cNvSpPr/>
          <p:nvPr/>
        </p:nvSpPr>
        <p:spPr>
          <a:xfrm>
            <a:off x="460000" y="4198000"/>
            <a:ext cx="5450000" cy="7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14" name="Shape"/>
          <p:cNvSpPr/>
          <p:nvPr/>
        </p:nvSpPr>
        <p:spPr>
          <a:xfrm>
            <a:off x="640000" y="4338000"/>
            <a:ext cx="420000" cy="420000"/>
          </a:xfrm>
          <a:prstGeom prst="ellipse">
            <a:avLst/>
          </a:prstGeom>
          <a:solidFill>
            <a:srgbClr val="B939D8"/>
          </a:solidFill>
          <a:ln>
            <a:noFill/>
          </a:ln>
        </p:spPr>
        <p:txBody>
          <a:bodyPr wrap="square" lIns="0" tIns="0" rIns="0" bIns="0" anchor="ctr">
            <a:noAutofit/>
          </a:bodyPr>
          <a:lstStyle/>
          <a:p>
            <a:pPr marL="0" indent="0" algn="ctr">
              <a:buNone/>
            </a:pPr>
            <a:r>
              <a:rPr lang="en-US" sz="1150" b="1" dirty="0">
                <a:solidFill>
                  <a:srgbClr val="FFFFFF"/>
                </a:solidFill>
                <a:latin typeface="Avenir Next LT Pro"/>
                <a:cs typeface="Avenir Next LT Pro"/>
              </a:rPr>
              <a:t>05</a:t>
            </a:r>
          </a:p>
        </p:txBody>
      </p:sp>
      <p:sp>
        <p:nvSpPr>
          <p:cNvPr id="415" name="TextBox"/>
          <p:cNvSpPr txBox="1"/>
          <p:nvPr/>
        </p:nvSpPr>
        <p:spPr>
          <a:xfrm>
            <a:off x="1220000" y="4228000"/>
            <a:ext cx="4510000" cy="640000"/>
          </a:xfrm>
          <a:prstGeom prst="rect">
            <a:avLst/>
          </a:prstGeom>
          <a:noFill/>
        </p:spPr>
        <p:txBody>
          <a:bodyPr wrap="square" lIns="0" tIns="0" rIns="0" bIns="0" anchor="t">
            <a:noAutofit/>
          </a:bodyPr>
          <a:lstStyle/>
          <a:p>
            <a:pPr marL="0" indent="0" algn="l">
              <a:spcAft>
                <a:spcPts val="120"/>
              </a:spcAft>
              <a:buNone/>
            </a:pPr>
            <a:r>
              <a:rPr lang="en-US" sz="1200" b="1" dirty="0">
                <a:solidFill>
                  <a:srgbClr val="1F2937"/>
                </a:solidFill>
                <a:latin typeface="Avenir Next LT Pro"/>
                <a:cs typeface="Avenir Next LT Pro"/>
              </a:rPr>
              <a:t>The Differentiator</a:t>
            </a:r>
          </a:p>
          <a:p>
            <a:pPr marL="0" indent="0" algn="l">
              <a:lnSpc>
                <a:spcPct val="102000"/>
              </a:lnSpc>
              <a:buNone/>
            </a:pPr>
            <a:r>
              <a:rPr lang="en-US" sz="950" dirty="0">
                <a:solidFill>
                  <a:srgbClr val="5A6472"/>
                </a:solidFill>
                <a:latin typeface="Calibri"/>
                <a:cs typeface="Calibri"/>
              </a:rPr>
              <a:t>API says success, the UI times out - who is guilty?</a:t>
            </a:r>
          </a:p>
        </p:txBody>
      </p:sp>
      <p:sp>
        <p:nvSpPr>
          <p:cNvPr id="416" name="Shape"/>
          <p:cNvSpPr/>
          <p:nvPr/>
        </p:nvSpPr>
        <p:spPr>
          <a:xfrm>
            <a:off x="460000" y="4960000"/>
            <a:ext cx="5450000" cy="7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17" name="Shape"/>
          <p:cNvSpPr/>
          <p:nvPr/>
        </p:nvSpPr>
        <p:spPr>
          <a:xfrm>
            <a:off x="640000" y="5100000"/>
            <a:ext cx="420000" cy="420000"/>
          </a:xfrm>
          <a:prstGeom prst="ellipse">
            <a:avLst/>
          </a:prstGeom>
          <a:solidFill>
            <a:srgbClr val="2A3C90"/>
          </a:solidFill>
          <a:ln>
            <a:noFill/>
          </a:ln>
        </p:spPr>
        <p:txBody>
          <a:bodyPr wrap="square" lIns="0" tIns="0" rIns="0" bIns="0" anchor="ctr">
            <a:noAutofit/>
          </a:bodyPr>
          <a:lstStyle/>
          <a:p>
            <a:pPr marL="0" indent="0" algn="ctr">
              <a:buNone/>
            </a:pPr>
            <a:r>
              <a:rPr lang="en-US" sz="1150" b="1" dirty="0">
                <a:solidFill>
                  <a:srgbClr val="FFFFFF"/>
                </a:solidFill>
                <a:latin typeface="Avenir Next LT Pro"/>
                <a:cs typeface="Avenir Next LT Pro"/>
              </a:rPr>
              <a:t>06</a:t>
            </a:r>
          </a:p>
        </p:txBody>
      </p:sp>
      <p:sp>
        <p:nvSpPr>
          <p:cNvPr id="418" name="TextBox"/>
          <p:cNvSpPr txBox="1"/>
          <p:nvPr/>
        </p:nvSpPr>
        <p:spPr>
          <a:xfrm>
            <a:off x="1220000" y="4990000"/>
            <a:ext cx="4510000" cy="640000"/>
          </a:xfrm>
          <a:prstGeom prst="rect">
            <a:avLst/>
          </a:prstGeom>
          <a:noFill/>
        </p:spPr>
        <p:txBody>
          <a:bodyPr wrap="square" lIns="0" tIns="0" rIns="0" bIns="0" anchor="t">
            <a:noAutofit/>
          </a:bodyPr>
          <a:lstStyle/>
          <a:p>
            <a:pPr marL="0" indent="0" algn="l">
              <a:spcAft>
                <a:spcPts val="120"/>
              </a:spcAft>
              <a:buNone/>
            </a:pPr>
            <a:r>
              <a:rPr lang="en-US" sz="1200" b="1" dirty="0">
                <a:solidFill>
                  <a:srgbClr val="1F2937"/>
                </a:solidFill>
                <a:latin typeface="Avenir Next LT Pro"/>
                <a:cs typeface="Avenir Next LT Pro"/>
              </a:rPr>
              <a:t>Jira Defect Generation</a:t>
            </a:r>
          </a:p>
          <a:p>
            <a:pPr marL="0" indent="0" algn="l">
              <a:lnSpc>
                <a:spcPct val="102000"/>
              </a:lnSpc>
              <a:buNone/>
            </a:pPr>
            <a:r>
              <a:rPr lang="en-US" sz="950" dirty="0">
                <a:solidFill>
                  <a:srgbClr val="5A6472"/>
                </a:solidFill>
                <a:latin typeface="Calibri"/>
                <a:cs typeface="Calibri"/>
              </a:rPr>
              <a:t>A ready-to-file ticket in the shape engineers expect</a:t>
            </a:r>
          </a:p>
        </p:txBody>
      </p:sp>
      <p:sp>
        <p:nvSpPr>
          <p:cNvPr id="419" name="Shape"/>
          <p:cNvSpPr/>
          <p:nvPr/>
        </p:nvSpPr>
        <p:spPr>
          <a:xfrm>
            <a:off x="6280000" y="1150000"/>
            <a:ext cx="5450000" cy="7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20" name="Shape"/>
          <p:cNvSpPr/>
          <p:nvPr/>
        </p:nvSpPr>
        <p:spPr>
          <a:xfrm>
            <a:off x="6460000" y="1290000"/>
            <a:ext cx="420000" cy="420000"/>
          </a:xfrm>
          <a:prstGeom prst="ellipse">
            <a:avLst/>
          </a:prstGeom>
          <a:solidFill>
            <a:srgbClr val="1C76BC"/>
          </a:solidFill>
          <a:ln>
            <a:noFill/>
          </a:ln>
        </p:spPr>
        <p:txBody>
          <a:bodyPr wrap="square" lIns="0" tIns="0" rIns="0" bIns="0" anchor="ctr">
            <a:noAutofit/>
          </a:bodyPr>
          <a:lstStyle/>
          <a:p>
            <a:pPr marL="0" indent="0" algn="ctr">
              <a:buNone/>
            </a:pPr>
            <a:r>
              <a:rPr lang="en-US" sz="1150" b="1" dirty="0">
                <a:solidFill>
                  <a:srgbClr val="FFFFFF"/>
                </a:solidFill>
                <a:latin typeface="Avenir Next LT Pro"/>
                <a:cs typeface="Avenir Next LT Pro"/>
              </a:rPr>
              <a:t>07</a:t>
            </a:r>
          </a:p>
        </p:txBody>
      </p:sp>
      <p:sp>
        <p:nvSpPr>
          <p:cNvPr id="421" name="TextBox"/>
          <p:cNvSpPr txBox="1"/>
          <p:nvPr/>
        </p:nvSpPr>
        <p:spPr>
          <a:xfrm>
            <a:off x="7040000" y="1180000"/>
            <a:ext cx="4510000" cy="640000"/>
          </a:xfrm>
          <a:prstGeom prst="rect">
            <a:avLst/>
          </a:prstGeom>
          <a:noFill/>
        </p:spPr>
        <p:txBody>
          <a:bodyPr wrap="square" lIns="0" tIns="0" rIns="0" bIns="0" anchor="t">
            <a:noAutofit/>
          </a:bodyPr>
          <a:lstStyle/>
          <a:p>
            <a:pPr marL="0" indent="0" algn="l">
              <a:spcAft>
                <a:spcPts val="120"/>
              </a:spcAft>
              <a:buNone/>
            </a:pPr>
            <a:r>
              <a:rPr lang="en-US" sz="1200" b="1" dirty="0">
                <a:solidFill>
                  <a:srgbClr val="1F2937"/>
                </a:solidFill>
                <a:latin typeface="Avenir Next LT Pro"/>
                <a:cs typeface="Avenir Next LT Pro"/>
              </a:rPr>
              <a:t>Release Risk Score</a:t>
            </a:r>
          </a:p>
          <a:p>
            <a:pPr marL="0" indent="0" algn="l">
              <a:lnSpc>
                <a:spcPct val="102000"/>
              </a:lnSpc>
              <a:buNone/>
            </a:pPr>
            <a:r>
              <a:rPr lang="en-US" sz="950" dirty="0">
                <a:solidFill>
                  <a:srgbClr val="5A6472"/>
                </a:solidFill>
                <a:latin typeface="Calibri"/>
                <a:cs typeface="Calibri"/>
              </a:rPr>
              <a:t>One number the whole team can argue about</a:t>
            </a:r>
          </a:p>
        </p:txBody>
      </p:sp>
      <p:sp>
        <p:nvSpPr>
          <p:cNvPr id="422" name="Shape"/>
          <p:cNvSpPr/>
          <p:nvPr/>
        </p:nvSpPr>
        <p:spPr>
          <a:xfrm>
            <a:off x="6280000" y="1912000"/>
            <a:ext cx="5450000" cy="7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23" name="Shape"/>
          <p:cNvSpPr/>
          <p:nvPr/>
        </p:nvSpPr>
        <p:spPr>
          <a:xfrm>
            <a:off x="6460000" y="2052000"/>
            <a:ext cx="420000" cy="420000"/>
          </a:xfrm>
          <a:prstGeom prst="ellipse">
            <a:avLst/>
          </a:prstGeom>
          <a:solidFill>
            <a:srgbClr val="29AAE1"/>
          </a:solidFill>
          <a:ln>
            <a:noFill/>
          </a:ln>
        </p:spPr>
        <p:txBody>
          <a:bodyPr wrap="square" lIns="0" tIns="0" rIns="0" bIns="0" anchor="ctr">
            <a:noAutofit/>
          </a:bodyPr>
          <a:lstStyle/>
          <a:p>
            <a:pPr marL="0" indent="0" algn="ctr">
              <a:buNone/>
            </a:pPr>
            <a:r>
              <a:rPr lang="en-US" sz="1150" b="1" dirty="0">
                <a:solidFill>
                  <a:srgbClr val="FFFFFF"/>
                </a:solidFill>
                <a:latin typeface="Avenir Next LT Pro"/>
                <a:cs typeface="Avenir Next LT Pro"/>
              </a:rPr>
              <a:t>08</a:t>
            </a:r>
          </a:p>
        </p:txBody>
      </p:sp>
      <p:sp>
        <p:nvSpPr>
          <p:cNvPr id="424" name="TextBox"/>
          <p:cNvSpPr txBox="1"/>
          <p:nvPr/>
        </p:nvSpPr>
        <p:spPr>
          <a:xfrm>
            <a:off x="7040000" y="1942000"/>
            <a:ext cx="4510000" cy="640000"/>
          </a:xfrm>
          <a:prstGeom prst="rect">
            <a:avLst/>
          </a:prstGeom>
          <a:noFill/>
        </p:spPr>
        <p:txBody>
          <a:bodyPr wrap="square" lIns="0" tIns="0" rIns="0" bIns="0" anchor="t">
            <a:noAutofit/>
          </a:bodyPr>
          <a:lstStyle/>
          <a:p>
            <a:pPr marL="0" indent="0" algn="l">
              <a:spcAft>
                <a:spcPts val="120"/>
              </a:spcAft>
              <a:buNone/>
            </a:pPr>
            <a:r>
              <a:rPr lang="en-US" sz="1200" b="1" dirty="0">
                <a:solidFill>
                  <a:srgbClr val="1F2937"/>
                </a:solidFill>
                <a:latin typeface="Avenir Next LT Pro"/>
                <a:cs typeface="Avenir Next LT Pro"/>
              </a:rPr>
              <a:t>Scenario Coverage</a:t>
            </a:r>
          </a:p>
          <a:p>
            <a:pPr marL="0" indent="0" algn="l">
              <a:lnSpc>
                <a:spcPct val="102000"/>
              </a:lnSpc>
              <a:buNone/>
            </a:pPr>
            <a:r>
              <a:rPr lang="en-US" sz="950" dirty="0">
                <a:solidFill>
                  <a:srgbClr val="5A6472"/>
                </a:solidFill>
                <a:latin typeface="Calibri"/>
                <a:cs typeface="Calibri"/>
              </a:rPr>
              <a:t>Twelve scenarios across five fictional companies</a:t>
            </a:r>
          </a:p>
        </p:txBody>
      </p:sp>
      <p:sp>
        <p:nvSpPr>
          <p:cNvPr id="425" name="Shape"/>
          <p:cNvSpPr/>
          <p:nvPr/>
        </p:nvSpPr>
        <p:spPr>
          <a:xfrm>
            <a:off x="6280000" y="2674000"/>
            <a:ext cx="5450000" cy="7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26" name="Shape"/>
          <p:cNvSpPr/>
          <p:nvPr/>
        </p:nvSpPr>
        <p:spPr>
          <a:xfrm>
            <a:off x="6460000" y="2814000"/>
            <a:ext cx="420000" cy="420000"/>
          </a:xfrm>
          <a:prstGeom prst="ellipse">
            <a:avLst/>
          </a:prstGeom>
          <a:solidFill>
            <a:srgbClr val="24BFCC"/>
          </a:solidFill>
          <a:ln>
            <a:noFill/>
          </a:ln>
        </p:spPr>
        <p:txBody>
          <a:bodyPr wrap="square" lIns="0" tIns="0" rIns="0" bIns="0" anchor="ctr">
            <a:noAutofit/>
          </a:bodyPr>
          <a:lstStyle/>
          <a:p>
            <a:pPr marL="0" indent="0" algn="ctr">
              <a:buNone/>
            </a:pPr>
            <a:r>
              <a:rPr lang="en-US" sz="1150" b="1" dirty="0">
                <a:solidFill>
                  <a:srgbClr val="FFFFFF"/>
                </a:solidFill>
                <a:latin typeface="Avenir Next LT Pro"/>
                <a:cs typeface="Avenir Next LT Pro"/>
              </a:rPr>
              <a:t>09</a:t>
            </a:r>
          </a:p>
        </p:txBody>
      </p:sp>
      <p:sp>
        <p:nvSpPr>
          <p:cNvPr id="427" name="TextBox"/>
          <p:cNvSpPr txBox="1"/>
          <p:nvPr/>
        </p:nvSpPr>
        <p:spPr>
          <a:xfrm>
            <a:off x="7040000" y="2704000"/>
            <a:ext cx="4510000" cy="640000"/>
          </a:xfrm>
          <a:prstGeom prst="rect">
            <a:avLst/>
          </a:prstGeom>
          <a:noFill/>
        </p:spPr>
        <p:txBody>
          <a:bodyPr wrap="square" lIns="0" tIns="0" rIns="0" bIns="0" anchor="t">
            <a:noAutofit/>
          </a:bodyPr>
          <a:lstStyle/>
          <a:p>
            <a:pPr marL="0" indent="0" algn="l">
              <a:spcAft>
                <a:spcPts val="120"/>
              </a:spcAft>
              <a:buNone/>
            </a:pPr>
            <a:r>
              <a:rPr lang="en-US" sz="1200" b="1" dirty="0">
                <a:solidFill>
                  <a:srgbClr val="1F2937"/>
                </a:solidFill>
                <a:latin typeface="Avenir Next LT Pro"/>
                <a:cs typeface="Avenir Next LT Pro"/>
              </a:rPr>
              <a:t>Architecture</a:t>
            </a:r>
          </a:p>
          <a:p>
            <a:pPr marL="0" indent="0" algn="l">
              <a:lnSpc>
                <a:spcPct val="102000"/>
              </a:lnSpc>
              <a:buNone/>
            </a:pPr>
            <a:r>
              <a:rPr lang="en-US" sz="950" dirty="0">
                <a:solidFill>
                  <a:srgbClr val="5A6472"/>
                </a:solidFill>
                <a:latin typeface="Calibri"/>
                <a:cs typeface="Calibri"/>
              </a:rPr>
              <a:t>One repo, one deployment, zero CORS</a:t>
            </a:r>
          </a:p>
        </p:txBody>
      </p:sp>
      <p:sp>
        <p:nvSpPr>
          <p:cNvPr id="428" name="Shape"/>
          <p:cNvSpPr/>
          <p:nvPr/>
        </p:nvSpPr>
        <p:spPr>
          <a:xfrm>
            <a:off x="6280000" y="3436000"/>
            <a:ext cx="5450000" cy="7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29" name="Shape"/>
          <p:cNvSpPr/>
          <p:nvPr/>
        </p:nvSpPr>
        <p:spPr>
          <a:xfrm>
            <a:off x="6460000" y="3576000"/>
            <a:ext cx="420000" cy="420000"/>
          </a:xfrm>
          <a:prstGeom prst="ellipse">
            <a:avLst/>
          </a:prstGeom>
          <a:solidFill>
            <a:srgbClr val="55BF98"/>
          </a:solidFill>
          <a:ln>
            <a:noFill/>
          </a:ln>
        </p:spPr>
        <p:txBody>
          <a:bodyPr wrap="square" lIns="0" tIns="0" rIns="0" bIns="0" anchor="ctr">
            <a:noAutofit/>
          </a:bodyPr>
          <a:lstStyle/>
          <a:p>
            <a:pPr marL="0" indent="0" algn="ctr">
              <a:buNone/>
            </a:pPr>
            <a:r>
              <a:rPr lang="en-US" sz="1150" b="1" dirty="0">
                <a:solidFill>
                  <a:srgbClr val="FFFFFF"/>
                </a:solidFill>
                <a:latin typeface="Avenir Next LT Pro"/>
                <a:cs typeface="Avenir Next LT Pro"/>
              </a:rPr>
              <a:t>10</a:t>
            </a:r>
          </a:p>
        </p:txBody>
      </p:sp>
      <p:sp>
        <p:nvSpPr>
          <p:cNvPr id="430" name="TextBox"/>
          <p:cNvSpPr txBox="1"/>
          <p:nvPr/>
        </p:nvSpPr>
        <p:spPr>
          <a:xfrm>
            <a:off x="7040000" y="3466000"/>
            <a:ext cx="4510000" cy="640000"/>
          </a:xfrm>
          <a:prstGeom prst="rect">
            <a:avLst/>
          </a:prstGeom>
          <a:noFill/>
        </p:spPr>
        <p:txBody>
          <a:bodyPr wrap="square" lIns="0" tIns="0" rIns="0" bIns="0" anchor="t">
            <a:noAutofit/>
          </a:bodyPr>
          <a:lstStyle/>
          <a:p>
            <a:pPr marL="0" indent="0" algn="l">
              <a:spcAft>
                <a:spcPts val="120"/>
              </a:spcAft>
              <a:buNone/>
            </a:pPr>
            <a:r>
              <a:rPr lang="en-US" sz="1200" b="1" dirty="0">
                <a:solidFill>
                  <a:srgbClr val="1F2937"/>
                </a:solidFill>
                <a:latin typeface="Avenir Next LT Pro"/>
                <a:cs typeface="Avenir Next LT Pro"/>
              </a:rPr>
              <a:t>Quality &amp; Verification</a:t>
            </a:r>
          </a:p>
          <a:p>
            <a:pPr marL="0" indent="0" algn="l">
              <a:lnSpc>
                <a:spcPct val="102000"/>
              </a:lnSpc>
              <a:buNone/>
            </a:pPr>
            <a:r>
              <a:rPr lang="en-US" sz="950" dirty="0">
                <a:solidFill>
                  <a:srgbClr val="5A6472"/>
                </a:solidFill>
                <a:latin typeface="Calibri"/>
                <a:cs typeface="Calibri"/>
              </a:rPr>
              <a:t>What was tested, and the bug it caught</a:t>
            </a:r>
          </a:p>
        </p:txBody>
      </p:sp>
      <p:sp>
        <p:nvSpPr>
          <p:cNvPr id="431" name="Shape"/>
          <p:cNvSpPr/>
          <p:nvPr/>
        </p:nvSpPr>
        <p:spPr>
          <a:xfrm>
            <a:off x="6280000" y="4198000"/>
            <a:ext cx="5450000" cy="7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32" name="Shape"/>
          <p:cNvSpPr/>
          <p:nvPr/>
        </p:nvSpPr>
        <p:spPr>
          <a:xfrm>
            <a:off x="6460000" y="4338000"/>
            <a:ext cx="420000" cy="420000"/>
          </a:xfrm>
          <a:prstGeom prst="ellipse">
            <a:avLst/>
          </a:prstGeom>
          <a:solidFill>
            <a:srgbClr val="B939D8"/>
          </a:solidFill>
          <a:ln>
            <a:noFill/>
          </a:ln>
        </p:spPr>
        <p:txBody>
          <a:bodyPr wrap="square" lIns="0" tIns="0" rIns="0" bIns="0" anchor="ctr">
            <a:noAutofit/>
          </a:bodyPr>
          <a:lstStyle/>
          <a:p>
            <a:pPr marL="0" indent="0" algn="ctr">
              <a:buNone/>
            </a:pPr>
            <a:r>
              <a:rPr lang="en-US" sz="1150" b="1" dirty="0">
                <a:solidFill>
                  <a:srgbClr val="FFFFFF"/>
                </a:solidFill>
                <a:latin typeface="Avenir Next LT Pro"/>
                <a:cs typeface="Avenir Next LT Pro"/>
              </a:rPr>
              <a:t>11</a:t>
            </a:r>
          </a:p>
        </p:txBody>
      </p:sp>
      <p:sp>
        <p:nvSpPr>
          <p:cNvPr id="433" name="TextBox"/>
          <p:cNvSpPr txBox="1"/>
          <p:nvPr/>
        </p:nvSpPr>
        <p:spPr>
          <a:xfrm>
            <a:off x="7040000" y="4228000"/>
            <a:ext cx="4510000" cy="640000"/>
          </a:xfrm>
          <a:prstGeom prst="rect">
            <a:avLst/>
          </a:prstGeom>
          <a:noFill/>
        </p:spPr>
        <p:txBody>
          <a:bodyPr wrap="square" lIns="0" tIns="0" rIns="0" bIns="0" anchor="t">
            <a:noAutofit/>
          </a:bodyPr>
          <a:lstStyle/>
          <a:p>
            <a:pPr marL="0" indent="0" algn="l">
              <a:spcAft>
                <a:spcPts val="120"/>
              </a:spcAft>
              <a:buNone/>
            </a:pPr>
            <a:r>
              <a:rPr lang="en-US" sz="1200" b="1" dirty="0">
                <a:solidFill>
                  <a:srgbClr val="1F2937"/>
                </a:solidFill>
                <a:latin typeface="Avenir Next LT Pro"/>
                <a:cs typeface="Avenir Next LT Pro"/>
              </a:rPr>
              <a:t>Live Demo &amp; Q/A</a:t>
            </a:r>
          </a:p>
          <a:p>
            <a:pPr marL="0" indent="0" algn="l">
              <a:lnSpc>
                <a:spcPct val="102000"/>
              </a:lnSpc>
              <a:buNone/>
            </a:pPr>
            <a:r>
              <a:rPr lang="en-US" sz="950" dirty="0">
                <a:solidFill>
                  <a:srgbClr val="5A6472"/>
                </a:solidFill>
                <a:latin typeface="Calibri"/>
                <a:cs typeface="Calibri"/>
              </a:rPr>
              <a:t>Try the investigation yourself, no API key</a:t>
            </a:r>
          </a:p>
        </p:txBody>
      </p:sp>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body" sz="quarter" idx="14"/>
          </p:nvPr>
        </p:nvSpPr>
        <p:spPr/>
        <p:txBody>
          <a:bodyPr/>
          <a:lstStyle/>
          <a:p>
            <a:r>
              <a:rPr lang="en-US" dirty="0"/>
              <a:t>Every Failed Test Opens the Same Cold Case</a:t>
            </a:r>
          </a:p>
        </p:txBody>
      </p:sp>
      <p:sp>
        <p:nvSpPr>
          <p:cNvPr id="3" name="Slide Number Placeholder"/>
          <p:cNvSpPr>
            <a:spLocks noGrp="1"/>
          </p:cNvSpPr>
          <p:nvPr>
            <p:ph type="sldNum" sz="quarter" idx="4"/>
          </p:nvPr>
        </p:nvSpPr>
        <p:spPr/>
        <p:txBody>
          <a:bodyPr/>
          <a:lstStyle/>
          <a:p>
            <a:fld id="{F58B522F-7218-4DD2-9A79-8098A090879F}" type="slidenum">
              <a:rPr lang="en-US" smtClean="0"/>
              <a:pPr/>
              <a:t>2</a:t>
            </a:fld>
            <a:endParaRPr lang="en-US"/>
          </a:p>
        </p:txBody>
      </p:sp>
      <p:sp>
        <p:nvSpPr>
          <p:cNvPr id="434" name="TextBox"/>
          <p:cNvSpPr txBox="1"/>
          <p:nvPr/>
        </p:nvSpPr>
        <p:spPr>
          <a:xfrm>
            <a:off x="460000" y="1010000"/>
            <a:ext cx="9600000" cy="620000"/>
          </a:xfrm>
          <a:prstGeom prst="rect">
            <a:avLst/>
          </a:prstGeom>
          <a:noFill/>
        </p:spPr>
        <p:txBody>
          <a:bodyPr wrap="square" lIns="0" tIns="0" rIns="0" bIns="0" anchor="t">
            <a:noAutofit/>
          </a:bodyPr>
          <a:lstStyle/>
          <a:p>
            <a:pPr marL="0" indent="0" algn="l">
              <a:lnSpc>
                <a:spcPct val="108000"/>
              </a:lnSpc>
              <a:buNone/>
            </a:pPr>
            <a:r>
              <a:rPr lang="en-US" sz="1300" dirty="0">
                <a:solidFill>
                  <a:srgbClr val="5A6472"/>
                </a:solidFill>
                <a:latin typeface="Calibri"/>
                <a:cs typeface="Calibri"/>
              </a:rPr>
              <a:t>A test goes red. Now somebody has to read the logs, the stack trace, the API response and maybe a screenshot - then decide, from scratch, what actually happened.</a:t>
            </a:r>
          </a:p>
        </p:txBody>
      </p:sp>
      <p:sp>
        <p:nvSpPr>
          <p:cNvPr id="435" name="Shape"/>
          <p:cNvSpPr/>
          <p:nvPr/>
        </p:nvSpPr>
        <p:spPr>
          <a:xfrm>
            <a:off x="460000" y="1900000"/>
            <a:ext cx="5450000" cy="108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36" name="Shape"/>
          <p:cNvSpPr/>
          <p:nvPr/>
        </p:nvSpPr>
        <p:spPr>
          <a:xfrm>
            <a:off x="640000" y="2230000"/>
            <a:ext cx="420000" cy="420000"/>
          </a:xfrm>
          <a:prstGeom prst="ellipse">
            <a:avLst/>
          </a:prstGeom>
          <a:solidFill>
            <a:srgbClr val="FDECEC"/>
          </a:solidFill>
          <a:ln>
            <a:noFill/>
          </a:ln>
        </p:spPr>
        <p:txBody>
          <a:bodyPr wrap="square" lIns="0" tIns="0" rIns="0" bIns="0" anchor="ctr">
            <a:noAutofit/>
          </a:bodyPr>
          <a:lstStyle/>
          <a:p>
            <a:pPr marL="0" indent="0" algn="ctr">
              <a:buNone/>
            </a:pPr>
            <a:r>
              <a:rPr lang="en-US" sz="1400" b="1" dirty="0">
                <a:solidFill>
                  <a:srgbClr val="B42318"/>
                </a:solidFill>
                <a:latin typeface="Avenir Next LT Pro"/>
                <a:cs typeface="Avenir Next LT Pro"/>
              </a:rPr>
              <a:t>?</a:t>
            </a:r>
          </a:p>
        </p:txBody>
      </p:sp>
      <p:sp>
        <p:nvSpPr>
          <p:cNvPr id="437" name="TextBox"/>
          <p:cNvSpPr txBox="1"/>
          <p:nvPr/>
        </p:nvSpPr>
        <p:spPr>
          <a:xfrm>
            <a:off x="1240000" y="2210000"/>
            <a:ext cx="4490000" cy="620000"/>
          </a:xfrm>
          <a:prstGeom prst="rect">
            <a:avLst/>
          </a:prstGeom>
          <a:noFill/>
        </p:spPr>
        <p:txBody>
          <a:bodyPr wrap="square" lIns="0" tIns="0" rIns="0" bIns="0" anchor="t">
            <a:noAutofit/>
          </a:bodyPr>
          <a:lstStyle/>
          <a:p>
            <a:pPr marL="0" indent="0" algn="l">
              <a:spcAft>
                <a:spcPts val="120"/>
              </a:spcAft>
              <a:buNone/>
            </a:pPr>
            <a:r>
              <a:rPr lang="en-US" sz="1250" b="1" dirty="0">
                <a:solidFill>
                  <a:srgbClr val="1F2937"/>
                </a:solidFill>
                <a:latin typeface="Avenir Next LT Pro"/>
                <a:cs typeface="Avenir Next LT Pro"/>
              </a:rPr>
              <a:t>Real defect, or just flaky?</a:t>
            </a:r>
          </a:p>
          <a:p>
            <a:pPr marL="0" indent="0" algn="l">
              <a:lnSpc>
                <a:spcPct val="102000"/>
              </a:lnSpc>
              <a:buNone/>
            </a:pPr>
            <a:r>
              <a:rPr lang="en-US" sz="1000" dirty="0">
                <a:solidFill>
                  <a:srgbClr val="5A6472"/>
                </a:solidFill>
                <a:latin typeface="Calibri"/>
                <a:cs typeface="Calibri"/>
              </a:rPr>
              <a:t>Is the application genuinely broken, or did the test simply misbehave on this run?</a:t>
            </a:r>
          </a:p>
        </p:txBody>
      </p:sp>
      <p:sp>
        <p:nvSpPr>
          <p:cNvPr id="438" name="Shape"/>
          <p:cNvSpPr/>
          <p:nvPr/>
        </p:nvSpPr>
        <p:spPr>
          <a:xfrm>
            <a:off x="6280000" y="1900000"/>
            <a:ext cx="5450000" cy="108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39" name="Shape"/>
          <p:cNvSpPr/>
          <p:nvPr/>
        </p:nvSpPr>
        <p:spPr>
          <a:xfrm>
            <a:off x="6460000" y="2230000"/>
            <a:ext cx="420000" cy="420000"/>
          </a:xfrm>
          <a:prstGeom prst="ellipse">
            <a:avLst/>
          </a:prstGeom>
          <a:solidFill>
            <a:srgbClr val="FDF3E2"/>
          </a:solidFill>
          <a:ln>
            <a:noFill/>
          </a:ln>
        </p:spPr>
        <p:txBody>
          <a:bodyPr wrap="square" lIns="0" tIns="0" rIns="0" bIns="0" anchor="ctr">
            <a:noAutofit/>
          </a:bodyPr>
          <a:lstStyle/>
          <a:p>
            <a:pPr marL="0" indent="0" algn="ctr">
              <a:buNone/>
            </a:pPr>
            <a:r>
              <a:rPr lang="en-US" sz="1400" b="1" dirty="0">
                <a:solidFill>
                  <a:srgbClr val="8A5A00"/>
                </a:solidFill>
                <a:latin typeface="Avenir Next LT Pro"/>
                <a:cs typeface="Avenir Next LT Pro"/>
              </a:rPr>
              <a:t>?</a:t>
            </a:r>
          </a:p>
        </p:txBody>
      </p:sp>
      <p:sp>
        <p:nvSpPr>
          <p:cNvPr id="440" name="TextBox"/>
          <p:cNvSpPr txBox="1"/>
          <p:nvPr/>
        </p:nvSpPr>
        <p:spPr>
          <a:xfrm>
            <a:off x="7060000" y="2210000"/>
            <a:ext cx="4490000" cy="620000"/>
          </a:xfrm>
          <a:prstGeom prst="rect">
            <a:avLst/>
          </a:prstGeom>
          <a:noFill/>
        </p:spPr>
        <p:txBody>
          <a:bodyPr wrap="square" lIns="0" tIns="0" rIns="0" bIns="0" anchor="t">
            <a:noAutofit/>
          </a:bodyPr>
          <a:lstStyle/>
          <a:p>
            <a:pPr marL="0" indent="0" algn="l">
              <a:spcAft>
                <a:spcPts val="120"/>
              </a:spcAft>
              <a:buNone/>
            </a:pPr>
            <a:r>
              <a:rPr lang="en-US" sz="1250" b="1" dirty="0">
                <a:solidFill>
                  <a:srgbClr val="1F2937"/>
                </a:solidFill>
                <a:latin typeface="Avenir Next LT Pro"/>
                <a:cs typeface="Avenir Next LT Pro"/>
              </a:rPr>
              <a:t>Locator, environment, or config?</a:t>
            </a:r>
          </a:p>
          <a:p>
            <a:pPr marL="0" indent="0" algn="l">
              <a:lnSpc>
                <a:spcPct val="102000"/>
              </a:lnSpc>
              <a:buNone/>
            </a:pPr>
            <a:r>
              <a:rPr lang="en-US" sz="1000" dirty="0">
                <a:solidFill>
                  <a:srgbClr val="5A6472"/>
                </a:solidFill>
                <a:latin typeface="Calibri"/>
                <a:cs typeface="Calibri"/>
              </a:rPr>
              <a:t>Three completely different fixes hide behind one identical red mark.</a:t>
            </a:r>
          </a:p>
        </p:txBody>
      </p:sp>
      <p:sp>
        <p:nvSpPr>
          <p:cNvPr id="441" name="Shape"/>
          <p:cNvSpPr/>
          <p:nvPr/>
        </p:nvSpPr>
        <p:spPr>
          <a:xfrm>
            <a:off x="460000" y="3230000"/>
            <a:ext cx="5450000" cy="108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42" name="Shape"/>
          <p:cNvSpPr/>
          <p:nvPr/>
        </p:nvSpPr>
        <p:spPr>
          <a:xfrm>
            <a:off x="640000" y="3560000"/>
            <a:ext cx="420000" cy="420000"/>
          </a:xfrm>
          <a:prstGeom prst="ellipse">
            <a:avLst/>
          </a:prstGeom>
          <a:solidFill>
            <a:srgbClr val="E8F1FB"/>
          </a:solidFill>
          <a:ln>
            <a:noFill/>
          </a:ln>
        </p:spPr>
        <p:txBody>
          <a:bodyPr wrap="square" lIns="0" tIns="0" rIns="0" bIns="0" anchor="ctr">
            <a:noAutofit/>
          </a:bodyPr>
          <a:lstStyle/>
          <a:p>
            <a:pPr marL="0" indent="0" algn="ctr">
              <a:buNone/>
            </a:pPr>
            <a:r>
              <a:rPr lang="en-US" sz="1400" b="1" dirty="0">
                <a:solidFill>
                  <a:srgbClr val="1C5A94"/>
                </a:solidFill>
                <a:latin typeface="Avenir Next LT Pro"/>
                <a:cs typeface="Avenir Next LT Pro"/>
              </a:rPr>
              <a:t>?</a:t>
            </a:r>
          </a:p>
        </p:txBody>
      </p:sp>
      <p:sp>
        <p:nvSpPr>
          <p:cNvPr id="443" name="TextBox"/>
          <p:cNvSpPr txBox="1"/>
          <p:nvPr/>
        </p:nvSpPr>
        <p:spPr>
          <a:xfrm>
            <a:off x="1240000" y="3540000"/>
            <a:ext cx="4490000" cy="620000"/>
          </a:xfrm>
          <a:prstGeom prst="rect">
            <a:avLst/>
          </a:prstGeom>
          <a:noFill/>
        </p:spPr>
        <p:txBody>
          <a:bodyPr wrap="square" lIns="0" tIns="0" rIns="0" bIns="0" anchor="t">
            <a:noAutofit/>
          </a:bodyPr>
          <a:lstStyle/>
          <a:p>
            <a:pPr marL="0" indent="0" algn="l">
              <a:spcAft>
                <a:spcPts val="120"/>
              </a:spcAft>
              <a:buNone/>
            </a:pPr>
            <a:r>
              <a:rPr lang="en-US" sz="1250" b="1" dirty="0">
                <a:solidFill>
                  <a:srgbClr val="1F2937"/>
                </a:solidFill>
                <a:latin typeface="Avenir Next LT Pro"/>
                <a:cs typeface="Avenir Next LT Pro"/>
              </a:rPr>
              <a:t>Has this exact failure happened before?</a:t>
            </a:r>
          </a:p>
          <a:p>
            <a:pPr marL="0" indent="0" algn="l">
              <a:lnSpc>
                <a:spcPct val="102000"/>
              </a:lnSpc>
              <a:buNone/>
            </a:pPr>
            <a:r>
              <a:rPr lang="en-US" sz="1000" dirty="0">
                <a:solidFill>
                  <a:srgbClr val="5A6472"/>
                </a:solidFill>
                <a:latin typeface="Calibri"/>
                <a:cs typeface="Calibri"/>
              </a:rPr>
              <a:t>Nobody remembers, so the same investigation starts again from zero.</a:t>
            </a:r>
          </a:p>
        </p:txBody>
      </p:sp>
      <p:sp>
        <p:nvSpPr>
          <p:cNvPr id="444" name="Shape"/>
          <p:cNvSpPr/>
          <p:nvPr/>
        </p:nvSpPr>
        <p:spPr>
          <a:xfrm>
            <a:off x="6280000" y="3230000"/>
            <a:ext cx="5450000" cy="108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45" name="Shape"/>
          <p:cNvSpPr/>
          <p:nvPr/>
        </p:nvSpPr>
        <p:spPr>
          <a:xfrm>
            <a:off x="6460000" y="3560000"/>
            <a:ext cx="420000" cy="420000"/>
          </a:xfrm>
          <a:prstGeom prst="ellipse">
            <a:avLst/>
          </a:prstGeom>
          <a:solidFill>
            <a:srgbClr val="F5E9FB"/>
          </a:solidFill>
          <a:ln>
            <a:noFill/>
          </a:ln>
        </p:spPr>
        <p:txBody>
          <a:bodyPr wrap="square" lIns="0" tIns="0" rIns="0" bIns="0" anchor="ctr">
            <a:noAutofit/>
          </a:bodyPr>
          <a:lstStyle/>
          <a:p>
            <a:pPr marL="0" indent="0" algn="ctr">
              <a:buNone/>
            </a:pPr>
            <a:r>
              <a:rPr lang="en-US" sz="1400" b="1" dirty="0">
                <a:solidFill>
                  <a:srgbClr val="7B2C96"/>
                </a:solidFill>
                <a:latin typeface="Avenir Next LT Pro"/>
                <a:cs typeface="Avenir Next LT Pro"/>
              </a:rPr>
              <a:t>?</a:t>
            </a:r>
          </a:p>
        </p:txBody>
      </p:sp>
      <p:sp>
        <p:nvSpPr>
          <p:cNvPr id="446" name="TextBox"/>
          <p:cNvSpPr txBox="1"/>
          <p:nvPr/>
        </p:nvSpPr>
        <p:spPr>
          <a:xfrm>
            <a:off x="7060000" y="3540000"/>
            <a:ext cx="4490000" cy="620000"/>
          </a:xfrm>
          <a:prstGeom prst="rect">
            <a:avLst/>
          </a:prstGeom>
          <a:noFill/>
        </p:spPr>
        <p:txBody>
          <a:bodyPr wrap="square" lIns="0" tIns="0" rIns="0" bIns="0" anchor="t">
            <a:noAutofit/>
          </a:bodyPr>
          <a:lstStyle/>
          <a:p>
            <a:pPr marL="0" indent="0" algn="l">
              <a:spcAft>
                <a:spcPts val="120"/>
              </a:spcAft>
              <a:buNone/>
            </a:pPr>
            <a:r>
              <a:rPr lang="en-US" sz="1250" b="1" dirty="0">
                <a:solidFill>
                  <a:srgbClr val="1F2937"/>
                </a:solidFill>
                <a:latin typeface="Avenir Next LT Pro"/>
                <a:cs typeface="Avenir Next LT Pro"/>
              </a:rPr>
              <a:t>Severe enough to block the release?</a:t>
            </a:r>
          </a:p>
          <a:p>
            <a:pPr marL="0" indent="0" algn="l">
              <a:lnSpc>
                <a:spcPct val="102000"/>
              </a:lnSpc>
              <a:buNone/>
            </a:pPr>
            <a:r>
              <a:rPr lang="en-US" sz="1000" dirty="0">
                <a:solidFill>
                  <a:srgbClr val="5A6472"/>
                </a:solidFill>
                <a:latin typeface="Calibri"/>
                <a:cs typeface="Calibri"/>
              </a:rPr>
              <a:t>The call gets made on instinct, with no shared evidence-backed number.</a:t>
            </a:r>
          </a:p>
        </p:txBody>
      </p:sp>
      <p:sp>
        <p:nvSpPr>
          <p:cNvPr id="447" name="Shape"/>
          <p:cNvSpPr/>
          <p:nvPr/>
        </p:nvSpPr>
        <p:spPr>
          <a:xfrm>
            <a:off x="460000" y="4700000"/>
            <a:ext cx="11270000" cy="780000"/>
          </a:xfrm>
          <a:prstGeom prst="roundRect">
            <a:avLst>
              <a:gd name="adj" fmla="val 10000"/>
            </a:avLst>
          </a:prstGeom>
          <a:solidFill>
            <a:srgbClr val="F3F7FC"/>
          </a:solidFill>
          <a:ln w="9525">
            <a:solidFill>
              <a:srgbClr val="D8E2EE"/>
            </a:solidFill>
          </a:ln>
        </p:spPr>
        <p:txBody>
          <a:bodyPr wrap="square" lIns="45720" tIns="45720" rIns="45720" bIns="45720" anchor="ctr">
            <a:noAutofit/>
          </a:bodyPr>
          <a:lstStyle/>
          <a:p>
            <a:pPr marL="0" indent="0" algn="ctr">
              <a:buNone/>
            </a:pPr>
            <a:r>
              <a:rPr lang="en-US" sz="1200" b="1" dirty="0">
                <a:solidFill>
                  <a:srgbClr val="1F2937"/>
                </a:solidFill>
                <a:latin typeface="Avenir Next LT Pro"/>
                <a:cs typeface="Avenir Next LT Pro"/>
              </a:rPr>
              <a:t>That triage gets repeated by hand, from zero, every single time</a:t>
            </a:r>
            <a:r>
              <a:rPr lang="en-US" sz="1200" dirty="0">
                <a:solidFill>
                  <a:srgbClr val="5A6472"/>
                </a:solidFill>
                <a:latin typeface="Calibri"/>
                <a:cs typeface="Calibri"/>
              </a:rPr>
              <a:t>  -  and it is the same investigation whether it takes five minutes or an hour.</a:t>
            </a: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body" sz="quarter" idx="14"/>
          </p:nvPr>
        </p:nvSpPr>
        <p:spPr/>
        <p:txBody>
          <a:bodyPr/>
          <a:lstStyle/>
          <a:p>
            <a:r>
              <a:rPr lang="en-US" dirty="0"/>
              <a:t>Three Steps. No Guessing.</a:t>
            </a:r>
          </a:p>
        </p:txBody>
      </p:sp>
      <p:sp>
        <p:nvSpPr>
          <p:cNvPr id="3" name="Slide Number Placeholder"/>
          <p:cNvSpPr>
            <a:spLocks noGrp="1"/>
          </p:cNvSpPr>
          <p:nvPr>
            <p:ph type="sldNum" sz="quarter" idx="4"/>
          </p:nvPr>
        </p:nvSpPr>
        <p:spPr/>
        <p:txBody>
          <a:bodyPr/>
          <a:lstStyle/>
          <a:p>
            <a:fld id="{F58B522F-7218-4DD2-9A79-8098A090879F}" type="slidenum">
              <a:rPr lang="en-US" smtClean="0"/>
              <a:pPr/>
              <a:t>2</a:t>
            </a:fld>
            <a:endParaRPr lang="en-US"/>
          </a:p>
        </p:txBody>
      </p:sp>
      <p:sp>
        <p:nvSpPr>
          <p:cNvPr id="448" name="Shape"/>
          <p:cNvSpPr/>
          <p:nvPr/>
        </p:nvSpPr>
        <p:spPr>
          <a:xfrm>
            <a:off x="460000" y="1180000"/>
            <a:ext cx="3450000" cy="228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49" name="Shape"/>
          <p:cNvSpPr/>
          <p:nvPr/>
        </p:nvSpPr>
        <p:spPr>
          <a:xfrm>
            <a:off x="700000" y="1420000"/>
            <a:ext cx="560000" cy="560000"/>
          </a:xfrm>
          <a:prstGeom prst="ellipse">
            <a:avLst/>
          </a:prstGeom>
          <a:solidFill>
            <a:srgbClr val="1C76BC"/>
          </a:solidFill>
          <a:ln>
            <a:noFill/>
          </a:ln>
        </p:spPr>
        <p:txBody>
          <a:bodyPr wrap="square" lIns="0" tIns="0" rIns="0" bIns="0" anchor="ctr">
            <a:noAutofit/>
          </a:bodyPr>
          <a:lstStyle/>
          <a:p>
            <a:pPr marL="0" indent="0" algn="ctr">
              <a:buNone/>
            </a:pPr>
            <a:r>
              <a:rPr lang="en-US" sz="1400" b="1" dirty="0">
                <a:solidFill>
                  <a:srgbClr val="FFFFFF"/>
                </a:solidFill>
                <a:latin typeface="Avenir Next LT Pro"/>
                <a:cs typeface="Avenir Next LT Pro"/>
              </a:rPr>
              <a:t>01</a:t>
            </a:r>
          </a:p>
        </p:txBody>
      </p:sp>
      <p:sp>
        <p:nvSpPr>
          <p:cNvPr id="450" name="TextBox"/>
          <p:cNvSpPr txBox="1"/>
          <p:nvPr/>
        </p:nvSpPr>
        <p:spPr>
          <a:xfrm>
            <a:off x="700000" y="2160000"/>
            <a:ext cx="2970000" cy="1080000"/>
          </a:xfrm>
          <a:prstGeom prst="rect">
            <a:avLst/>
          </a:prstGeom>
          <a:noFill/>
        </p:spPr>
        <p:txBody>
          <a:bodyPr wrap="square" lIns="0" tIns="0" rIns="0" bIns="0" anchor="t">
            <a:noAutofit/>
          </a:bodyPr>
          <a:lstStyle/>
          <a:p>
            <a:pPr marL="0" indent="0" algn="l">
              <a:spcAft>
                <a:spcPts val="160"/>
              </a:spcAft>
              <a:buNone/>
            </a:pPr>
            <a:r>
              <a:rPr lang="en-US" sz="1500" b="1" dirty="0">
                <a:solidFill>
                  <a:srgbClr val="1F2937"/>
                </a:solidFill>
                <a:latin typeface="Avenir Next LT Pro"/>
                <a:cs typeface="Avenir Next LT Pro"/>
              </a:rPr>
              <a:t>Test Fails</a:t>
            </a:r>
          </a:p>
          <a:p>
            <a:pPr marL="0" indent="0" algn="l">
              <a:lnSpc>
                <a:spcPct val="108000"/>
              </a:lnSpc>
              <a:buNone/>
            </a:pPr>
            <a:r>
              <a:rPr lang="en-US" sz="1050" dirty="0">
                <a:solidFill>
                  <a:srgbClr val="5A6472"/>
                </a:solidFill>
                <a:latin typeface="Calibri"/>
                <a:cs typeface="Calibri"/>
              </a:rPr>
              <a:t>Logs, stack trace, API response and expected-versus-actual are submitted exactly as they are - no cleaning up, no rewriting.</a:t>
            </a:r>
          </a:p>
        </p:txBody>
      </p:sp>
      <p:sp>
        <p:nvSpPr>
          <p:cNvPr id="451" name="Arrow"/>
          <p:cNvSpPr/>
          <p:nvPr/>
        </p:nvSpPr>
        <p:spPr>
          <a:xfrm>
            <a:off x="4040000" y="2180000"/>
            <a:ext cx="200000" cy="160000"/>
          </a:xfrm>
          <a:prstGeom prst="rightArrow">
            <a:avLst>
              <a:gd name="adj1" fmla="val 50000"/>
              <a:gd name="adj2" fmla="val 50000"/>
            </a:avLst>
          </a:prstGeom>
          <a:solidFill>
            <a:srgbClr val="D8E2EE"/>
          </a:solidFill>
          <a:ln>
            <a:noFill/>
          </a:ln>
        </p:spPr>
        <p:txBody>
          <a:bodyPr/>
          <a:lstStyle/>
          <a:p>
            <a:endParaRPr lang="en-US"/>
          </a:p>
        </p:txBody>
      </p:sp>
      <p:sp>
        <p:nvSpPr>
          <p:cNvPr id="452" name="Shape"/>
          <p:cNvSpPr/>
          <p:nvPr/>
        </p:nvSpPr>
        <p:spPr>
          <a:xfrm>
            <a:off x="4370000" y="1180000"/>
            <a:ext cx="3450000" cy="228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53" name="Shape"/>
          <p:cNvSpPr/>
          <p:nvPr/>
        </p:nvSpPr>
        <p:spPr>
          <a:xfrm>
            <a:off x="4610000" y="1420000"/>
            <a:ext cx="560000" cy="560000"/>
          </a:xfrm>
          <a:prstGeom prst="ellipse">
            <a:avLst/>
          </a:prstGeom>
          <a:solidFill>
            <a:srgbClr val="29AAE1"/>
          </a:solidFill>
          <a:ln>
            <a:noFill/>
          </a:ln>
        </p:spPr>
        <p:txBody>
          <a:bodyPr wrap="square" lIns="0" tIns="0" rIns="0" bIns="0" anchor="ctr">
            <a:noAutofit/>
          </a:bodyPr>
          <a:lstStyle/>
          <a:p>
            <a:pPr marL="0" indent="0" algn="ctr">
              <a:buNone/>
            </a:pPr>
            <a:r>
              <a:rPr lang="en-US" sz="1400" b="1" dirty="0">
                <a:solidFill>
                  <a:srgbClr val="FFFFFF"/>
                </a:solidFill>
                <a:latin typeface="Avenir Next LT Pro"/>
                <a:cs typeface="Avenir Next LT Pro"/>
              </a:rPr>
              <a:t>02</a:t>
            </a:r>
          </a:p>
        </p:txBody>
      </p:sp>
      <p:sp>
        <p:nvSpPr>
          <p:cNvPr id="454" name="TextBox"/>
          <p:cNvSpPr txBox="1"/>
          <p:nvPr/>
        </p:nvSpPr>
        <p:spPr>
          <a:xfrm>
            <a:off x="4610000" y="2160000"/>
            <a:ext cx="2970000" cy="1080000"/>
          </a:xfrm>
          <a:prstGeom prst="rect">
            <a:avLst/>
          </a:prstGeom>
          <a:noFill/>
        </p:spPr>
        <p:txBody>
          <a:bodyPr wrap="square" lIns="0" tIns="0" rIns="0" bIns="0" anchor="t">
            <a:noAutofit/>
          </a:bodyPr>
          <a:lstStyle/>
          <a:p>
            <a:pPr marL="0" indent="0" algn="l">
              <a:spcAft>
                <a:spcPts val="160"/>
              </a:spcAft>
              <a:buNone/>
            </a:pPr>
            <a:r>
              <a:rPr lang="en-US" sz="1500" b="1" dirty="0">
                <a:solidFill>
                  <a:srgbClr val="1F2937"/>
                </a:solidFill>
                <a:latin typeface="Avenir Next LT Pro"/>
                <a:cs typeface="Avenir Next LT Pro"/>
              </a:rPr>
              <a:t>AI Investigates</a:t>
            </a:r>
          </a:p>
          <a:p>
            <a:pPr marL="0" indent="0" algn="l">
              <a:lnSpc>
                <a:spcPct val="108000"/>
              </a:lnSpc>
              <a:buNone/>
            </a:pPr>
            <a:r>
              <a:rPr lang="en-US" sz="1050" dirty="0">
                <a:solidFill>
                  <a:srgbClr val="5A6472"/>
                </a:solidFill>
                <a:latin typeface="Calibri"/>
                <a:cs typeface="Calibri"/>
              </a:rPr>
              <a:t>The failure is classified, scored for confidence, and every conclusion is tied to the evidence line that led there.</a:t>
            </a:r>
          </a:p>
        </p:txBody>
      </p:sp>
      <p:sp>
        <p:nvSpPr>
          <p:cNvPr id="455" name="Arrow"/>
          <p:cNvSpPr/>
          <p:nvPr/>
        </p:nvSpPr>
        <p:spPr>
          <a:xfrm>
            <a:off x="7950000" y="2180000"/>
            <a:ext cx="200000" cy="160000"/>
          </a:xfrm>
          <a:prstGeom prst="rightArrow">
            <a:avLst>
              <a:gd name="adj1" fmla="val 50000"/>
              <a:gd name="adj2" fmla="val 50000"/>
            </a:avLst>
          </a:prstGeom>
          <a:solidFill>
            <a:srgbClr val="D8E2EE"/>
          </a:solidFill>
          <a:ln>
            <a:noFill/>
          </a:ln>
        </p:spPr>
        <p:txBody>
          <a:bodyPr/>
          <a:lstStyle/>
          <a:p>
            <a:endParaRPr lang="en-US"/>
          </a:p>
        </p:txBody>
      </p:sp>
      <p:sp>
        <p:nvSpPr>
          <p:cNvPr id="456" name="Shape"/>
          <p:cNvSpPr/>
          <p:nvPr/>
        </p:nvSpPr>
        <p:spPr>
          <a:xfrm>
            <a:off x="8280000" y="1180000"/>
            <a:ext cx="3450000" cy="228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endParaRPr lang="en-US"/>
          </a:p>
        </p:txBody>
      </p:sp>
      <p:sp>
        <p:nvSpPr>
          <p:cNvPr id="457" name="Shape"/>
          <p:cNvSpPr/>
          <p:nvPr/>
        </p:nvSpPr>
        <p:spPr>
          <a:xfrm>
            <a:off x="8520000" y="1420000"/>
            <a:ext cx="560000" cy="560000"/>
          </a:xfrm>
          <a:prstGeom prst="ellipse">
            <a:avLst/>
          </a:prstGeom>
          <a:solidFill>
            <a:srgbClr val="24BFCC"/>
          </a:solidFill>
          <a:ln>
            <a:noFill/>
          </a:ln>
        </p:spPr>
        <p:txBody>
          <a:bodyPr wrap="square" lIns="0" tIns="0" rIns="0" bIns="0" anchor="ctr">
            <a:noAutofit/>
          </a:bodyPr>
          <a:lstStyle/>
          <a:p>
            <a:pPr marL="0" indent="0" algn="ctr">
              <a:buNone/>
            </a:pPr>
            <a:r>
              <a:rPr lang="en-US" sz="1400" b="1" dirty="0">
                <a:solidFill>
                  <a:srgbClr val="FFFFFF"/>
                </a:solidFill>
                <a:latin typeface="Avenir Next LT Pro"/>
                <a:cs typeface="Avenir Next LT Pro"/>
              </a:rPr>
              <a:t>03</a:t>
            </a:r>
          </a:p>
        </p:txBody>
      </p:sp>
      <p:sp>
        <p:nvSpPr>
          <p:cNvPr id="458" name="TextBox"/>
          <p:cNvSpPr txBox="1"/>
          <p:nvPr/>
        </p:nvSpPr>
        <p:spPr>
          <a:xfrm>
            <a:off x="8520000" y="2160000"/>
            <a:ext cx="2970000" cy="1080000"/>
          </a:xfrm>
          <a:prstGeom prst="rect">
            <a:avLst/>
          </a:prstGeom>
          <a:noFill/>
        </p:spPr>
        <p:txBody>
          <a:bodyPr wrap="square" lIns="0" tIns="0" rIns="0" bIns="0" anchor="t">
            <a:noAutofit/>
          </a:bodyPr>
          <a:lstStyle/>
          <a:p>
            <a:pPr marL="0" indent="0" algn="l">
              <a:spcAft>
                <a:spcPts val="160"/>
              </a:spcAft>
              <a:buNone/>
            </a:pPr>
            <a:r>
              <a:rPr lang="en-US" sz="1500" b="1" dirty="0">
                <a:solidFill>
                  <a:srgbClr val="1F2937"/>
                </a:solidFill>
                <a:latin typeface="Avenir Next LT Pro"/>
                <a:cs typeface="Avenir Next LT Pro"/>
              </a:rPr>
              <a:t>QA Gets the Answer</a:t>
            </a:r>
          </a:p>
          <a:p>
            <a:pPr marL="0" indent="0" algn="l">
              <a:lnSpc>
                <a:spcPct val="108000"/>
              </a:lnSpc>
              <a:buNone/>
            </a:pPr>
            <a:r>
              <a:rPr lang="en-US" sz="1050" dirty="0">
                <a:solidFill>
                  <a:srgbClr val="5A6472"/>
                </a:solidFill>
                <a:latin typeface="Calibri"/>
                <a:cs typeface="Calibri"/>
              </a:rPr>
              <a:t>A root cause, a Jira-ready defect, suggested regression tests and a release-risk verdict.</a:t>
            </a:r>
          </a:p>
        </p:txBody>
      </p:sp>
      <p:sp>
        <p:nvSpPr>
          <p:cNvPr id="459" name="Shape"/>
          <p:cNvSpPr/>
          <p:nvPr/>
        </p:nvSpPr>
        <p:spPr>
          <a:xfrm>
            <a:off x="460000" y="3800000"/>
            <a:ext cx="11270000" cy="1000000"/>
          </a:xfrm>
          <a:prstGeom prst="roundRect">
            <a:avLst>
              <a:gd name="adj" fmla="val 10000"/>
            </a:avLst>
          </a:prstGeom>
          <a:solidFill>
            <a:srgbClr val="F3F7FC"/>
          </a:solidFill>
          <a:ln w="9525">
            <a:solidFill>
              <a:srgbClr val="D8E2EE"/>
            </a:solidFill>
          </a:ln>
        </p:spPr>
        <p:txBody>
          <a:bodyPr wrap="square" lIns="45720" tIns="45720" rIns="45720" bIns="45720" anchor="ctr">
            <a:noAutofit/>
          </a:bodyPr>
          <a:lstStyle/>
          <a:p>
            <a:pPr marL="0" indent="0" algn="ctr">
              <a:spcAft>
                <a:spcPts val="140"/>
              </a:spcAft>
              <a:buNone/>
            </a:pPr>
            <a:r>
              <a:rPr lang="en-US" sz="1350" b="1" i="1" dirty="0">
                <a:solidFill>
                  <a:srgbClr val="2A3C90"/>
                </a:solidFill>
                <a:latin typeface="Avenir Next LT Pro"/>
                <a:cs typeface="Avenir Next LT Pro"/>
              </a:rPr>
              <a:t>“AI identifies the most probable root cause based on available evidence” - never a guarantee.</a:t>
            </a:r>
          </a:p>
          <a:p>
            <a:pPr marL="0" indent="0" algn="ctr">
              <a:buNone/>
            </a:pPr>
            <a:r>
              <a:rPr lang="en-US" sz="1100" dirty="0">
                <a:solidFill>
                  <a:srgbClr val="5A6472"/>
                </a:solidFill>
                <a:latin typeface="Calibri"/>
                <a:cs typeface="Calibri"/>
              </a:rPr>
              <a:t>That wording is enforced in the code that builds the verdict, not just written in the marketing copy.</a:t>
            </a:r>
          </a:p>
        </p:txBody>
      </p:sp>
      <p:sp>
        <p:nvSpPr>
          <p:cNvPr id="460" name="Shape"/>
          <p:cNvSpPr/>
          <p:nvPr/>
        </p:nvSpPr>
        <p:spPr>
          <a:xfrm>
            <a:off x="460000" y="5060000"/>
            <a:ext cx="2637500" cy="620000"/>
          </a:xfrm>
          <a:prstGeom prst="roundRect">
            <a:avLst>
              <a:gd name="adj" fmla="val 25000"/>
            </a:avLst>
          </a:prstGeom>
          <a:solidFill>
            <a:srgbClr val="E4F5ED"/>
          </a:solidFill>
          <a:ln>
            <a:noFill/>
          </a:ln>
        </p:spPr>
        <p:txBody>
          <a:bodyPr wrap="square" lIns="45720" tIns="45720" rIns="45720" bIns="45720" anchor="ctr">
            <a:noAutofit/>
          </a:bodyPr>
          <a:lstStyle/>
          <a:p>
            <a:pPr marL="0" indent="0" algn="ctr">
              <a:lnSpc>
                <a:spcPct val="100000"/>
              </a:lnSpc>
              <a:buNone/>
            </a:pPr>
            <a:r>
              <a:rPr lang="en-US" sz="1150" b="1" dirty="0">
                <a:solidFill>
                  <a:srgbClr val="1F6B4A"/>
                </a:solidFill>
                <a:latin typeface="Calibri"/>
                <a:cs typeface="Calibri"/>
              </a:rPr>
              <a:t>Root cause</a:t>
            </a:r>
          </a:p>
        </p:txBody>
      </p:sp>
      <p:sp>
        <p:nvSpPr>
          <p:cNvPr id="461" name="Shape"/>
          <p:cNvSpPr/>
          <p:nvPr/>
        </p:nvSpPr>
        <p:spPr>
          <a:xfrm>
            <a:off x="3337500" y="5060000"/>
            <a:ext cx="2637500" cy="620000"/>
          </a:xfrm>
          <a:prstGeom prst="roundRect">
            <a:avLst>
              <a:gd name="adj" fmla="val 25000"/>
            </a:avLst>
          </a:prstGeom>
          <a:solidFill>
            <a:srgbClr val="E4F5ED"/>
          </a:solidFill>
          <a:ln>
            <a:noFill/>
          </a:ln>
        </p:spPr>
        <p:txBody>
          <a:bodyPr wrap="square" lIns="45720" tIns="45720" rIns="45720" bIns="45720" anchor="ctr">
            <a:noAutofit/>
          </a:bodyPr>
          <a:lstStyle/>
          <a:p>
            <a:pPr marL="0" indent="0" algn="ctr">
              <a:lnSpc>
                <a:spcPct val="100000"/>
              </a:lnSpc>
              <a:buNone/>
            </a:pPr>
            <a:r>
              <a:rPr lang="en-US" sz="1150" b="1" dirty="0">
                <a:solidFill>
                  <a:srgbClr val="1F6B4A"/>
                </a:solidFill>
                <a:latin typeface="Calibri"/>
                <a:cs typeface="Calibri"/>
              </a:rPr>
              <a:t>Jira-ready defect</a:t>
            </a:r>
          </a:p>
        </p:txBody>
      </p:sp>
      <p:sp>
        <p:nvSpPr>
          <p:cNvPr id="462" name="Shape"/>
          <p:cNvSpPr/>
          <p:nvPr/>
        </p:nvSpPr>
        <p:spPr>
          <a:xfrm>
            <a:off x="6215000" y="5060000"/>
            <a:ext cx="2637500" cy="620000"/>
          </a:xfrm>
          <a:prstGeom prst="roundRect">
            <a:avLst>
              <a:gd name="adj" fmla="val 25000"/>
            </a:avLst>
          </a:prstGeom>
          <a:solidFill>
            <a:srgbClr val="E4F5ED"/>
          </a:solidFill>
          <a:ln>
            <a:noFill/>
          </a:ln>
        </p:spPr>
        <p:txBody>
          <a:bodyPr wrap="square" lIns="45720" tIns="45720" rIns="45720" bIns="45720" anchor="ctr">
            <a:noAutofit/>
          </a:bodyPr>
          <a:lstStyle/>
          <a:p>
            <a:pPr marL="0" indent="0" algn="ctr">
              <a:lnSpc>
                <a:spcPct val="100000"/>
              </a:lnSpc>
              <a:buNone/>
            </a:pPr>
            <a:r>
              <a:rPr lang="en-US" sz="1150" b="1" dirty="0">
                <a:solidFill>
                  <a:srgbClr val="1F6B4A"/>
                </a:solidFill>
                <a:latin typeface="Calibri"/>
                <a:cs typeface="Calibri"/>
              </a:rPr>
              <a:t>Regression tests</a:t>
            </a:r>
          </a:p>
        </p:txBody>
      </p:sp>
      <p:sp>
        <p:nvSpPr>
          <p:cNvPr id="463" name="Shape"/>
          <p:cNvSpPr/>
          <p:nvPr/>
        </p:nvSpPr>
        <p:spPr>
          <a:xfrm>
            <a:off x="9092500" y="5060000"/>
            <a:ext cx="2637500" cy="620000"/>
          </a:xfrm>
          <a:prstGeom prst="roundRect">
            <a:avLst>
              <a:gd name="adj" fmla="val 25000"/>
            </a:avLst>
          </a:prstGeom>
          <a:solidFill>
            <a:srgbClr val="E4F5ED"/>
          </a:solidFill>
          <a:ln>
            <a:noFill/>
          </a:ln>
        </p:spPr>
        <p:txBody>
          <a:bodyPr wrap="square" lIns="45720" tIns="45720" rIns="45720" bIns="45720" anchor="ctr">
            <a:noAutofit/>
          </a:bodyPr>
          <a:lstStyle/>
          <a:p>
            <a:pPr marL="0" indent="0" algn="ctr">
              <a:lnSpc>
                <a:spcPct val="100000"/>
              </a:lnSpc>
              <a:buNone/>
            </a:pPr>
            <a:r>
              <a:rPr lang="en-US" sz="1150" b="1" dirty="0">
                <a:solidFill>
                  <a:srgbClr val="1F6B4A"/>
                </a:solidFill>
                <a:latin typeface="Calibri"/>
                <a:cs typeface="Calibri"/>
              </a:rPr>
              <a:t>Release verdict</a:t>
            </a: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body" sz="quarter" idx="14"/>
          </p:nvPr>
        </p:nvSpPr>
        <p:spPr/>
        <p:txBody>
          <a:bodyPr/>
          <a:lstStyle/>
          <a:p>
            <a:r>
              <a:rPr lang="en-US" dirty="0"/>
              <a:t>Demo Data, Zero Setup</a:t>
            </a:r>
          </a:p>
        </p:txBody>
      </p:sp>
      <p:sp>
        <p:nvSpPr>
          <p:cNvPr id="3" name="Slide Number Placeholder"/>
          <p:cNvSpPr>
            <a:spLocks noGrp="1"/>
          </p:cNvSpPr>
          <p:nvPr>
            <p:ph type="sldNum" sz="quarter" idx="4"/>
          </p:nvPr>
        </p:nvSpPr>
        <p:spPr/>
        <p:txBody>
          <a:bodyPr/>
          <a:lstStyle/>
          <a:p>
            <a:fld id="{F58B522F-7218-4DD2-9A79-8098A090879F}" type="slidenum">
              <a:rPr lang="en-US" smtClean="0"/>
              <a:pPr/>
              <a:t>2</a:t>
            </a:fld>
            <a:endParaRPr lang="en-US"/>
          </a:p>
        </p:txBody>
      </p:sp>
      <p:sp>
        <p:nvSpPr>
          <p:cNvPr id="464" name="TextBox"/>
          <p:cNvSpPr txBox="1"/>
          <p:nvPr/>
        </p:nvSpPr>
        <p:spPr>
          <a:xfrm>
            <a:off x="460000" y="1030000"/>
            <a:ext cx="4400000" cy="300000"/>
          </a:xfrm>
          <a:prstGeom prst="rect">
            <a:avLst/>
          </a:prstGeom>
          <a:noFill/>
        </p:spPr>
        <p:txBody>
          <a:bodyPr wrap="square" lIns="0" tIns="0" rIns="0" bIns="0" anchor="t">
            <a:noAutofit/>
          </a:bodyPr>
          <a:lstStyle/>
          <a:p>
            <a:pPr marL="0" indent="0" algn="l">
              <a:buNone/>
            </a:pPr>
            <a:r>
              <a:rPr lang="en-US" sz="1200" b="1" spc="150" dirty="0">
                <a:solidFill>
                  <a:srgbClr val="1C76BC"/>
                </a:solidFill>
                <a:latin typeface="Avenir Next LT Pro"/>
                <a:cs typeface="Avenir Next LT Pro"/>
              </a:rPr>
              <a:t>ANALYZE FAILURE</a:t>
            </a:r>
          </a:p>
        </p:txBody>
      </p:sp>
      <p:sp>
        <p:nvSpPr>
          <p:cNvPr id="465" name="TextBox"/>
          <p:cNvSpPr txBox="1"/>
          <p:nvPr/>
        </p:nvSpPr>
        <p:spPr>
          <a:xfrm>
            <a:off x="460000" y="1420000"/>
            <a:ext cx="4400000" cy="2900000"/>
          </a:xfrm>
          <a:prstGeom prst="rect">
            <a:avLst/>
          </a:prstGeom>
          <a:noFill/>
        </p:spPr>
        <p:txBody>
          <a:bodyPr wrap="square" lIns="0" tIns="0" rIns="0" bIns="0" anchor="t">
            <a:noAutofit/>
          </a:bodyPr>
          <a:lstStyle/>
          <a:p>
            <a:pPr marL="0" indent="0" algn="l">
              <a:spcAft>
                <a:spcPts val="220"/>
              </a:spcAft>
              <a:buNone/>
            </a:pPr>
            <a:r>
              <a:rPr lang="en-US" sz="2000" b="1" dirty="0">
                <a:solidFill>
                  <a:srgbClr val="1F2937"/>
                </a:solidFill>
                <a:latin typeface="Avenir Next LT Pro"/>
                <a:cs typeface="Avenir Next LT Pro"/>
              </a:rPr>
              <a:t>One click loads a real case.</a:t>
            </a:r>
          </a:p>
          <a:p>
            <a:pPr marL="0" indent="0" algn="l">
              <a:lnSpc>
                <a:spcPct val="110000"/>
              </a:lnSpc>
              <a:spcAft>
                <a:spcPts val="200"/>
              </a:spcAft>
              <a:buNone/>
            </a:pPr>
            <a:r>
              <a:rPr lang="en-US" sz="1100" dirty="0">
                <a:solidFill>
                  <a:srgbClr val="5A6472"/>
                </a:solidFill>
                <a:latin typeface="Calibri"/>
                <a:cs typeface="Calibri"/>
              </a:rPr>
              <a:t>“Load Demo Failure” drops in a complete ShopSphere checkout scenario - logs, stack trace, API response and console output - so anyone can go from a blank page to a finished investigation in under a minute.</a:t>
            </a:r>
          </a:p>
          <a:p>
            <a:pPr marL="0" indent="0" algn="l">
              <a:lnSpc>
                <a:spcPct val="110000"/>
              </a:lnSpc>
              <a:buNone/>
            </a:pPr>
            <a:r>
              <a:rPr lang="en-US" sz="1100" dirty="0">
                <a:solidFill>
                  <a:srgbClr val="5A6472"/>
                </a:solidFill>
                <a:latin typeface="Calibri"/>
                <a:cs typeface="Calibri"/>
              </a:rPr>
              <a:t>An eleven-scenario dropdown covers the rest of the failure taxonomy, across five fictional companies.</a:t>
            </a:r>
          </a:p>
        </p:txBody>
      </p:sp>
      <p:sp>
        <p:nvSpPr>
          <p:cNvPr id="466" name="Shape"/>
          <p:cNvSpPr/>
          <p:nvPr/>
        </p:nvSpPr>
        <p:spPr>
          <a:xfrm>
            <a:off x="5300000" y="1180000"/>
            <a:ext cx="2010000" cy="94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00"/>
              </a:spcAft>
              <a:buNone/>
            </a:pPr>
            <a:r>
              <a:rPr lang="en-US" sz="2400" b="1" dirty="0">
                <a:solidFill>
                  <a:srgbClr val="1C76BC"/>
                </a:solidFill>
                <a:latin typeface="Avenir Next LT Pro"/>
                <a:cs typeface="Avenir Next LT Pro"/>
              </a:rPr>
              <a:t>150</a:t>
            </a:r>
          </a:p>
          <a:p>
            <a:pPr marL="0" indent="0" algn="ctr">
              <a:buNone/>
            </a:pPr>
            <a:r>
              <a:rPr lang="en-US" sz="800" b="1" spc="80" dirty="0">
                <a:solidFill>
                  <a:srgbClr val="5A6472"/>
                </a:solidFill>
                <a:latin typeface="Calibri"/>
                <a:cs typeface="Calibri"/>
              </a:rPr>
              <a:t>TESTS ANALYZED</a:t>
            </a:r>
          </a:p>
        </p:txBody>
      </p:sp>
      <p:sp>
        <p:nvSpPr>
          <p:cNvPr id="467" name="Shape"/>
          <p:cNvSpPr/>
          <p:nvPr/>
        </p:nvSpPr>
        <p:spPr>
          <a:xfrm>
            <a:off x="7510000" y="1180000"/>
            <a:ext cx="2010000" cy="94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00"/>
              </a:spcAft>
              <a:buNone/>
            </a:pPr>
            <a:r>
              <a:rPr lang="en-US" sz="2400" b="1" dirty="0">
                <a:solidFill>
                  <a:srgbClr val="8A5A00"/>
                </a:solidFill>
                <a:latin typeface="Avenir Next LT Pro"/>
                <a:cs typeface="Avenir Next LT Pro"/>
              </a:rPr>
              <a:t>14</a:t>
            </a:r>
          </a:p>
          <a:p>
            <a:pPr marL="0" indent="0" algn="ctr">
              <a:buNone/>
            </a:pPr>
            <a:r>
              <a:rPr lang="en-US" sz="800" b="1" spc="80" dirty="0">
                <a:solidFill>
                  <a:srgbClr val="5A6472"/>
                </a:solidFill>
                <a:latin typeface="Calibri"/>
                <a:cs typeface="Calibri"/>
              </a:rPr>
              <a:t>FAILED TESTS</a:t>
            </a:r>
          </a:p>
        </p:txBody>
      </p:sp>
      <p:sp>
        <p:nvSpPr>
          <p:cNvPr id="468" name="Shape"/>
          <p:cNvSpPr/>
          <p:nvPr/>
        </p:nvSpPr>
        <p:spPr>
          <a:xfrm>
            <a:off x="9720000" y="1180000"/>
            <a:ext cx="2010000" cy="94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00"/>
              </a:spcAft>
              <a:buNone/>
            </a:pPr>
            <a:r>
              <a:rPr lang="en-US" sz="2400" b="1" dirty="0">
                <a:solidFill>
                  <a:srgbClr val="B42318"/>
                </a:solidFill>
                <a:latin typeface="Avenir Next LT Pro"/>
                <a:cs typeface="Avenir Next LT Pro"/>
              </a:rPr>
              <a:t>4</a:t>
            </a:r>
          </a:p>
          <a:p>
            <a:pPr marL="0" indent="0" algn="ctr">
              <a:buNone/>
            </a:pPr>
            <a:r>
              <a:rPr lang="en-US" sz="800" b="1" spc="80" dirty="0">
                <a:solidFill>
                  <a:srgbClr val="5A6472"/>
                </a:solidFill>
                <a:latin typeface="Calibri"/>
                <a:cs typeface="Calibri"/>
              </a:rPr>
              <a:t>CRITICAL FAILURES</a:t>
            </a:r>
          </a:p>
        </p:txBody>
      </p:sp>
      <p:sp>
        <p:nvSpPr>
          <p:cNvPr id="469" name="Shape"/>
          <p:cNvSpPr/>
          <p:nvPr/>
        </p:nvSpPr>
        <p:spPr>
          <a:xfrm>
            <a:off x="5300000" y="2320000"/>
            <a:ext cx="2010000" cy="94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00"/>
              </a:spcAft>
              <a:buNone/>
            </a:pPr>
            <a:r>
              <a:rPr lang="en-US" sz="2400" b="1" dirty="0">
                <a:solidFill>
                  <a:srgbClr val="29AAE1"/>
                </a:solidFill>
                <a:latin typeface="Avenir Next LT Pro"/>
                <a:cs typeface="Avenir Next LT Pro"/>
              </a:rPr>
              <a:t>4</a:t>
            </a:r>
          </a:p>
          <a:p>
            <a:pPr marL="0" indent="0" algn="ctr">
              <a:buNone/>
            </a:pPr>
            <a:r>
              <a:rPr lang="en-US" sz="800" b="1" spc="80" dirty="0">
                <a:solidFill>
                  <a:srgbClr val="5A6472"/>
                </a:solidFill>
                <a:latin typeface="Calibri"/>
                <a:cs typeface="Calibri"/>
              </a:rPr>
              <a:t>ENVIRONMENT ISSUES</a:t>
            </a:r>
          </a:p>
        </p:txBody>
      </p:sp>
      <p:sp>
        <p:nvSpPr>
          <p:cNvPr id="470" name="Shape"/>
          <p:cNvSpPr/>
          <p:nvPr/>
        </p:nvSpPr>
        <p:spPr>
          <a:xfrm>
            <a:off x="7510000" y="2320000"/>
            <a:ext cx="2010000" cy="94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00"/>
              </a:spcAft>
              <a:buNone/>
            </a:pPr>
            <a:r>
              <a:rPr lang="en-US" sz="2400" b="1" dirty="0">
                <a:solidFill>
                  <a:srgbClr val="B939D8"/>
                </a:solidFill>
                <a:latin typeface="Avenir Next LT Pro"/>
                <a:cs typeface="Avenir Next LT Pro"/>
              </a:rPr>
              <a:t>5</a:t>
            </a:r>
          </a:p>
          <a:p>
            <a:pPr marL="0" indent="0" algn="ctr">
              <a:buNone/>
            </a:pPr>
            <a:r>
              <a:rPr lang="en-US" sz="800" b="1" spc="80" dirty="0">
                <a:solidFill>
                  <a:srgbClr val="5A6472"/>
                </a:solidFill>
                <a:latin typeface="Calibri"/>
                <a:cs typeface="Calibri"/>
              </a:rPr>
              <a:t>APPLICATION DEFECTS</a:t>
            </a:r>
          </a:p>
        </p:txBody>
      </p:sp>
      <p:sp>
        <p:nvSpPr>
          <p:cNvPr id="471" name="Shape"/>
          <p:cNvSpPr/>
          <p:nvPr/>
        </p:nvSpPr>
        <p:spPr>
          <a:xfrm>
            <a:off x="9720000" y="2320000"/>
            <a:ext cx="2010000" cy="94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00"/>
              </a:spcAft>
              <a:buNone/>
            </a:pPr>
            <a:r>
              <a:rPr lang="en-US" sz="2400" b="1" dirty="0">
                <a:solidFill>
                  <a:srgbClr val="24BFCC"/>
                </a:solidFill>
                <a:latin typeface="Avenir Next LT Pro"/>
                <a:cs typeface="Avenir Next LT Pro"/>
              </a:rPr>
              <a:t>3</a:t>
            </a:r>
          </a:p>
          <a:p>
            <a:pPr marL="0" indent="0" algn="ctr">
              <a:buNone/>
            </a:pPr>
            <a:r>
              <a:rPr lang="en-US" sz="800" b="1" spc="80" dirty="0">
                <a:solidFill>
                  <a:srgbClr val="5A6472"/>
                </a:solidFill>
                <a:latin typeface="Calibri"/>
                <a:cs typeface="Calibri"/>
              </a:rPr>
              <a:t>POTENTIAL FLAKY TESTS</a:t>
            </a:r>
          </a:p>
        </p:txBody>
      </p:sp>
      <p:sp>
        <p:nvSpPr>
          <p:cNvPr id="472" name="Shape"/>
          <p:cNvSpPr/>
          <p:nvPr/>
        </p:nvSpPr>
        <p:spPr>
          <a:xfrm>
            <a:off x="5300000" y="3500000"/>
            <a:ext cx="6430000" cy="1120000"/>
          </a:xfrm>
          <a:prstGeom prst="roundRect">
            <a:avLst>
              <a:gd name="adj" fmla="val 10000"/>
            </a:avLst>
          </a:prstGeom>
          <a:solidFill>
            <a:srgbClr val="F3F7FC"/>
          </a:solidFill>
          <a:ln w="9525">
            <a:solidFill>
              <a:srgbClr val="D8E2EE"/>
            </a:solidFill>
          </a:ln>
        </p:spPr>
        <p:txBody>
          <a:bodyPr wrap="square" lIns="45720" tIns="45720" rIns="45720" bIns="45720" anchor="ctr">
            <a:noAutofit/>
          </a:bodyPr>
          <a:lstStyle/>
          <a:p>
            <a:pPr marL="0" indent="0" algn="ctr">
              <a:spcAft>
                <a:spcPts val="140"/>
              </a:spcAft>
              <a:buNone/>
            </a:pPr>
            <a:r>
              <a:rPr lang="en-US" sz="1250" b="1" dirty="0">
                <a:solidFill>
                  <a:srgbClr val="B42318"/>
                </a:solidFill>
                <a:latin typeface="Avenir Next LT Pro"/>
                <a:cs typeface="Avenir Next LT Pro"/>
              </a:rPr>
              <a:t>RELEASE RISK  100 / 100</a:t>
            </a:r>
            <a:r>
              <a:rPr lang="en-US" sz="1100" b="1" dirty="0">
                <a:solidFill>
                  <a:srgbClr val="B42318"/>
                </a:solidFill>
                <a:latin typeface="Calibri"/>
                <a:cs typeface="Calibri"/>
              </a:rPr>
              <a:t>     CRITICAL RISK  ·  NO-GO</a:t>
            </a:r>
          </a:p>
          <a:p>
            <a:pPr marL="0" indent="0" algn="ctr">
              <a:buNone/>
            </a:pPr>
            <a:r>
              <a:rPr lang="en-US" sz="1050" dirty="0">
                <a:solidFill>
                  <a:srgbClr val="5A6472"/>
                </a:solidFill>
                <a:latin typeface="Calibri"/>
                <a:cs typeface="Calibri"/>
              </a:rPr>
              <a:t>Average AI confidence 81%   ·   Passed tests 136   ·   Release blocked on a critical checkout failure</a:t>
            </a:r>
          </a:p>
        </p:txBody>
      </p:sp>
      <p:sp>
        <p:nvSpPr>
          <p:cNvPr id="473" name="TextBox"/>
          <p:cNvSpPr txBox="1"/>
          <p:nvPr/>
        </p:nvSpPr>
        <p:spPr>
          <a:xfrm>
            <a:off x="460000" y="3540000"/>
            <a:ext cx="4400000" cy="300000"/>
          </a:xfrm>
          <a:prstGeom prst="rect">
            <a:avLst/>
          </a:prstGeom>
          <a:noFill/>
        </p:spPr>
        <p:txBody>
          <a:bodyPr wrap="square" lIns="0" tIns="0" rIns="0" bIns="0" anchor="t">
            <a:noAutofit/>
          </a:bodyPr>
          <a:lstStyle/>
          <a:p>
            <a:pPr marL="0" indent="0" algn="l">
              <a:buNone/>
            </a:pPr>
            <a:r>
              <a:rPr lang="en-US" sz="1050" b="1" spc="150" dirty="0">
                <a:solidFill>
                  <a:srgbClr val="2A3C90"/>
                </a:solidFill>
                <a:latin typeface="Avenir Next LT Pro"/>
                <a:cs typeface="Avenir Next LT Pro"/>
              </a:rPr>
              <a:t>SORTED INTO SIX CATEGORIES</a:t>
            </a:r>
          </a:p>
        </p:txBody>
      </p:sp>
      <p:sp>
        <p:nvSpPr>
          <p:cNvPr id="474" name="Shape"/>
          <p:cNvSpPr/>
          <p:nvPr/>
        </p:nvSpPr>
        <p:spPr>
          <a:xfrm>
            <a:off x="460000" y="3960000"/>
            <a:ext cx="2100000" cy="460000"/>
          </a:xfrm>
          <a:prstGeom prst="roundRect">
            <a:avLst>
              <a:gd name="adj" fmla="val 25000"/>
            </a:avLst>
          </a:prstGeom>
          <a:solidFill>
            <a:srgbClr val="FDECEC"/>
          </a:solidFill>
          <a:ln>
            <a:noFill/>
          </a:ln>
        </p:spPr>
        <p:txBody>
          <a:bodyPr wrap="square" lIns="45720" tIns="45720" rIns="45720" bIns="45720" anchor="ctr">
            <a:noAutofit/>
          </a:bodyPr>
          <a:lstStyle/>
          <a:p>
            <a:pPr marL="0" indent="0" algn="ctr">
              <a:lnSpc>
                <a:spcPct val="100000"/>
              </a:lnSpc>
              <a:buNone/>
            </a:pPr>
            <a:r>
              <a:rPr lang="en-US" sz="1000" b="1" dirty="0">
                <a:solidFill>
                  <a:srgbClr val="B42318"/>
                </a:solidFill>
                <a:latin typeface="Calibri"/>
                <a:cs typeface="Calibri"/>
              </a:rPr>
              <a:t>Application Defect</a:t>
            </a:r>
          </a:p>
        </p:txBody>
      </p:sp>
      <p:sp>
        <p:nvSpPr>
          <p:cNvPr id="475" name="Shape"/>
          <p:cNvSpPr/>
          <p:nvPr/>
        </p:nvSpPr>
        <p:spPr>
          <a:xfrm>
            <a:off x="2760000" y="3960000"/>
            <a:ext cx="2100000" cy="460000"/>
          </a:xfrm>
          <a:prstGeom prst="roundRect">
            <a:avLst>
              <a:gd name="adj" fmla="val 25000"/>
            </a:avLst>
          </a:prstGeom>
          <a:solidFill>
            <a:srgbClr val="FDF3E2"/>
          </a:solidFill>
          <a:ln>
            <a:noFill/>
          </a:ln>
        </p:spPr>
        <p:txBody>
          <a:bodyPr wrap="square" lIns="45720" tIns="45720" rIns="45720" bIns="45720" anchor="ctr">
            <a:noAutofit/>
          </a:bodyPr>
          <a:lstStyle/>
          <a:p>
            <a:pPr marL="0" indent="0" algn="ctr">
              <a:lnSpc>
                <a:spcPct val="100000"/>
              </a:lnSpc>
              <a:buNone/>
            </a:pPr>
            <a:r>
              <a:rPr lang="en-US" sz="1000" b="1" dirty="0">
                <a:solidFill>
                  <a:srgbClr val="8A5A00"/>
                </a:solidFill>
                <a:latin typeface="Calibri"/>
                <a:cs typeface="Calibri"/>
              </a:rPr>
              <a:t>Test Automation Issue</a:t>
            </a:r>
          </a:p>
        </p:txBody>
      </p:sp>
      <p:sp>
        <p:nvSpPr>
          <p:cNvPr id="476" name="Shape"/>
          <p:cNvSpPr/>
          <p:nvPr/>
        </p:nvSpPr>
        <p:spPr>
          <a:xfrm>
            <a:off x="460000" y="4520000"/>
            <a:ext cx="2100000" cy="460000"/>
          </a:xfrm>
          <a:prstGeom prst="roundRect">
            <a:avLst>
              <a:gd name="adj" fmla="val 25000"/>
            </a:avLst>
          </a:prstGeom>
          <a:solidFill>
            <a:srgbClr val="E8F1FB"/>
          </a:solidFill>
          <a:ln>
            <a:noFill/>
          </a:ln>
        </p:spPr>
        <p:txBody>
          <a:bodyPr wrap="square" lIns="45720" tIns="45720" rIns="45720" bIns="45720" anchor="ctr">
            <a:noAutofit/>
          </a:bodyPr>
          <a:lstStyle/>
          <a:p>
            <a:pPr marL="0" indent="0" algn="ctr">
              <a:lnSpc>
                <a:spcPct val="100000"/>
              </a:lnSpc>
              <a:buNone/>
            </a:pPr>
            <a:r>
              <a:rPr lang="en-US" sz="1000" b="1" dirty="0">
                <a:solidFill>
                  <a:srgbClr val="1C5A94"/>
                </a:solidFill>
                <a:latin typeface="Calibri"/>
                <a:cs typeface="Calibri"/>
              </a:rPr>
              <a:t>Environment Issue</a:t>
            </a:r>
          </a:p>
        </p:txBody>
      </p:sp>
      <p:sp>
        <p:nvSpPr>
          <p:cNvPr id="477" name="Shape"/>
          <p:cNvSpPr/>
          <p:nvPr/>
        </p:nvSpPr>
        <p:spPr>
          <a:xfrm>
            <a:off x="2760000" y="4520000"/>
            <a:ext cx="2100000" cy="460000"/>
          </a:xfrm>
          <a:prstGeom prst="roundRect">
            <a:avLst>
              <a:gd name="adj" fmla="val 25000"/>
            </a:avLst>
          </a:prstGeom>
          <a:solidFill>
            <a:srgbClr val="F5E9FB"/>
          </a:solidFill>
          <a:ln>
            <a:noFill/>
          </a:ln>
        </p:spPr>
        <p:txBody>
          <a:bodyPr wrap="square" lIns="45720" tIns="45720" rIns="45720" bIns="45720" anchor="ctr">
            <a:noAutofit/>
          </a:bodyPr>
          <a:lstStyle/>
          <a:p>
            <a:pPr marL="0" indent="0" algn="ctr">
              <a:lnSpc>
                <a:spcPct val="100000"/>
              </a:lnSpc>
              <a:buNone/>
            </a:pPr>
            <a:r>
              <a:rPr lang="en-US" sz="1000" b="1" dirty="0">
                <a:solidFill>
                  <a:srgbClr val="7B2C96"/>
                </a:solidFill>
                <a:latin typeface="Calibri"/>
                <a:cs typeface="Calibri"/>
              </a:rPr>
              <a:t>Configuration Error</a:t>
            </a:r>
          </a:p>
        </p:txBody>
      </p:sp>
      <p:sp>
        <p:nvSpPr>
          <p:cNvPr id="478" name="Shape"/>
          <p:cNvSpPr/>
          <p:nvPr/>
        </p:nvSpPr>
        <p:spPr>
          <a:xfrm>
            <a:off x="460000" y="5080000"/>
            <a:ext cx="2100000" cy="460000"/>
          </a:xfrm>
          <a:prstGeom prst="roundRect">
            <a:avLst>
              <a:gd name="adj" fmla="val 25000"/>
            </a:avLst>
          </a:prstGeom>
          <a:solidFill>
            <a:srgbClr val="E4F5ED"/>
          </a:solidFill>
          <a:ln>
            <a:noFill/>
          </a:ln>
        </p:spPr>
        <p:txBody>
          <a:bodyPr wrap="square" lIns="45720" tIns="45720" rIns="45720" bIns="45720" anchor="ctr">
            <a:noAutofit/>
          </a:bodyPr>
          <a:lstStyle/>
          <a:p>
            <a:pPr marL="0" indent="0" algn="ctr">
              <a:lnSpc>
                <a:spcPct val="100000"/>
              </a:lnSpc>
              <a:buNone/>
            </a:pPr>
            <a:r>
              <a:rPr lang="en-US" sz="1000" b="1" dirty="0">
                <a:solidFill>
                  <a:srgbClr val="1F6B4A"/>
                </a:solidFill>
                <a:latin typeface="Calibri"/>
                <a:cs typeface="Calibri"/>
              </a:rPr>
              <a:t>Flaky Test</a:t>
            </a:r>
          </a:p>
        </p:txBody>
      </p:sp>
      <p:sp>
        <p:nvSpPr>
          <p:cNvPr id="479" name="Shape"/>
          <p:cNvSpPr/>
          <p:nvPr/>
        </p:nvSpPr>
        <p:spPr>
          <a:xfrm>
            <a:off x="2760000" y="5080000"/>
            <a:ext cx="2100000" cy="460000"/>
          </a:xfrm>
          <a:prstGeom prst="roundRect">
            <a:avLst>
              <a:gd name="adj" fmla="val 25000"/>
            </a:avLst>
          </a:prstGeom>
          <a:solidFill>
            <a:srgbClr val="F3F7FC"/>
          </a:solidFill>
          <a:ln>
            <a:noFill/>
          </a:ln>
        </p:spPr>
        <p:txBody>
          <a:bodyPr wrap="square" lIns="45720" tIns="45720" rIns="45720" bIns="45720" anchor="ctr">
            <a:noAutofit/>
          </a:bodyPr>
          <a:lstStyle/>
          <a:p>
            <a:pPr marL="0" indent="0" algn="ctr">
              <a:lnSpc>
                <a:spcPct val="100000"/>
              </a:lnSpc>
              <a:buNone/>
            </a:pPr>
            <a:r>
              <a:rPr lang="en-US" sz="1000" b="1" dirty="0">
                <a:solidFill>
                  <a:srgbClr val="5A6472"/>
                </a:solidFill>
                <a:latin typeface="Calibri"/>
                <a:cs typeface="Calibri"/>
              </a:rPr>
              <a:t>Ambiguous</a:t>
            </a: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body" sz="quarter" idx="14"/>
          </p:nvPr>
        </p:nvSpPr>
        <p:spPr/>
        <p:txBody>
          <a:bodyPr/>
          <a:lstStyle/>
          <a:p>
            <a:r>
              <a:rPr lang="en-US" dirty="0"/>
              <a:t>Every Claim Points at a Receipt</a:t>
            </a:r>
          </a:p>
        </p:txBody>
      </p:sp>
      <p:sp>
        <p:nvSpPr>
          <p:cNvPr id="3" name="Slide Number Placeholder"/>
          <p:cNvSpPr>
            <a:spLocks noGrp="1"/>
          </p:cNvSpPr>
          <p:nvPr>
            <p:ph type="sldNum" sz="quarter" idx="4"/>
          </p:nvPr>
        </p:nvSpPr>
        <p:spPr/>
        <p:txBody>
          <a:bodyPr/>
          <a:lstStyle/>
          <a:p>
            <a:fld id="{F58B522F-7218-4DD2-9A79-8098A090879F}" type="slidenum">
              <a:rPr lang="en-US" smtClean="0"/>
              <a:pPr/>
              <a:t>2</a:t>
            </a:fld>
            <a:endParaRPr lang="en-US"/>
          </a:p>
        </p:txBody>
      </p:sp>
      <p:sp>
        <p:nvSpPr>
          <p:cNvPr id="480" name="TextBox"/>
          <p:cNvSpPr txBox="1"/>
          <p:nvPr/>
        </p:nvSpPr>
        <p:spPr>
          <a:xfrm>
            <a:off x="460000" y="1010000"/>
            <a:ext cx="10200000" cy="560000"/>
          </a:xfrm>
          <a:prstGeom prst="rect">
            <a:avLst/>
          </a:prstGeom>
          <a:noFill/>
        </p:spPr>
        <p:txBody>
          <a:bodyPr wrap="square" lIns="0" tIns="0" rIns="0" bIns="0" anchor="t">
            <a:noAutofit/>
          </a:bodyPr>
          <a:lstStyle/>
          <a:p>
            <a:pPr marL="0" indent="0" algn="l">
              <a:lnSpc>
                <a:spcPct val="108000"/>
              </a:lnSpc>
              <a:buNone/>
            </a:pPr>
            <a:r>
              <a:rPr lang="en-US" sz="1300" dirty="0">
                <a:solidFill>
                  <a:srgbClr val="5A6472"/>
                </a:solidFill>
                <a:latin typeface="Calibri"/>
                <a:cs typeface="Calibri"/>
              </a:rPr>
              <a:t>Category, severity, priority and a confidence score that arrives with a reason attached - not just a number.</a:t>
            </a:r>
          </a:p>
        </p:txBody>
      </p:sp>
      <p:sp>
        <p:nvSpPr>
          <p:cNvPr id="481" name="Shape"/>
          <p:cNvSpPr/>
          <p:nvPr/>
        </p:nvSpPr>
        <p:spPr>
          <a:xfrm>
            <a:off x="460000" y="1720000"/>
            <a:ext cx="5450000" cy="3300000"/>
          </a:xfrm>
          <a:prstGeom prst="roundRect">
            <a:avLst>
              <a:gd name="adj" fmla="val 10000"/>
            </a:avLst>
          </a:prstGeom>
          <a:solidFill>
            <a:srgbClr val="FFFFFF"/>
          </a:solidFill>
          <a:ln w="9525">
            <a:solidFill>
              <a:srgbClr val="D8E2EE"/>
            </a:solidFill>
          </a:ln>
        </p:spPr>
        <p:txBody>
          <a:bodyPr wrap="square" lIns="45720" tIns="45720" rIns="45720" bIns="45720" anchor="t">
            <a:noAutofit/>
          </a:bodyPr>
          <a:lstStyle/>
          <a:p>
            <a:endParaRPr lang="en-US"/>
          </a:p>
        </p:txBody>
      </p:sp>
      <p:sp>
        <p:nvSpPr>
          <p:cNvPr id="482" name="TextBox"/>
          <p:cNvSpPr txBox="1"/>
          <p:nvPr/>
        </p:nvSpPr>
        <p:spPr>
          <a:xfrm>
            <a:off x="700000" y="1930000"/>
            <a:ext cx="4970000" cy="300000"/>
          </a:xfrm>
          <a:prstGeom prst="rect">
            <a:avLst/>
          </a:prstGeom>
          <a:noFill/>
        </p:spPr>
        <p:txBody>
          <a:bodyPr wrap="square" lIns="0" tIns="0" rIns="0" bIns="0" anchor="t">
            <a:noAutofit/>
          </a:bodyPr>
          <a:lstStyle/>
          <a:p>
            <a:pPr marL="0" indent="0" algn="l">
              <a:buNone/>
            </a:pPr>
            <a:r>
              <a:rPr lang="en-US" sz="1100" b="1" spc="150" dirty="0">
                <a:solidFill>
                  <a:srgbClr val="2A3C90"/>
                </a:solidFill>
                <a:latin typeface="Avenir Next LT Pro"/>
                <a:cs typeface="Avenir Next LT Pro"/>
              </a:rPr>
              <a:t>AI VERDICT</a:t>
            </a:r>
          </a:p>
        </p:txBody>
      </p:sp>
      <p:sp>
        <p:nvSpPr>
          <p:cNvPr id="483" name="TextBox"/>
          <p:cNvSpPr txBox="1"/>
          <p:nvPr/>
        </p:nvSpPr>
        <p:spPr>
          <a:xfrm>
            <a:off x="700000" y="2340000"/>
            <a:ext cx="1700000" cy="320000"/>
          </a:xfrm>
          <a:prstGeom prst="rect">
            <a:avLst/>
          </a:prstGeom>
          <a:noFill/>
        </p:spPr>
        <p:txBody>
          <a:bodyPr wrap="square" lIns="0" tIns="0" rIns="0" bIns="0" anchor="t">
            <a:noAutofit/>
          </a:bodyPr>
          <a:lstStyle/>
          <a:p>
            <a:pPr marL="0" indent="0" algn="l">
              <a:buNone/>
            </a:pPr>
            <a:r>
              <a:rPr lang="en-US" sz="1050" b="1" dirty="0">
                <a:solidFill>
                  <a:srgbClr val="5A6472"/>
                </a:solidFill>
                <a:latin typeface="Calibri"/>
                <a:cs typeface="Calibri"/>
              </a:rPr>
              <a:t>Category</a:t>
            </a:r>
          </a:p>
        </p:txBody>
      </p:sp>
      <p:sp>
        <p:nvSpPr>
          <p:cNvPr id="484" name="TextBox"/>
          <p:cNvSpPr txBox="1"/>
          <p:nvPr/>
        </p:nvSpPr>
        <p:spPr>
          <a:xfrm>
            <a:off x="2480000" y="2340000"/>
            <a:ext cx="3190000" cy="320000"/>
          </a:xfrm>
          <a:prstGeom prst="rect">
            <a:avLst/>
          </a:prstGeom>
          <a:noFill/>
        </p:spPr>
        <p:txBody>
          <a:bodyPr wrap="square" lIns="0" tIns="0" rIns="0" bIns="0" anchor="t">
            <a:noAutofit/>
          </a:bodyPr>
          <a:lstStyle/>
          <a:p>
            <a:pPr marL="0" indent="0" algn="l">
              <a:buNone/>
            </a:pPr>
            <a:r>
              <a:rPr lang="en-US" sz="1100" b="1" dirty="0">
                <a:solidFill>
                  <a:srgbClr val="B42318"/>
                </a:solidFill>
                <a:latin typeface="Avenir Next LT Pro"/>
                <a:cs typeface="Avenir Next LT Pro"/>
              </a:rPr>
              <a:t>Application Defect</a:t>
            </a:r>
          </a:p>
        </p:txBody>
      </p:sp>
      <p:sp>
        <p:nvSpPr>
          <p:cNvPr id="485" name="TextBox"/>
          <p:cNvSpPr txBox="1"/>
          <p:nvPr/>
        </p:nvSpPr>
        <p:spPr>
          <a:xfrm>
            <a:off x="700000" y="2770000"/>
            <a:ext cx="1700000" cy="320000"/>
          </a:xfrm>
          <a:prstGeom prst="rect">
            <a:avLst/>
          </a:prstGeom>
          <a:noFill/>
        </p:spPr>
        <p:txBody>
          <a:bodyPr wrap="square" lIns="0" tIns="0" rIns="0" bIns="0" anchor="t">
            <a:noAutofit/>
          </a:bodyPr>
          <a:lstStyle/>
          <a:p>
            <a:pPr marL="0" indent="0" algn="l">
              <a:buNone/>
            </a:pPr>
            <a:r>
              <a:rPr lang="en-US" sz="1050" b="1" dirty="0">
                <a:solidFill>
                  <a:srgbClr val="5A6472"/>
                </a:solidFill>
                <a:latin typeface="Calibri"/>
                <a:cs typeface="Calibri"/>
              </a:rPr>
              <a:t>Severity</a:t>
            </a:r>
          </a:p>
        </p:txBody>
      </p:sp>
      <p:sp>
        <p:nvSpPr>
          <p:cNvPr id="486" name="TextBox"/>
          <p:cNvSpPr txBox="1"/>
          <p:nvPr/>
        </p:nvSpPr>
        <p:spPr>
          <a:xfrm>
            <a:off x="2480000" y="2770000"/>
            <a:ext cx="3190000" cy="320000"/>
          </a:xfrm>
          <a:prstGeom prst="rect">
            <a:avLst/>
          </a:prstGeom>
          <a:noFill/>
        </p:spPr>
        <p:txBody>
          <a:bodyPr wrap="square" lIns="0" tIns="0" rIns="0" bIns="0" anchor="t">
            <a:noAutofit/>
          </a:bodyPr>
          <a:lstStyle/>
          <a:p>
            <a:pPr marL="0" indent="0" algn="l">
              <a:buNone/>
            </a:pPr>
            <a:r>
              <a:rPr lang="en-US" sz="1100" b="1" dirty="0">
                <a:solidFill>
                  <a:srgbClr val="B42318"/>
                </a:solidFill>
                <a:latin typeface="Avenir Next LT Pro"/>
                <a:cs typeface="Avenir Next LT Pro"/>
              </a:rPr>
              <a:t>Critical</a:t>
            </a:r>
          </a:p>
        </p:txBody>
      </p:sp>
      <p:sp>
        <p:nvSpPr>
          <p:cNvPr id="487" name="TextBox"/>
          <p:cNvSpPr txBox="1"/>
          <p:nvPr/>
        </p:nvSpPr>
        <p:spPr>
          <a:xfrm>
            <a:off x="700000" y="3200000"/>
            <a:ext cx="1700000" cy="320000"/>
          </a:xfrm>
          <a:prstGeom prst="rect">
            <a:avLst/>
          </a:prstGeom>
          <a:noFill/>
        </p:spPr>
        <p:txBody>
          <a:bodyPr wrap="square" lIns="0" tIns="0" rIns="0" bIns="0" anchor="t">
            <a:noAutofit/>
          </a:bodyPr>
          <a:lstStyle/>
          <a:p>
            <a:pPr marL="0" indent="0" algn="l">
              <a:buNone/>
            </a:pPr>
            <a:r>
              <a:rPr lang="en-US" sz="1050" b="1" dirty="0">
                <a:solidFill>
                  <a:srgbClr val="5A6472"/>
                </a:solidFill>
                <a:latin typeface="Calibri"/>
                <a:cs typeface="Calibri"/>
              </a:rPr>
              <a:t>Priority</a:t>
            </a:r>
          </a:p>
        </p:txBody>
      </p:sp>
      <p:sp>
        <p:nvSpPr>
          <p:cNvPr id="488" name="TextBox"/>
          <p:cNvSpPr txBox="1"/>
          <p:nvPr/>
        </p:nvSpPr>
        <p:spPr>
          <a:xfrm>
            <a:off x="2480000" y="3200000"/>
            <a:ext cx="3190000" cy="320000"/>
          </a:xfrm>
          <a:prstGeom prst="rect">
            <a:avLst/>
          </a:prstGeom>
          <a:noFill/>
        </p:spPr>
        <p:txBody>
          <a:bodyPr wrap="square" lIns="0" tIns="0" rIns="0" bIns="0" anchor="t">
            <a:noAutofit/>
          </a:bodyPr>
          <a:lstStyle/>
          <a:p>
            <a:pPr marL="0" indent="0" algn="l">
              <a:buNone/>
            </a:pPr>
            <a:r>
              <a:rPr lang="en-US" sz="1100" b="1" dirty="0">
                <a:solidFill>
                  <a:srgbClr val="8A5A00"/>
                </a:solidFill>
                <a:latin typeface="Avenir Next LT Pro"/>
                <a:cs typeface="Avenir Next LT Pro"/>
              </a:rPr>
              <a:t>P1 · blocks release</a:t>
            </a:r>
          </a:p>
        </p:txBody>
      </p:sp>
      <p:sp>
        <p:nvSpPr>
          <p:cNvPr id="489" name="TextBox"/>
          <p:cNvSpPr txBox="1"/>
          <p:nvPr/>
        </p:nvSpPr>
        <p:spPr>
          <a:xfrm>
            <a:off x="700000" y="3630000"/>
            <a:ext cx="1700000" cy="320000"/>
          </a:xfrm>
          <a:prstGeom prst="rect">
            <a:avLst/>
          </a:prstGeom>
          <a:noFill/>
        </p:spPr>
        <p:txBody>
          <a:bodyPr wrap="square" lIns="0" tIns="0" rIns="0" bIns="0" anchor="t">
            <a:noAutofit/>
          </a:bodyPr>
          <a:lstStyle/>
          <a:p>
            <a:pPr marL="0" indent="0" algn="l">
              <a:buNone/>
            </a:pPr>
            <a:r>
              <a:rPr lang="en-US" sz="1050" b="1" dirty="0">
                <a:solidFill>
                  <a:srgbClr val="5A6472"/>
                </a:solidFill>
                <a:latin typeface="Calibri"/>
                <a:cs typeface="Calibri"/>
              </a:rPr>
              <a:t>Confidence</a:t>
            </a:r>
          </a:p>
        </p:txBody>
      </p:sp>
      <p:sp>
        <p:nvSpPr>
          <p:cNvPr id="490" name="TextBox"/>
          <p:cNvSpPr txBox="1"/>
          <p:nvPr/>
        </p:nvSpPr>
        <p:spPr>
          <a:xfrm>
            <a:off x="2480000" y="3630000"/>
            <a:ext cx="3190000" cy="320000"/>
          </a:xfrm>
          <a:prstGeom prst="rect">
            <a:avLst/>
          </a:prstGeom>
          <a:noFill/>
        </p:spPr>
        <p:txBody>
          <a:bodyPr wrap="square" lIns="0" tIns="0" rIns="0" bIns="0" anchor="t">
            <a:noAutofit/>
          </a:bodyPr>
          <a:lstStyle/>
          <a:p>
            <a:pPr marL="0" indent="0" algn="l">
              <a:buNone/>
            </a:pPr>
            <a:r>
              <a:rPr lang="en-US" sz="1100" b="1" dirty="0">
                <a:solidFill>
                  <a:srgbClr val="1F6B4A"/>
                </a:solidFill>
                <a:latin typeface="Avenir Next LT Pro"/>
                <a:cs typeface="Avenir Next LT Pro"/>
              </a:rPr>
              <a:t>94%  ·  Very High</a:t>
            </a:r>
          </a:p>
        </p:txBody>
      </p:sp>
      <p:sp>
        <p:nvSpPr>
          <p:cNvPr id="491" name="Shape"/>
          <p:cNvSpPr/>
          <p:nvPr/>
        </p:nvSpPr>
        <p:spPr>
          <a:xfrm>
            <a:off x="700000" y="4180000"/>
            <a:ext cx="4970000" cy="620000"/>
          </a:xfrm>
          <a:prstGeom prst="roundRect">
            <a:avLst>
              <a:gd name="adj" fmla="val 25000"/>
            </a:avLst>
          </a:prstGeom>
          <a:solidFill>
            <a:srgbClr val="E4F5ED"/>
          </a:solidFill>
          <a:ln>
            <a:noFill/>
          </a:ln>
        </p:spPr>
        <p:txBody>
          <a:bodyPr wrap="square" lIns="45720" tIns="45720" rIns="45720" bIns="45720" anchor="ctr">
            <a:noAutofit/>
          </a:bodyPr>
          <a:lstStyle/>
          <a:p>
            <a:pPr marL="0" indent="0" algn="ctr">
              <a:buNone/>
            </a:pPr>
            <a:r>
              <a:rPr lang="en-US" sz="1600" b="1" dirty="0">
                <a:solidFill>
                  <a:srgbClr val="1F6B4A"/>
                </a:solidFill>
                <a:latin typeface="Avenir Next LT Pro"/>
                <a:cs typeface="Avenir Next LT Pro"/>
              </a:rPr>
              <a:t>94%</a:t>
            </a:r>
            <a:r>
              <a:rPr lang="en-US" sz="1050" b="1" dirty="0">
                <a:solidFill>
                  <a:srgbClr val="1F6B4A"/>
                </a:solidFill>
                <a:latin typeface="Calibri"/>
                <a:cs typeface="Calibri"/>
              </a:rPr>
              <a:t>   CONFIDENCE · VERY HIGH</a:t>
            </a:r>
          </a:p>
        </p:txBody>
      </p:sp>
      <p:sp>
        <p:nvSpPr>
          <p:cNvPr id="492" name="Shape"/>
          <p:cNvSpPr/>
          <p:nvPr/>
        </p:nvSpPr>
        <p:spPr>
          <a:xfrm>
            <a:off x="6280000" y="1720000"/>
            <a:ext cx="5450000" cy="3300000"/>
          </a:xfrm>
          <a:prstGeom prst="roundRect">
            <a:avLst>
              <a:gd name="adj" fmla="val 10000"/>
            </a:avLst>
          </a:prstGeom>
          <a:solidFill>
            <a:srgbClr val="F3F7FC"/>
          </a:solidFill>
          <a:ln w="9525">
            <a:solidFill>
              <a:srgbClr val="D8E2EE"/>
            </a:solidFill>
          </a:ln>
        </p:spPr>
        <p:txBody>
          <a:bodyPr wrap="square" lIns="45720" tIns="45720" rIns="45720" bIns="45720" anchor="t">
            <a:noAutofit/>
          </a:bodyPr>
          <a:lstStyle/>
          <a:p>
            <a:endParaRPr lang="en-US"/>
          </a:p>
        </p:txBody>
      </p:sp>
      <p:sp>
        <p:nvSpPr>
          <p:cNvPr id="493" name="TextBox"/>
          <p:cNvSpPr txBox="1"/>
          <p:nvPr/>
        </p:nvSpPr>
        <p:spPr>
          <a:xfrm>
            <a:off x="6520000" y="1930000"/>
            <a:ext cx="4970000" cy="300000"/>
          </a:xfrm>
          <a:prstGeom prst="rect">
            <a:avLst/>
          </a:prstGeom>
          <a:noFill/>
        </p:spPr>
        <p:txBody>
          <a:bodyPr wrap="square" lIns="0" tIns="0" rIns="0" bIns="0" anchor="t">
            <a:noAutofit/>
          </a:bodyPr>
          <a:lstStyle/>
          <a:p>
            <a:pPr marL="0" indent="0" algn="l">
              <a:buNone/>
            </a:pPr>
            <a:r>
              <a:rPr lang="en-US" sz="1100" b="1" spc="150" dirty="0">
                <a:solidFill>
                  <a:srgbClr val="2A3C90"/>
                </a:solidFill>
                <a:latin typeface="Avenir Next LT Pro"/>
                <a:cs typeface="Avenir Next LT Pro"/>
              </a:rPr>
              <a:t>CITED EVIDENCE</a:t>
            </a:r>
          </a:p>
        </p:txBody>
      </p:sp>
      <p:sp>
        <p:nvSpPr>
          <p:cNvPr id="494" name="Shape"/>
          <p:cNvSpPr/>
          <p:nvPr/>
        </p:nvSpPr>
        <p:spPr>
          <a:xfrm>
            <a:off x="6520000" y="2340000"/>
            <a:ext cx="4970000" cy="64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l">
              <a:spcAft>
                <a:spcPts val="120"/>
              </a:spcAft>
              <a:buNone/>
            </a:pPr>
            <a:r>
              <a:rPr lang="en-US" sz="900" b="1" spc="100" dirty="0">
                <a:solidFill>
                  <a:srgbClr val="1C76BC"/>
                </a:solidFill>
                <a:latin typeface="Avenir Next LT Pro"/>
                <a:cs typeface="Avenir Next LT Pro"/>
              </a:rPr>
              <a:t>API RESPONSE</a:t>
            </a:r>
          </a:p>
          <a:p>
            <a:pPr marL="0" indent="0" algn="l">
              <a:lnSpc>
                <a:spcPct val="104000"/>
              </a:lnSpc>
              <a:buNone/>
            </a:pPr>
            <a:r>
              <a:rPr lang="en-US" sz="950" dirty="0">
                <a:solidFill>
                  <a:srgbClr val="1F2937"/>
                </a:solidFill>
                <a:latin typeface="Courier New"/>
                <a:cs typeface="Courier New"/>
              </a:rPr>
              <a:t>orderStatus: CONFIRMED, paymentStatus: SUCCESS</a:t>
            </a:r>
          </a:p>
        </p:txBody>
      </p:sp>
      <p:sp>
        <p:nvSpPr>
          <p:cNvPr id="495" name="Shape"/>
          <p:cNvSpPr/>
          <p:nvPr/>
        </p:nvSpPr>
        <p:spPr>
          <a:xfrm>
            <a:off x="6520000" y="3120000"/>
            <a:ext cx="4970000" cy="64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l">
              <a:spcAft>
                <a:spcPts val="120"/>
              </a:spcAft>
              <a:buNone/>
            </a:pPr>
            <a:r>
              <a:rPr lang="en-US" sz="900" b="1" spc="100" dirty="0">
                <a:solidFill>
                  <a:srgbClr val="1C76BC"/>
                </a:solidFill>
                <a:latin typeface="Avenir Next LT Pro"/>
                <a:cs typeface="Avenir Next LT Pro"/>
              </a:rPr>
              <a:t>SERVER LOG</a:t>
            </a:r>
          </a:p>
          <a:p>
            <a:pPr marL="0" indent="0" algn="l">
              <a:lnSpc>
                <a:spcPct val="104000"/>
              </a:lnSpc>
              <a:buNone/>
            </a:pPr>
            <a:r>
              <a:rPr lang="en-US" sz="950" dirty="0">
                <a:solidFill>
                  <a:srgbClr val="1F2937"/>
                </a:solidFill>
                <a:latin typeface="Courier New"/>
                <a:cs typeface="Courier New"/>
              </a:rPr>
              <a:t>HTTP 500 raised in PaymentService.capture()</a:t>
            </a:r>
          </a:p>
        </p:txBody>
      </p:sp>
      <p:sp>
        <p:nvSpPr>
          <p:cNvPr id="496" name="Shape"/>
          <p:cNvSpPr/>
          <p:nvPr/>
        </p:nvSpPr>
        <p:spPr>
          <a:xfrm>
            <a:off x="6520000" y="3900000"/>
            <a:ext cx="4970000" cy="64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l">
              <a:spcAft>
                <a:spcPts val="120"/>
              </a:spcAft>
              <a:buNone/>
            </a:pPr>
            <a:r>
              <a:rPr lang="en-US" sz="900" b="1" spc="100" dirty="0">
                <a:solidFill>
                  <a:srgbClr val="1C76BC"/>
                </a:solidFill>
                <a:latin typeface="Avenir Next LT Pro"/>
                <a:cs typeface="Avenir Next LT Pro"/>
              </a:rPr>
              <a:t>STACK TRACE</a:t>
            </a:r>
          </a:p>
          <a:p>
            <a:pPr marL="0" indent="0" algn="l">
              <a:lnSpc>
                <a:spcPct val="104000"/>
              </a:lnSpc>
              <a:buNone/>
            </a:pPr>
            <a:r>
              <a:rPr lang="en-US" sz="950" dirty="0">
                <a:solidFill>
                  <a:srgbClr val="1F2937"/>
                </a:solidFill>
                <a:latin typeface="Courier New"/>
                <a:cs typeface="Courier New"/>
              </a:rPr>
              <a:t>NullPointerException at line 214, order total null</a:t>
            </a:r>
          </a:p>
        </p:txBody>
      </p:sp>
      <p:sp>
        <p:nvSpPr>
          <p:cNvPr id="497" name="TextBox"/>
          <p:cNvSpPr txBox="1"/>
          <p:nvPr/>
        </p:nvSpPr>
        <p:spPr>
          <a:xfrm>
            <a:off x="460000" y="5220000"/>
            <a:ext cx="11270000" cy="420000"/>
          </a:xfrm>
          <a:prstGeom prst="rect">
            <a:avLst/>
          </a:prstGeom>
          <a:noFill/>
        </p:spPr>
        <p:txBody>
          <a:bodyPr wrap="square" lIns="0" tIns="0" rIns="0" bIns="0" anchor="t">
            <a:noAutofit/>
          </a:bodyPr>
          <a:lstStyle/>
          <a:p>
            <a:pPr marL="0" indent="0" algn="ctr">
              <a:buNone/>
            </a:pPr>
            <a:r>
              <a:rPr lang="en-US" sz="1050" i="1" dirty="0">
                <a:solidFill>
                  <a:srgbClr val="5A6472"/>
                </a:solidFill>
                <a:latin typeface="Calibri"/>
                <a:cs typeface="Calibri"/>
              </a:rPr>
              <a:t>Every evidence line is quoted from the logs that were actually submitted. Nothing is invented, and when the evidence is thin the confidence score says so instead of guessing.</a:t>
            </a: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body" sz="quarter" idx="14"/>
          </p:nvPr>
        </p:nvSpPr>
        <p:spPr/>
        <p:txBody>
          <a:bodyPr/>
          <a:lstStyle/>
          <a:p>
            <a:r>
              <a:rPr lang="en-US" dirty="0"/>
              <a:t>API Says SUCCESS. UI Times Out. Who's Guilty?</a:t>
            </a:r>
          </a:p>
        </p:txBody>
      </p:sp>
      <p:sp>
        <p:nvSpPr>
          <p:cNvPr id="3" name="Slide Number Placeholder"/>
          <p:cNvSpPr>
            <a:spLocks noGrp="1"/>
          </p:cNvSpPr>
          <p:nvPr>
            <p:ph type="sldNum" sz="quarter" idx="4"/>
          </p:nvPr>
        </p:nvSpPr>
        <p:spPr/>
        <p:txBody>
          <a:bodyPr/>
          <a:lstStyle/>
          <a:p>
            <a:fld id="{F58B522F-7218-4DD2-9A79-8098A090879F}" type="slidenum">
              <a:rPr lang="en-US" smtClean="0"/>
              <a:pPr/>
              <a:t>2</a:t>
            </a:fld>
            <a:endParaRPr lang="en-US"/>
          </a:p>
        </p:txBody>
      </p:sp>
      <p:sp>
        <p:nvSpPr>
          <p:cNvPr id="498" name="TextBox"/>
          <p:cNvSpPr txBox="1"/>
          <p:nvPr/>
        </p:nvSpPr>
        <p:spPr>
          <a:xfrm>
            <a:off x="460000" y="1010000"/>
            <a:ext cx="10600000" cy="620000"/>
          </a:xfrm>
          <a:prstGeom prst="rect">
            <a:avLst/>
          </a:prstGeom>
          <a:noFill/>
        </p:spPr>
        <p:txBody>
          <a:bodyPr wrap="square" lIns="0" tIns="0" rIns="0" bIns="0" anchor="t">
            <a:noAutofit/>
          </a:bodyPr>
          <a:lstStyle/>
          <a:p>
            <a:pPr marL="0" indent="0" algn="l">
              <a:lnSpc>
                <a:spcPct val="108000"/>
              </a:lnSpc>
              <a:buNone/>
            </a:pPr>
            <a:r>
              <a:rPr lang="en-US" sz="1300" dirty="0">
                <a:solidFill>
                  <a:srgbClr val="5A6472"/>
                </a:solidFill>
                <a:latin typeface="Calibri"/>
                <a:cs typeface="Calibri"/>
              </a:rPr>
              <a:t>A checkout order completes successfully on the backend, but the automation cannot find the confirmation banner. Most tools see “test failed” and stop right there.</a:t>
            </a:r>
          </a:p>
        </p:txBody>
      </p:sp>
      <p:sp>
        <p:nvSpPr>
          <p:cNvPr id="499" name="Shape"/>
          <p:cNvSpPr/>
          <p:nvPr/>
        </p:nvSpPr>
        <p:spPr>
          <a:xfrm>
            <a:off x="460000" y="1780000"/>
            <a:ext cx="5450000" cy="1420000"/>
          </a:xfrm>
          <a:prstGeom prst="roundRect">
            <a:avLst>
              <a:gd name="adj" fmla="val 10000"/>
            </a:avLst>
          </a:prstGeom>
          <a:solidFill>
            <a:srgbClr val="FDECEC"/>
          </a:solidFill>
          <a:ln>
            <a:noFill/>
          </a:ln>
        </p:spPr>
        <p:txBody>
          <a:bodyPr wrap="square" lIns="45720" tIns="45720" rIns="45720" bIns="45720" anchor="t">
            <a:noAutofit/>
          </a:bodyPr>
          <a:lstStyle/>
          <a:p>
            <a:endParaRPr lang="en-US"/>
          </a:p>
        </p:txBody>
      </p:sp>
      <p:sp>
        <p:nvSpPr>
          <p:cNvPr id="500" name="TextBox"/>
          <p:cNvSpPr txBox="1"/>
          <p:nvPr/>
        </p:nvSpPr>
        <p:spPr>
          <a:xfrm>
            <a:off x="760000" y="1990000"/>
            <a:ext cx="4850000" cy="1050000"/>
          </a:xfrm>
          <a:prstGeom prst="rect">
            <a:avLst/>
          </a:prstGeom>
          <a:noFill/>
        </p:spPr>
        <p:txBody>
          <a:bodyPr wrap="square" lIns="0" tIns="0" rIns="0" bIns="0" anchor="t">
            <a:noAutofit/>
          </a:bodyPr>
          <a:lstStyle/>
          <a:p>
            <a:pPr marL="0" indent="0" algn="l">
              <a:spcAft>
                <a:spcPts val="160"/>
              </a:spcAft>
              <a:buNone/>
            </a:pPr>
            <a:r>
              <a:rPr lang="en-US" sz="1000" b="1" spc="120" dirty="0">
                <a:solidFill>
                  <a:srgbClr val="B42318"/>
                </a:solidFill>
                <a:latin typeface="Avenir Next LT Pro"/>
                <a:cs typeface="Avenir Next LT Pro"/>
              </a:rPr>
              <a:t>✕  THE NAIVE READ</a:t>
            </a:r>
          </a:p>
          <a:p>
            <a:pPr marL="0" indent="0" algn="l">
              <a:spcAft>
                <a:spcPts val="140"/>
              </a:spcAft>
              <a:buNone/>
            </a:pPr>
            <a:r>
              <a:rPr lang="en-US" sz="1400" b="1" dirty="0">
                <a:solidFill>
                  <a:srgbClr val="1F2937"/>
                </a:solidFill>
                <a:latin typeface="Avenir Next LT Pro"/>
                <a:cs typeface="Avenir Next LT Pro"/>
              </a:rPr>
              <a:t>“Application Defect”</a:t>
            </a:r>
          </a:p>
          <a:p>
            <a:pPr marL="0" indent="0" algn="l">
              <a:lnSpc>
                <a:spcPct val="104000"/>
              </a:lnSpc>
              <a:buNone/>
            </a:pPr>
            <a:r>
              <a:rPr lang="en-US" sz="1050" dirty="0">
                <a:solidFill>
                  <a:srgbClr val="5A6472"/>
                </a:solidFill>
                <a:latin typeface="Calibri"/>
                <a:cs typeface="Calibri"/>
              </a:rPr>
              <a:t>Test failed, so file a bug against checkout. Wrong - it blames a working payment flow for a broken selector.</a:t>
            </a:r>
          </a:p>
        </p:txBody>
      </p:sp>
      <p:sp>
        <p:nvSpPr>
          <p:cNvPr id="501" name="Shape"/>
          <p:cNvSpPr/>
          <p:nvPr/>
        </p:nvSpPr>
        <p:spPr>
          <a:xfrm>
            <a:off x="6280000" y="1780000"/>
            <a:ext cx="5450000" cy="1420000"/>
          </a:xfrm>
          <a:prstGeom prst="roundRect">
            <a:avLst>
              <a:gd name="adj" fmla="val 10000"/>
            </a:avLst>
          </a:prstGeom>
          <a:solidFill>
            <a:srgbClr val="E4F5ED"/>
          </a:solidFill>
          <a:ln>
            <a:noFill/>
          </a:ln>
        </p:spPr>
        <p:txBody>
          <a:bodyPr wrap="square" lIns="45720" tIns="45720" rIns="45720" bIns="45720" anchor="t">
            <a:noAutofit/>
          </a:bodyPr>
          <a:lstStyle/>
          <a:p>
            <a:endParaRPr lang="en-US"/>
          </a:p>
        </p:txBody>
      </p:sp>
      <p:sp>
        <p:nvSpPr>
          <p:cNvPr id="502" name="TextBox"/>
          <p:cNvSpPr txBox="1"/>
          <p:nvPr/>
        </p:nvSpPr>
        <p:spPr>
          <a:xfrm>
            <a:off x="6580000" y="1990000"/>
            <a:ext cx="4850000" cy="1050000"/>
          </a:xfrm>
          <a:prstGeom prst="rect">
            <a:avLst/>
          </a:prstGeom>
          <a:noFill/>
        </p:spPr>
        <p:txBody>
          <a:bodyPr wrap="square" lIns="0" tIns="0" rIns="0" bIns="0" anchor="t">
            <a:noAutofit/>
          </a:bodyPr>
          <a:lstStyle/>
          <a:p>
            <a:pPr marL="0" indent="0" algn="l">
              <a:spcAft>
                <a:spcPts val="160"/>
              </a:spcAft>
              <a:buNone/>
            </a:pPr>
            <a:r>
              <a:rPr lang="en-US" sz="1000" b="1" spc="120" dirty="0">
                <a:solidFill>
                  <a:srgbClr val="1F6B4A"/>
                </a:solidFill>
                <a:latin typeface="Avenir Next LT Pro"/>
                <a:cs typeface="Avenir Next LT Pro"/>
              </a:rPr>
              <a:t>✓  AI QA DETECTIVE'S VERDICT</a:t>
            </a:r>
          </a:p>
          <a:p>
            <a:pPr marL="0" indent="0" algn="l">
              <a:spcAft>
                <a:spcPts val="140"/>
              </a:spcAft>
              <a:buNone/>
            </a:pPr>
            <a:r>
              <a:rPr lang="en-US" sz="1400" b="1" dirty="0">
                <a:solidFill>
                  <a:srgbClr val="1F2937"/>
                </a:solidFill>
                <a:latin typeface="Avenir Next LT Pro"/>
                <a:cs typeface="Avenir Next LT Pro"/>
              </a:rPr>
              <a:t>Test Automation Issue</a:t>
            </a:r>
          </a:p>
          <a:p>
            <a:pPr marL="0" indent="0" algn="l">
              <a:lnSpc>
                <a:spcPct val="104000"/>
              </a:lnSpc>
              <a:buNone/>
            </a:pPr>
            <a:r>
              <a:rPr lang="en-US" sz="1050" dirty="0">
                <a:solidFill>
                  <a:srgbClr val="5A6472"/>
                </a:solidFill>
                <a:latin typeface="Calibri"/>
                <a:cs typeface="Calibri"/>
              </a:rPr>
              <a:t>The API response is checked first. The failure is isolated to the automation's locator, not the application.</a:t>
            </a:r>
          </a:p>
        </p:txBody>
      </p:sp>
      <p:sp>
        <p:nvSpPr>
          <p:cNvPr id="503" name="Shape"/>
          <p:cNvSpPr/>
          <p:nvPr/>
        </p:nvSpPr>
        <p:spPr>
          <a:xfrm>
            <a:off x="460000" y="3420000"/>
            <a:ext cx="5450000" cy="1530000"/>
          </a:xfrm>
          <a:prstGeom prst="roundRect">
            <a:avLst>
              <a:gd name="adj" fmla="val 8000"/>
            </a:avLst>
          </a:prstGeom>
          <a:solidFill>
            <a:srgbClr val="252A38"/>
          </a:solidFill>
          <a:ln>
            <a:noFill/>
          </a:ln>
        </p:spPr>
        <p:txBody>
          <a:bodyPr wrap="square" lIns="137160" tIns="137160" rIns="137160" bIns="137160" anchor="t">
            <a:noAutofit/>
          </a:bodyPr>
          <a:lstStyle/>
          <a:p>
            <a:pPr marL="0" indent="0" algn="l">
              <a:spcAft>
                <a:spcPts val="180"/>
              </a:spcAft>
              <a:buNone/>
            </a:pPr>
            <a:r>
              <a:rPr lang="en-US" sz="900" b="1" spc="120" dirty="0">
                <a:solidFill>
                  <a:srgbClr val="8B93A7"/>
                </a:solidFill>
                <a:latin typeface="Avenir Next LT Pro"/>
                <a:cs typeface="Avenir Next LT Pro"/>
              </a:rPr>
              <a:t>API RESPONSE</a:t>
            </a:r>
          </a:p>
          <a:p>
            <a:pPr marL="0" indent="0" algn="l">
              <a:lnSpc>
                <a:spcPct val="118000"/>
              </a:lnSpc>
              <a:buNone/>
            </a:pPr>
            <a:r>
              <a:rPr lang="en-US" sz="950" dirty="0">
                <a:solidFill>
                  <a:srgbClr val="D6DEEB"/>
                </a:solidFill>
                <a:latin typeface="Courier New"/>
                <a:cs typeface="Courier New"/>
              </a:rPr>
              <a:t>{ "orderId": "ORD-88213", </a:t>
            </a:r>
          </a:p>
          <a:p>
            <a:pPr marL="0" indent="0" algn="l">
              <a:lnSpc>
                <a:spcPct val="118000"/>
              </a:lnSpc>
              <a:buNone/>
            </a:pPr>
            <a:r>
              <a:rPr lang="en-US" sz="950" dirty="0">
                <a:solidFill>
                  <a:srgbClr val="D6DEEB"/>
                </a:solidFill>
                <a:latin typeface="Courier New"/>
                <a:cs typeface="Courier New"/>
              </a:rPr>
              <a:t>  "orderStatus": </a:t>
            </a:r>
            <a:r>
              <a:rPr lang="en-US" sz="950" dirty="0">
                <a:solidFill>
                  <a:srgbClr val="ADDB67"/>
                </a:solidFill>
                <a:latin typeface="Courier New"/>
                <a:cs typeface="Courier New"/>
              </a:rPr>
              <a:t>"CONFIRMED"</a:t>
            </a:r>
            <a:r>
              <a:rPr lang="en-US" sz="950" dirty="0">
                <a:solidFill>
                  <a:srgbClr val="D6DEEB"/>
                </a:solidFill>
                <a:latin typeface="Courier New"/>
                <a:cs typeface="Courier New"/>
              </a:rPr>
              <a:t>,</a:t>
            </a:r>
          </a:p>
          <a:p>
            <a:pPr marL="0" indent="0" algn="l">
              <a:lnSpc>
                <a:spcPct val="118000"/>
              </a:lnSpc>
              <a:buNone/>
            </a:pPr>
            <a:r>
              <a:rPr lang="en-US" sz="950" dirty="0">
                <a:solidFill>
                  <a:srgbClr val="D6DEEB"/>
                </a:solidFill>
                <a:latin typeface="Courier New"/>
                <a:cs typeface="Courier New"/>
              </a:rPr>
              <a:t>  "paymentStatus": </a:t>
            </a:r>
            <a:r>
              <a:rPr lang="en-US" sz="950" dirty="0">
                <a:solidFill>
                  <a:srgbClr val="ADDB67"/>
                </a:solidFill>
                <a:latin typeface="Courier New"/>
                <a:cs typeface="Courier New"/>
              </a:rPr>
              <a:t>"SUCCESS"</a:t>
            </a:r>
            <a:r>
              <a:rPr lang="en-US" sz="950" dirty="0">
                <a:solidFill>
                  <a:srgbClr val="D6DEEB"/>
                </a:solidFill>
                <a:latin typeface="Courier New"/>
                <a:cs typeface="Courier New"/>
              </a:rPr>
              <a:t> }</a:t>
            </a:r>
          </a:p>
        </p:txBody>
      </p:sp>
      <p:sp>
        <p:nvSpPr>
          <p:cNvPr id="504" name="Shape"/>
          <p:cNvSpPr/>
          <p:nvPr/>
        </p:nvSpPr>
        <p:spPr>
          <a:xfrm>
            <a:off x="6280000" y="3420000"/>
            <a:ext cx="5450000" cy="1530000"/>
          </a:xfrm>
          <a:prstGeom prst="roundRect">
            <a:avLst>
              <a:gd name="adj" fmla="val 8000"/>
            </a:avLst>
          </a:prstGeom>
          <a:solidFill>
            <a:srgbClr val="252A38"/>
          </a:solidFill>
          <a:ln>
            <a:noFill/>
          </a:ln>
        </p:spPr>
        <p:txBody>
          <a:bodyPr wrap="square" lIns="137160" tIns="137160" rIns="137160" bIns="137160" anchor="t">
            <a:noAutofit/>
          </a:bodyPr>
          <a:lstStyle/>
          <a:p>
            <a:pPr marL="0" indent="0" algn="l">
              <a:spcAft>
                <a:spcPts val="180"/>
              </a:spcAft>
              <a:buNone/>
            </a:pPr>
            <a:r>
              <a:rPr lang="en-US" sz="900" b="1" spc="120" dirty="0">
                <a:solidFill>
                  <a:srgbClr val="8B93A7"/>
                </a:solidFill>
                <a:latin typeface="Avenir Next LT Pro"/>
                <a:cs typeface="Avenir Next LT Pro"/>
              </a:rPr>
              <a:t>PLAYWRIGHT</a:t>
            </a:r>
          </a:p>
          <a:p>
            <a:pPr marL="0" indent="0" algn="l">
              <a:lnSpc>
                <a:spcPct val="118000"/>
              </a:lnSpc>
              <a:buNone/>
            </a:pPr>
            <a:r>
              <a:rPr lang="en-US" sz="950" dirty="0">
                <a:solidFill>
                  <a:srgbClr val="D6DEEB"/>
                </a:solidFill>
                <a:latin typeface="Courier New"/>
                <a:cs typeface="Courier New"/>
              </a:rPr>
              <a:t>TimeoutError: </a:t>
            </a:r>
            <a:r>
              <a:rPr lang="en-US" sz="950" dirty="0">
                <a:solidFill>
                  <a:srgbClr val="82AAFF"/>
                </a:solidFill>
                <a:latin typeface="Courier New"/>
                <a:cs typeface="Courier New"/>
              </a:rPr>
              <a:t>.order-confirmation-banner</a:t>
            </a:r>
          </a:p>
          <a:p>
            <a:pPr marL="0" indent="0" algn="l">
              <a:lnSpc>
                <a:spcPct val="118000"/>
              </a:lnSpc>
              <a:buNone/>
            </a:pPr>
            <a:r>
              <a:rPr lang="en-US" sz="950" dirty="0">
                <a:solidFill>
                  <a:srgbClr val="8B93A7"/>
                </a:solidFill>
                <a:latin typeface="Courier New"/>
                <a:cs typeface="Courier New"/>
              </a:rPr>
              <a:t>  - locator resolved to 0 elements</a:t>
            </a:r>
          </a:p>
          <a:p>
            <a:pPr marL="0" indent="0" algn="l">
              <a:lnSpc>
                <a:spcPct val="118000"/>
              </a:lnSpc>
              <a:buNone/>
            </a:pPr>
            <a:r>
              <a:rPr lang="en-US" sz="950" dirty="0">
                <a:solidFill>
                  <a:srgbClr val="F96167"/>
                </a:solidFill>
                <a:latin typeface="Courier New"/>
                <a:cs typeface="Courier New"/>
              </a:rPr>
              <a:t>  - timeout exceeded</a:t>
            </a:r>
          </a:p>
        </p:txBody>
      </p:sp>
      <p:sp>
        <p:nvSpPr>
          <p:cNvPr id="505" name="TextBox"/>
          <p:cNvSpPr txBox="1"/>
          <p:nvPr/>
        </p:nvSpPr>
        <p:spPr>
          <a:xfrm>
            <a:off x="460000" y="5180000"/>
            <a:ext cx="11270000" cy="420000"/>
          </a:xfrm>
          <a:prstGeom prst="rect">
            <a:avLst/>
          </a:prstGeom>
          <a:noFill/>
        </p:spPr>
        <p:txBody>
          <a:bodyPr wrap="square" lIns="0" tIns="0" rIns="0" bIns="0" anchor="t">
            <a:noAutofit/>
          </a:bodyPr>
          <a:lstStyle/>
          <a:p>
            <a:pPr marL="0" indent="0" algn="ctr">
              <a:buNone/>
            </a:pPr>
            <a:r>
              <a:rPr lang="en-US" sz="1100" b="1" dirty="0">
                <a:solidFill>
                  <a:srgbClr val="2A3C90"/>
                </a:solidFill>
                <a:latin typeface="Avenir Next LT Pro"/>
                <a:cs typeface="Avenir Next LT Pro"/>
              </a:rPr>
              <a:t>Same red test. Opposite owner. Reading the API response before trusting the UI is what separates a real diagnosis from a guess.</a:t>
            </a:r>
          </a:p>
        </p:txBody>
      </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body" sz="quarter" idx="14"/>
          </p:nvPr>
        </p:nvSpPr>
        <p:spPr/>
        <p:txBody>
          <a:bodyPr/>
          <a:lstStyle/>
          <a:p>
            <a:r>
              <a:rPr lang="en-US" dirty="0"/>
              <a:t>From Verdict to Jira Ticket, One Click</a:t>
            </a:r>
          </a:p>
        </p:txBody>
      </p:sp>
      <p:sp>
        <p:nvSpPr>
          <p:cNvPr id="3" name="Slide Number Placeholder"/>
          <p:cNvSpPr>
            <a:spLocks noGrp="1"/>
          </p:cNvSpPr>
          <p:nvPr>
            <p:ph type="sldNum" sz="quarter" idx="4"/>
          </p:nvPr>
        </p:nvSpPr>
        <p:spPr/>
        <p:txBody>
          <a:bodyPr/>
          <a:lstStyle/>
          <a:p>
            <a:fld id="{F58B522F-7218-4DD2-9A79-8098A090879F}" type="slidenum">
              <a:rPr lang="en-US" smtClean="0"/>
              <a:pPr/>
              <a:t>2</a:t>
            </a:fld>
            <a:endParaRPr lang="en-US"/>
          </a:p>
        </p:txBody>
      </p:sp>
      <p:sp>
        <p:nvSpPr>
          <p:cNvPr id="506" name="TextBox"/>
          <p:cNvSpPr txBox="1"/>
          <p:nvPr/>
        </p:nvSpPr>
        <p:spPr>
          <a:xfrm>
            <a:off x="460000" y="1030000"/>
            <a:ext cx="4400000" cy="300000"/>
          </a:xfrm>
          <a:prstGeom prst="rect">
            <a:avLst/>
          </a:prstGeom>
          <a:noFill/>
        </p:spPr>
        <p:txBody>
          <a:bodyPr wrap="square" lIns="0" tIns="0" rIns="0" bIns="0" anchor="t">
            <a:noAutofit/>
          </a:bodyPr>
          <a:lstStyle/>
          <a:p>
            <a:pPr marL="0" indent="0" algn="l">
              <a:buNone/>
            </a:pPr>
            <a:r>
              <a:rPr lang="en-US" sz="1200" b="1" spc="150" dirty="0">
                <a:solidFill>
                  <a:srgbClr val="1C76BC"/>
                </a:solidFill>
                <a:latin typeface="Avenir Next LT Pro"/>
                <a:cs typeface="Avenir Next LT Pro"/>
              </a:rPr>
              <a:t>DEFECT GENERATOR</a:t>
            </a:r>
          </a:p>
        </p:txBody>
      </p:sp>
      <p:sp>
        <p:nvSpPr>
          <p:cNvPr id="507" name="TextBox"/>
          <p:cNvSpPr txBox="1"/>
          <p:nvPr/>
        </p:nvSpPr>
        <p:spPr>
          <a:xfrm>
            <a:off x="460000" y="1420000"/>
            <a:ext cx="4400000" cy="3000000"/>
          </a:xfrm>
          <a:prstGeom prst="rect">
            <a:avLst/>
          </a:prstGeom>
          <a:noFill/>
        </p:spPr>
        <p:txBody>
          <a:bodyPr wrap="square" lIns="0" tIns="0" rIns="0" bIns="0" anchor="t">
            <a:noAutofit/>
          </a:bodyPr>
          <a:lstStyle/>
          <a:p>
            <a:pPr marL="0" indent="0" algn="l">
              <a:spcAft>
                <a:spcPts val="220"/>
              </a:spcAft>
              <a:buNone/>
            </a:pPr>
            <a:r>
              <a:rPr lang="en-US" sz="1900" b="1" dirty="0">
                <a:solidFill>
                  <a:srgbClr val="1F2937"/>
                </a:solidFill>
                <a:latin typeface="Avenir Next LT Pro"/>
                <a:cs typeface="Avenir Next LT Pro"/>
              </a:rPr>
              <a:t>A ticket an engineer can act on.</a:t>
            </a:r>
          </a:p>
          <a:p>
            <a:pPr marL="0" indent="0" algn="l">
              <a:lnSpc>
                <a:spcPct val="110000"/>
              </a:lnSpc>
              <a:spcAft>
                <a:spcPts val="200"/>
              </a:spcAft>
              <a:buNone/>
            </a:pPr>
            <a:r>
              <a:rPr lang="en-US" sz="1100" dirty="0">
                <a:solidFill>
                  <a:srgbClr val="5A6472"/>
                </a:solidFill>
                <a:latin typeface="Calibri"/>
                <a:cs typeface="Calibri"/>
              </a:rPr>
              <a:t>Title, reproduction steps, root cause, business impact and a suggested fix - all generated from the confirmed analysis, with copy, download and export actions.</a:t>
            </a:r>
          </a:p>
          <a:p>
            <a:pPr marL="0" indent="0" algn="l">
              <a:lnSpc>
                <a:spcPct val="110000"/>
              </a:lnSpc>
              <a:buNone/>
            </a:pPr>
            <a:r>
              <a:rPr lang="en-US" sz="1100" dirty="0">
                <a:solidFill>
                  <a:srgbClr val="5A6472"/>
                </a:solidFill>
                <a:latin typeface="Calibri"/>
                <a:cs typeface="Calibri"/>
              </a:rPr>
              <a:t>“Create Jira Defect” always previews first, and never claims a ticket was created unless Jira's own API confirms it. Simulated tickets are labelled as such.</a:t>
            </a:r>
          </a:p>
        </p:txBody>
      </p:sp>
      <p:sp>
        <p:nvSpPr>
          <p:cNvPr id="508" name="TextBox"/>
          <p:cNvSpPr txBox="1"/>
          <p:nvPr/>
        </p:nvSpPr>
        <p:spPr>
          <a:xfrm>
            <a:off x="460000" y="3300000"/>
            <a:ext cx="4400000" cy="300000"/>
          </a:xfrm>
          <a:prstGeom prst="rect">
            <a:avLst/>
          </a:prstGeom>
          <a:noFill/>
        </p:spPr>
        <p:txBody>
          <a:bodyPr wrap="square" lIns="0" tIns="0" rIns="0" bIns="0" anchor="t">
            <a:noAutofit/>
          </a:bodyPr>
          <a:lstStyle/>
          <a:p>
            <a:pPr marL="0" indent="0" algn="l">
              <a:buNone/>
            </a:pPr>
            <a:r>
              <a:rPr lang="en-US" sz="1050" b="1" spc="150" dirty="0">
                <a:solidFill>
                  <a:srgbClr val="2A3C90"/>
                </a:solidFill>
                <a:latin typeface="Avenir Next LT Pro"/>
                <a:cs typeface="Avenir Next LT Pro"/>
              </a:rPr>
              <a:t>GENERATED FROM THE CONFIRMED ANALYSIS</a:t>
            </a:r>
          </a:p>
        </p:txBody>
      </p:sp>
      <p:sp>
        <p:nvSpPr>
          <p:cNvPr id="509" name="TextBox"/>
          <p:cNvSpPr txBox="1"/>
          <p:nvPr/>
        </p:nvSpPr>
        <p:spPr>
          <a:xfrm>
            <a:off x="460000" y="3720000"/>
            <a:ext cx="4400000" cy="280000"/>
          </a:xfrm>
          <a:prstGeom prst="rect">
            <a:avLst/>
          </a:prstGeom>
          <a:noFill/>
        </p:spPr>
        <p:txBody>
          <a:bodyPr wrap="square" lIns="0" tIns="0" rIns="0" bIns="0" anchor="t">
            <a:noAutofit/>
          </a:bodyPr>
          <a:lstStyle/>
          <a:p>
            <a:pPr marL="0" indent="0" algn="l">
              <a:buNone/>
            </a:pPr>
            <a:r>
              <a:rPr lang="en-US" sz="1050" b="1" dirty="0">
                <a:solidFill>
                  <a:srgbClr val="1F6B4A"/>
                </a:solidFill>
                <a:latin typeface="Avenir Next LT Pro"/>
                <a:cs typeface="Avenir Next LT Pro"/>
              </a:rPr>
              <a:t>✓   </a:t>
            </a:r>
            <a:r>
              <a:rPr lang="en-US" sz="1050" dirty="0">
                <a:solidFill>
                  <a:srgbClr val="5A6472"/>
                </a:solidFill>
                <a:latin typeface="Calibri"/>
                <a:cs typeface="Calibri"/>
              </a:rPr>
              <a:t>Summary title, written for a ticket queue</a:t>
            </a:r>
          </a:p>
        </p:txBody>
      </p:sp>
      <p:sp>
        <p:nvSpPr>
          <p:cNvPr id="510" name="TextBox"/>
          <p:cNvSpPr txBox="1"/>
          <p:nvPr/>
        </p:nvSpPr>
        <p:spPr>
          <a:xfrm>
            <a:off x="460000" y="4020000"/>
            <a:ext cx="4400000" cy="280000"/>
          </a:xfrm>
          <a:prstGeom prst="rect">
            <a:avLst/>
          </a:prstGeom>
          <a:noFill/>
        </p:spPr>
        <p:txBody>
          <a:bodyPr wrap="square" lIns="0" tIns="0" rIns="0" bIns="0" anchor="t">
            <a:noAutofit/>
          </a:bodyPr>
          <a:lstStyle/>
          <a:p>
            <a:pPr marL="0" indent="0" algn="l">
              <a:buNone/>
            </a:pPr>
            <a:r>
              <a:rPr lang="en-US" sz="1050" b="1" dirty="0">
                <a:solidFill>
                  <a:srgbClr val="1F6B4A"/>
                </a:solidFill>
                <a:latin typeface="Avenir Next LT Pro"/>
                <a:cs typeface="Avenir Next LT Pro"/>
              </a:rPr>
              <a:t>✓   </a:t>
            </a:r>
            <a:r>
              <a:rPr lang="en-US" sz="1050" dirty="0">
                <a:solidFill>
                  <a:srgbClr val="5A6472"/>
                </a:solidFill>
                <a:latin typeface="Calibri"/>
                <a:cs typeface="Calibri"/>
              </a:rPr>
              <a:t>Numbered reproduction steps</a:t>
            </a:r>
          </a:p>
        </p:txBody>
      </p:sp>
      <p:sp>
        <p:nvSpPr>
          <p:cNvPr id="511" name="TextBox"/>
          <p:cNvSpPr txBox="1"/>
          <p:nvPr/>
        </p:nvSpPr>
        <p:spPr>
          <a:xfrm>
            <a:off x="460000" y="4320000"/>
            <a:ext cx="4400000" cy="280000"/>
          </a:xfrm>
          <a:prstGeom prst="rect">
            <a:avLst/>
          </a:prstGeom>
          <a:noFill/>
        </p:spPr>
        <p:txBody>
          <a:bodyPr wrap="square" lIns="0" tIns="0" rIns="0" bIns="0" anchor="t">
            <a:noAutofit/>
          </a:bodyPr>
          <a:lstStyle/>
          <a:p>
            <a:pPr marL="0" indent="0" algn="l">
              <a:buNone/>
            </a:pPr>
            <a:r>
              <a:rPr lang="en-US" sz="1050" b="1" dirty="0">
                <a:solidFill>
                  <a:srgbClr val="1F6B4A"/>
                </a:solidFill>
                <a:latin typeface="Avenir Next LT Pro"/>
                <a:cs typeface="Avenir Next LT Pro"/>
              </a:rPr>
              <a:t>✓   </a:t>
            </a:r>
            <a:r>
              <a:rPr lang="en-US" sz="1050" dirty="0">
                <a:solidFill>
                  <a:srgbClr val="5A6472"/>
                </a:solidFill>
                <a:latin typeface="Calibri"/>
                <a:cs typeface="Calibri"/>
              </a:rPr>
              <a:t>Root cause plus the evidence behind it</a:t>
            </a:r>
          </a:p>
        </p:txBody>
      </p:sp>
      <p:sp>
        <p:nvSpPr>
          <p:cNvPr id="512" name="TextBox"/>
          <p:cNvSpPr txBox="1"/>
          <p:nvPr/>
        </p:nvSpPr>
        <p:spPr>
          <a:xfrm>
            <a:off x="460000" y="4620000"/>
            <a:ext cx="4400000" cy="280000"/>
          </a:xfrm>
          <a:prstGeom prst="rect">
            <a:avLst/>
          </a:prstGeom>
          <a:noFill/>
        </p:spPr>
        <p:txBody>
          <a:bodyPr wrap="square" lIns="0" tIns="0" rIns="0" bIns="0" anchor="t">
            <a:noAutofit/>
          </a:bodyPr>
          <a:lstStyle/>
          <a:p>
            <a:pPr marL="0" indent="0" algn="l">
              <a:buNone/>
            </a:pPr>
            <a:r>
              <a:rPr lang="en-US" sz="1050" b="1" dirty="0">
                <a:solidFill>
                  <a:srgbClr val="1F6B4A"/>
                </a:solidFill>
                <a:latin typeface="Avenir Next LT Pro"/>
                <a:cs typeface="Avenir Next LT Pro"/>
              </a:rPr>
              <a:t>✓   </a:t>
            </a:r>
            <a:r>
              <a:rPr lang="en-US" sz="1050" dirty="0">
                <a:solidFill>
                  <a:srgbClr val="5A6472"/>
                </a:solidFill>
                <a:latin typeface="Calibri"/>
                <a:cs typeface="Calibri"/>
              </a:rPr>
              <a:t>Business impact in plain language</a:t>
            </a:r>
          </a:p>
        </p:txBody>
      </p:sp>
      <p:sp>
        <p:nvSpPr>
          <p:cNvPr id="513" name="TextBox"/>
          <p:cNvSpPr txBox="1"/>
          <p:nvPr/>
        </p:nvSpPr>
        <p:spPr>
          <a:xfrm>
            <a:off x="460000" y="4920000"/>
            <a:ext cx="4400000" cy="280000"/>
          </a:xfrm>
          <a:prstGeom prst="rect">
            <a:avLst/>
          </a:prstGeom>
          <a:noFill/>
        </p:spPr>
        <p:txBody>
          <a:bodyPr wrap="square" lIns="0" tIns="0" rIns="0" bIns="0" anchor="t">
            <a:noAutofit/>
          </a:bodyPr>
          <a:lstStyle/>
          <a:p>
            <a:pPr marL="0" indent="0" algn="l">
              <a:buNone/>
            </a:pPr>
            <a:r>
              <a:rPr lang="en-US" sz="1050" b="1" dirty="0">
                <a:solidFill>
                  <a:srgbClr val="1F6B4A"/>
                </a:solidFill>
                <a:latin typeface="Avenir Next LT Pro"/>
                <a:cs typeface="Avenir Next LT Pro"/>
              </a:rPr>
              <a:t>✓   </a:t>
            </a:r>
            <a:r>
              <a:rPr lang="en-US" sz="1050" dirty="0">
                <a:solidFill>
                  <a:srgbClr val="5A6472"/>
                </a:solidFill>
                <a:latin typeface="Calibri"/>
                <a:cs typeface="Calibri"/>
              </a:rPr>
              <a:t>A concrete suggested fix</a:t>
            </a:r>
          </a:p>
        </p:txBody>
      </p:sp>
      <p:sp>
        <p:nvSpPr>
          <p:cNvPr id="514" name="Shape"/>
          <p:cNvSpPr/>
          <p:nvPr/>
        </p:nvSpPr>
        <p:spPr>
          <a:xfrm>
            <a:off x="5300000" y="1150000"/>
            <a:ext cx="6430000" cy="3880000"/>
          </a:xfrm>
          <a:prstGeom prst="roundRect">
            <a:avLst>
              <a:gd name="adj" fmla="val 10000"/>
            </a:avLst>
          </a:prstGeom>
          <a:solidFill>
            <a:srgbClr val="FFFFFF"/>
          </a:solidFill>
          <a:ln w="9525">
            <a:solidFill>
              <a:srgbClr val="D8E2EE"/>
            </a:solidFill>
          </a:ln>
        </p:spPr>
        <p:txBody>
          <a:bodyPr wrap="square" lIns="45720" tIns="45720" rIns="45720" bIns="45720" anchor="t">
            <a:noAutofit/>
          </a:bodyPr>
          <a:lstStyle/>
          <a:p>
            <a:endParaRPr lang="en-US"/>
          </a:p>
        </p:txBody>
      </p:sp>
      <p:sp>
        <p:nvSpPr>
          <p:cNvPr id="515" name="Shape"/>
          <p:cNvSpPr/>
          <p:nvPr/>
        </p:nvSpPr>
        <p:spPr>
          <a:xfrm>
            <a:off x="5300000" y="1150000"/>
            <a:ext cx="6430000" cy="560000"/>
          </a:xfrm>
          <a:prstGeom prst="roundRect">
            <a:avLst>
              <a:gd name="adj" fmla="val 10000"/>
            </a:avLst>
          </a:prstGeom>
          <a:solidFill>
            <a:srgbClr val="2A3C90"/>
          </a:solidFill>
          <a:ln>
            <a:noFill/>
          </a:ln>
        </p:spPr>
        <p:txBody>
          <a:bodyPr wrap="square" lIns="45720" tIns="45720" rIns="45720" bIns="45720" anchor="ctr">
            <a:noAutofit/>
          </a:bodyPr>
          <a:lstStyle/>
          <a:p>
            <a:pPr marL="0" indent="0" algn="ctr">
              <a:buNone/>
            </a:pPr>
            <a:r>
              <a:rPr lang="en-US" sz="1100" b="1" dirty="0">
                <a:solidFill>
                  <a:srgbClr val="FFFFFF"/>
                </a:solidFill>
                <a:latin typeface="Courier New"/>
                <a:cs typeface="Courier New"/>
              </a:rPr>
              <a:t>SHOP-4412</a:t>
            </a:r>
            <a:r>
              <a:rPr lang="en-US" sz="1050" b="1" dirty="0">
                <a:solidFill>
                  <a:srgbClr val="AEC4E8"/>
                </a:solidFill>
                <a:latin typeface="Calibri"/>
                <a:cs typeface="Calibri"/>
              </a:rPr>
              <a:t>     Bug  ·  P1  ·  Critical</a:t>
            </a:r>
          </a:p>
        </p:txBody>
      </p:sp>
      <p:sp>
        <p:nvSpPr>
          <p:cNvPr id="516" name="TextBox"/>
          <p:cNvSpPr txBox="1"/>
          <p:nvPr/>
        </p:nvSpPr>
        <p:spPr>
          <a:xfrm>
            <a:off x="5580000" y="1880000"/>
            <a:ext cx="5870000" cy="560000"/>
          </a:xfrm>
          <a:prstGeom prst="rect">
            <a:avLst/>
          </a:prstGeom>
          <a:noFill/>
        </p:spPr>
        <p:txBody>
          <a:bodyPr wrap="square" lIns="0" tIns="0" rIns="0" bIns="0" anchor="t">
            <a:noAutofit/>
          </a:bodyPr>
          <a:lstStyle/>
          <a:p>
            <a:pPr marL="0" indent="0" algn="l">
              <a:spcAft>
                <a:spcPts val="100"/>
              </a:spcAft>
              <a:buNone/>
            </a:pPr>
            <a:r>
              <a:rPr lang="en-US" sz="900" b="1" spc="100" dirty="0">
                <a:solidFill>
                  <a:srgbClr val="1C76BC"/>
                </a:solidFill>
                <a:latin typeface="Avenir Next LT Pro"/>
                <a:cs typeface="Avenir Next LT Pro"/>
              </a:rPr>
              <a:t>TITLE</a:t>
            </a:r>
          </a:p>
          <a:p>
            <a:pPr marL="0" indent="0" algn="l">
              <a:lnSpc>
                <a:spcPct val="104000"/>
              </a:lnSpc>
              <a:buNone/>
            </a:pPr>
            <a:r>
              <a:rPr lang="en-US" sz="1050" dirty="0">
                <a:solidFill>
                  <a:srgbClr val="1F2937"/>
                </a:solidFill>
                <a:latin typeface="Calibri"/>
                <a:cs typeface="Calibri"/>
              </a:rPr>
              <a:t>Checkout confirmation not returned after HTTP 500 in PaymentService</a:t>
            </a:r>
          </a:p>
        </p:txBody>
      </p:sp>
      <p:sp>
        <p:nvSpPr>
          <p:cNvPr id="517" name="TextBox"/>
          <p:cNvSpPr txBox="1"/>
          <p:nvPr/>
        </p:nvSpPr>
        <p:spPr>
          <a:xfrm>
            <a:off x="5580000" y="2500000"/>
            <a:ext cx="5870000" cy="560000"/>
          </a:xfrm>
          <a:prstGeom prst="rect">
            <a:avLst/>
          </a:prstGeom>
          <a:noFill/>
        </p:spPr>
        <p:txBody>
          <a:bodyPr wrap="square" lIns="0" tIns="0" rIns="0" bIns="0" anchor="t">
            <a:noAutofit/>
          </a:bodyPr>
          <a:lstStyle/>
          <a:p>
            <a:pPr marL="0" indent="0" algn="l">
              <a:spcAft>
                <a:spcPts val="100"/>
              </a:spcAft>
              <a:buNone/>
            </a:pPr>
            <a:r>
              <a:rPr lang="en-US" sz="900" b="1" spc="100" dirty="0">
                <a:solidFill>
                  <a:srgbClr val="1C76BC"/>
                </a:solidFill>
                <a:latin typeface="Avenir Next LT Pro"/>
                <a:cs typeface="Avenir Next LT Pro"/>
              </a:rPr>
              <a:t>ROOT CAUSE</a:t>
            </a:r>
          </a:p>
          <a:p>
            <a:pPr marL="0" indent="0" algn="l">
              <a:lnSpc>
                <a:spcPct val="104000"/>
              </a:lnSpc>
              <a:buNone/>
            </a:pPr>
            <a:r>
              <a:rPr lang="en-US" sz="1050" dirty="0">
                <a:solidFill>
                  <a:srgbClr val="1F2937"/>
                </a:solidFill>
                <a:latin typeface="Calibri"/>
                <a:cs typeface="Calibri"/>
              </a:rPr>
              <a:t>Order total resolves to null, raising a NullPointerException on capture</a:t>
            </a:r>
          </a:p>
        </p:txBody>
      </p:sp>
      <p:sp>
        <p:nvSpPr>
          <p:cNvPr id="518" name="TextBox"/>
          <p:cNvSpPr txBox="1"/>
          <p:nvPr/>
        </p:nvSpPr>
        <p:spPr>
          <a:xfrm>
            <a:off x="5580000" y="3120000"/>
            <a:ext cx="5870000" cy="560000"/>
          </a:xfrm>
          <a:prstGeom prst="rect">
            <a:avLst/>
          </a:prstGeom>
          <a:noFill/>
        </p:spPr>
        <p:txBody>
          <a:bodyPr wrap="square" lIns="0" tIns="0" rIns="0" bIns="0" anchor="t">
            <a:noAutofit/>
          </a:bodyPr>
          <a:lstStyle/>
          <a:p>
            <a:pPr marL="0" indent="0" algn="l">
              <a:spcAft>
                <a:spcPts val="100"/>
              </a:spcAft>
              <a:buNone/>
            </a:pPr>
            <a:r>
              <a:rPr lang="en-US" sz="900" b="1" spc="100" dirty="0">
                <a:solidFill>
                  <a:srgbClr val="1C76BC"/>
                </a:solidFill>
                <a:latin typeface="Avenir Next LT Pro"/>
                <a:cs typeface="Avenir Next LT Pro"/>
              </a:rPr>
              <a:t>BUSINESS IMPACT</a:t>
            </a:r>
          </a:p>
          <a:p>
            <a:pPr marL="0" indent="0" algn="l">
              <a:lnSpc>
                <a:spcPct val="104000"/>
              </a:lnSpc>
              <a:buNone/>
            </a:pPr>
            <a:r>
              <a:rPr lang="en-US" sz="1050" dirty="0">
                <a:solidFill>
                  <a:srgbClr val="1F2937"/>
                </a:solidFill>
                <a:latin typeface="Calibri"/>
                <a:cs typeface="Calibri"/>
              </a:rPr>
              <a:t>Customers charged without receiving order confirmation</a:t>
            </a:r>
          </a:p>
        </p:txBody>
      </p:sp>
      <p:sp>
        <p:nvSpPr>
          <p:cNvPr id="519" name="TextBox"/>
          <p:cNvSpPr txBox="1"/>
          <p:nvPr/>
        </p:nvSpPr>
        <p:spPr>
          <a:xfrm>
            <a:off x="5580000" y="3740000"/>
            <a:ext cx="5870000" cy="560000"/>
          </a:xfrm>
          <a:prstGeom prst="rect">
            <a:avLst/>
          </a:prstGeom>
          <a:noFill/>
        </p:spPr>
        <p:txBody>
          <a:bodyPr wrap="square" lIns="0" tIns="0" rIns="0" bIns="0" anchor="t">
            <a:noAutofit/>
          </a:bodyPr>
          <a:lstStyle/>
          <a:p>
            <a:pPr marL="0" indent="0" algn="l">
              <a:spcAft>
                <a:spcPts val="100"/>
              </a:spcAft>
              <a:buNone/>
            </a:pPr>
            <a:r>
              <a:rPr lang="en-US" sz="900" b="1" spc="100" dirty="0">
                <a:solidFill>
                  <a:srgbClr val="1C76BC"/>
                </a:solidFill>
                <a:latin typeface="Avenir Next LT Pro"/>
                <a:cs typeface="Avenir Next LT Pro"/>
              </a:rPr>
              <a:t>SUGGESTED FIX</a:t>
            </a:r>
          </a:p>
          <a:p>
            <a:pPr marL="0" indent="0" algn="l">
              <a:lnSpc>
                <a:spcPct val="104000"/>
              </a:lnSpc>
              <a:buNone/>
            </a:pPr>
            <a:r>
              <a:rPr lang="en-US" sz="1050" dirty="0">
                <a:solidFill>
                  <a:srgbClr val="1F2937"/>
                </a:solidFill>
                <a:latin typeface="Calibri"/>
                <a:cs typeface="Calibri"/>
              </a:rPr>
              <a:t>Guard the null total and return a typed error to the confirmation route</a:t>
            </a:r>
          </a:p>
        </p:txBody>
      </p:sp>
      <p:sp>
        <p:nvSpPr>
          <p:cNvPr id="520" name="Shape"/>
          <p:cNvSpPr/>
          <p:nvPr/>
        </p:nvSpPr>
        <p:spPr>
          <a:xfrm>
            <a:off x="5580000" y="4400000"/>
            <a:ext cx="1823333" cy="480000"/>
          </a:xfrm>
          <a:prstGeom prst="roundRect">
            <a:avLst>
              <a:gd name="adj" fmla="val 25000"/>
            </a:avLst>
          </a:prstGeom>
          <a:solidFill>
            <a:srgbClr val="E8F1FB"/>
          </a:solidFill>
          <a:ln>
            <a:noFill/>
          </a:ln>
        </p:spPr>
        <p:txBody>
          <a:bodyPr wrap="square" lIns="45720" tIns="45720" rIns="45720" bIns="45720" anchor="ctr">
            <a:noAutofit/>
          </a:bodyPr>
          <a:lstStyle/>
          <a:p>
            <a:pPr marL="0" indent="0" algn="ctr">
              <a:lnSpc>
                <a:spcPct val="100000"/>
              </a:lnSpc>
              <a:buNone/>
            </a:pPr>
            <a:r>
              <a:rPr lang="en-US" sz="1000" b="1" dirty="0">
                <a:solidFill>
                  <a:srgbClr val="1C5A94"/>
                </a:solidFill>
                <a:latin typeface="Calibri"/>
                <a:cs typeface="Calibri"/>
              </a:rPr>
              <a:t>Copy</a:t>
            </a:r>
          </a:p>
        </p:txBody>
      </p:sp>
      <p:sp>
        <p:nvSpPr>
          <p:cNvPr id="521" name="Shape"/>
          <p:cNvSpPr/>
          <p:nvPr/>
        </p:nvSpPr>
        <p:spPr>
          <a:xfrm>
            <a:off x="7603333" y="4400000"/>
            <a:ext cx="1823333" cy="480000"/>
          </a:xfrm>
          <a:prstGeom prst="roundRect">
            <a:avLst>
              <a:gd name="adj" fmla="val 25000"/>
            </a:avLst>
          </a:prstGeom>
          <a:solidFill>
            <a:srgbClr val="E8F1FB"/>
          </a:solidFill>
          <a:ln>
            <a:noFill/>
          </a:ln>
        </p:spPr>
        <p:txBody>
          <a:bodyPr wrap="square" lIns="45720" tIns="45720" rIns="45720" bIns="45720" anchor="ctr">
            <a:noAutofit/>
          </a:bodyPr>
          <a:lstStyle/>
          <a:p>
            <a:pPr marL="0" indent="0" algn="ctr">
              <a:lnSpc>
                <a:spcPct val="100000"/>
              </a:lnSpc>
              <a:buNone/>
            </a:pPr>
            <a:r>
              <a:rPr lang="en-US" sz="1000" b="1" dirty="0">
                <a:solidFill>
                  <a:srgbClr val="1C5A94"/>
                </a:solidFill>
                <a:latin typeface="Calibri"/>
                <a:cs typeface="Calibri"/>
              </a:rPr>
              <a:t>Download</a:t>
            </a:r>
          </a:p>
        </p:txBody>
      </p:sp>
      <p:sp>
        <p:nvSpPr>
          <p:cNvPr id="522" name="Shape"/>
          <p:cNvSpPr/>
          <p:nvPr/>
        </p:nvSpPr>
        <p:spPr>
          <a:xfrm>
            <a:off x="9626666" y="4400000"/>
            <a:ext cx="1823333" cy="480000"/>
          </a:xfrm>
          <a:prstGeom prst="roundRect">
            <a:avLst>
              <a:gd name="adj" fmla="val 25000"/>
            </a:avLst>
          </a:prstGeom>
          <a:solidFill>
            <a:srgbClr val="E4F5ED"/>
          </a:solidFill>
          <a:ln>
            <a:noFill/>
          </a:ln>
        </p:spPr>
        <p:txBody>
          <a:bodyPr wrap="square" lIns="45720" tIns="45720" rIns="45720" bIns="45720" anchor="ctr">
            <a:noAutofit/>
          </a:bodyPr>
          <a:lstStyle/>
          <a:p>
            <a:pPr marL="0" indent="0" algn="ctr">
              <a:lnSpc>
                <a:spcPct val="100000"/>
              </a:lnSpc>
              <a:buNone/>
            </a:pPr>
            <a:r>
              <a:rPr lang="en-US" sz="1000" b="1" dirty="0">
                <a:solidFill>
                  <a:srgbClr val="1F6B4A"/>
                </a:solidFill>
                <a:latin typeface="Calibri"/>
                <a:cs typeface="Calibri"/>
              </a:rPr>
              <a:t>Export to Jira</a:t>
            </a:r>
          </a:p>
        </p:txBody>
      </p:sp>
      <p:sp>
        <p:nvSpPr>
          <p:cNvPr id="523" name="Shape"/>
          <p:cNvSpPr/>
          <p:nvPr/>
        </p:nvSpPr>
        <p:spPr>
          <a:xfrm>
            <a:off x="460000" y="5260000"/>
            <a:ext cx="11270000" cy="620000"/>
          </a:xfrm>
          <a:prstGeom prst="roundRect">
            <a:avLst>
              <a:gd name="adj" fmla="val 10000"/>
            </a:avLst>
          </a:prstGeom>
          <a:solidFill>
            <a:srgbClr val="F3F7FC"/>
          </a:solidFill>
          <a:ln w="9525">
            <a:solidFill>
              <a:srgbClr val="D8E2EE"/>
            </a:solidFill>
          </a:ln>
        </p:spPr>
        <p:txBody>
          <a:bodyPr wrap="square" lIns="45720" tIns="45720" rIns="45720" bIns="45720" anchor="ctr">
            <a:noAutofit/>
          </a:bodyPr>
          <a:lstStyle/>
          <a:p>
            <a:pPr marL="0" indent="0" algn="ctr">
              <a:buNone/>
            </a:pPr>
            <a:r>
              <a:rPr lang="en-US" sz="1100" b="1" dirty="0">
                <a:solidFill>
                  <a:srgbClr val="2A3C90"/>
                </a:solidFill>
                <a:latin typeface="Avenir Next LT Pro"/>
                <a:cs typeface="Avenir Next LT Pro"/>
              </a:rPr>
              <a:t>Honest by default:  </a:t>
            </a:r>
            <a:r>
              <a:rPr lang="en-US" sz="1100" dirty="0">
                <a:solidFill>
                  <a:srgbClr val="5A6472"/>
                </a:solidFill>
                <a:latin typeface="Calibri"/>
                <a:cs typeface="Calibri"/>
              </a:rPr>
              <a:t>a ticket is only reported as created when Jira confirms it. Everything else is clearly labelled a simulation.</a:t>
            </a: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body" sz="quarter" idx="14"/>
          </p:nvPr>
        </p:nvSpPr>
        <p:spPr/>
        <p:txBody>
          <a:bodyPr/>
          <a:lstStyle/>
          <a:p>
            <a:r>
              <a:rPr lang="en-US" dirty="0"/>
              <a:t>One Number the Whole Team Can Argue About</a:t>
            </a:r>
          </a:p>
        </p:txBody>
      </p:sp>
      <p:sp>
        <p:nvSpPr>
          <p:cNvPr id="3" name="Slide Number Placeholder"/>
          <p:cNvSpPr>
            <a:spLocks noGrp="1"/>
          </p:cNvSpPr>
          <p:nvPr>
            <p:ph type="sldNum" sz="quarter" idx="4"/>
          </p:nvPr>
        </p:nvSpPr>
        <p:spPr/>
        <p:txBody>
          <a:bodyPr/>
          <a:lstStyle/>
          <a:p>
            <a:fld id="{F58B522F-7218-4DD2-9A79-8098A090879F}" type="slidenum">
              <a:rPr lang="en-US" smtClean="0"/>
              <a:pPr/>
              <a:t>2</a:t>
            </a:fld>
            <a:endParaRPr lang="en-US"/>
          </a:p>
        </p:txBody>
      </p:sp>
      <p:sp>
        <p:nvSpPr>
          <p:cNvPr id="524" name="TextBox"/>
          <p:cNvSpPr txBox="1"/>
          <p:nvPr/>
        </p:nvSpPr>
        <p:spPr>
          <a:xfrm>
            <a:off x="460000" y="1010000"/>
            <a:ext cx="10600000" cy="560000"/>
          </a:xfrm>
          <a:prstGeom prst="rect">
            <a:avLst/>
          </a:prstGeom>
          <a:noFill/>
        </p:spPr>
        <p:txBody>
          <a:bodyPr wrap="square" lIns="0" tIns="0" rIns="0" bIns="0" anchor="t">
            <a:noAutofit/>
          </a:bodyPr>
          <a:lstStyle/>
          <a:p>
            <a:pPr marL="0" indent="0" algn="l">
              <a:lnSpc>
                <a:spcPct val="108000"/>
              </a:lnSpc>
              <a:buNone/>
            </a:pPr>
            <a:r>
              <a:rPr lang="en-US" sz="1300" dirty="0">
                <a:solidFill>
                  <a:srgbClr val="5A6472"/>
                </a:solidFill>
                <a:latin typeface="Calibri"/>
                <a:cs typeface="Calibri"/>
              </a:rPr>
              <a:t>Severity-weighted across every open failure, boosted for confirmed defects, and discounted for tests already known to be flaky.</a:t>
            </a:r>
          </a:p>
        </p:txBody>
      </p:sp>
      <p:sp>
        <p:nvSpPr>
          <p:cNvPr id="525" name="Shape"/>
          <p:cNvSpPr/>
          <p:nvPr/>
        </p:nvSpPr>
        <p:spPr>
          <a:xfrm>
            <a:off x="460000" y="1700000"/>
            <a:ext cx="3300000" cy="22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20"/>
              </a:spcAft>
              <a:buNone/>
            </a:pPr>
            <a:r>
              <a:rPr lang="en-US" sz="5400" b="1" dirty="0">
                <a:solidFill>
                  <a:srgbClr val="B42318"/>
                </a:solidFill>
                <a:latin typeface="Avenir Next LT Pro"/>
                <a:cs typeface="Avenir Next LT Pro"/>
              </a:rPr>
              <a:t>82</a:t>
            </a:r>
          </a:p>
          <a:p>
            <a:pPr marL="0" indent="0" algn="ctr">
              <a:buNone/>
            </a:pPr>
            <a:r>
              <a:rPr lang="en-US" sz="1000" b="1" spc="80" dirty="0">
                <a:solidFill>
                  <a:srgbClr val="5A6472"/>
                </a:solidFill>
                <a:latin typeface="Calibri"/>
                <a:cs typeface="Calibri"/>
              </a:rPr>
              <a:t>OUT OF 100  ·  CRITICAL RISK</a:t>
            </a:r>
          </a:p>
        </p:txBody>
      </p:sp>
      <p:sp>
        <p:nvSpPr>
          <p:cNvPr id="526" name="Shape"/>
          <p:cNvSpPr/>
          <p:nvPr/>
        </p:nvSpPr>
        <p:spPr>
          <a:xfrm>
            <a:off x="4130000" y="1700000"/>
            <a:ext cx="7600000" cy="2200000"/>
          </a:xfrm>
          <a:prstGeom prst="roundRect">
            <a:avLst>
              <a:gd name="adj" fmla="val 10000"/>
            </a:avLst>
          </a:prstGeom>
          <a:solidFill>
            <a:srgbClr val="F3F7FC"/>
          </a:solidFill>
          <a:ln w="9525">
            <a:solidFill>
              <a:srgbClr val="D8E2EE"/>
            </a:solidFill>
          </a:ln>
        </p:spPr>
        <p:txBody>
          <a:bodyPr wrap="square" lIns="45720" tIns="45720" rIns="45720" bIns="45720" anchor="t">
            <a:noAutofit/>
          </a:bodyPr>
          <a:lstStyle/>
          <a:p>
            <a:endParaRPr lang="en-US"/>
          </a:p>
        </p:txBody>
      </p:sp>
      <p:sp>
        <p:nvSpPr>
          <p:cNvPr id="527" name="Shape"/>
          <p:cNvSpPr/>
          <p:nvPr/>
        </p:nvSpPr>
        <p:spPr>
          <a:xfrm>
            <a:off x="4370000" y="1930000"/>
            <a:ext cx="1500000" cy="520000"/>
          </a:xfrm>
          <a:prstGeom prst="roundRect">
            <a:avLst>
              <a:gd name="adj" fmla="val 25000"/>
            </a:avLst>
          </a:prstGeom>
          <a:solidFill>
            <a:srgbClr val="FDECEC"/>
          </a:solidFill>
          <a:ln>
            <a:noFill/>
          </a:ln>
        </p:spPr>
        <p:txBody>
          <a:bodyPr wrap="square" lIns="45720" tIns="45720" rIns="45720" bIns="45720" anchor="ctr">
            <a:noAutofit/>
          </a:bodyPr>
          <a:lstStyle/>
          <a:p>
            <a:pPr marL="0" indent="0" algn="ctr">
              <a:buNone/>
            </a:pPr>
            <a:r>
              <a:rPr lang="en-US" sz="1400" b="1" dirty="0">
                <a:solidFill>
                  <a:srgbClr val="B42318"/>
                </a:solidFill>
                <a:latin typeface="Avenir Next LT Pro"/>
                <a:cs typeface="Avenir Next LT Pro"/>
              </a:rPr>
              <a:t>NO-GO</a:t>
            </a:r>
          </a:p>
        </p:txBody>
      </p:sp>
      <p:sp>
        <p:nvSpPr>
          <p:cNvPr id="528" name="TextBox"/>
          <p:cNvSpPr txBox="1"/>
          <p:nvPr/>
        </p:nvSpPr>
        <p:spPr>
          <a:xfrm>
            <a:off x="6070000" y="2010000"/>
            <a:ext cx="5400000" cy="380000"/>
          </a:xfrm>
          <a:prstGeom prst="rect">
            <a:avLst/>
          </a:prstGeom>
          <a:noFill/>
        </p:spPr>
        <p:txBody>
          <a:bodyPr wrap="square" lIns="0" tIns="0" rIns="0" bIns="0" anchor="t">
            <a:noAutofit/>
          </a:bodyPr>
          <a:lstStyle/>
          <a:p>
            <a:pPr marL="0" indent="0" algn="l">
              <a:buNone/>
            </a:pPr>
            <a:r>
              <a:rPr lang="en-US" sz="1150" b="1" dirty="0">
                <a:solidFill>
                  <a:srgbClr val="2A3C90"/>
                </a:solidFill>
                <a:latin typeface="Avenir Next LT Pro"/>
                <a:cs typeface="Avenir Next LT Pro"/>
              </a:rPr>
              <a:t>A recommendation - a human still signs off.</a:t>
            </a:r>
          </a:p>
        </p:txBody>
      </p:sp>
      <p:sp>
        <p:nvSpPr>
          <p:cNvPr id="529" name="TextBox"/>
          <p:cNvSpPr txBox="1"/>
          <p:nvPr/>
        </p:nvSpPr>
        <p:spPr>
          <a:xfrm>
            <a:off x="4370000" y="2620000"/>
            <a:ext cx="1800000" cy="340000"/>
          </a:xfrm>
          <a:prstGeom prst="rect">
            <a:avLst/>
          </a:prstGeom>
          <a:noFill/>
        </p:spPr>
        <p:txBody>
          <a:bodyPr wrap="square" lIns="0" tIns="0" rIns="0" bIns="0" anchor="t">
            <a:noAutofit/>
          </a:bodyPr>
          <a:lstStyle/>
          <a:p>
            <a:pPr marL="0" indent="0" algn="l">
              <a:buNone/>
            </a:pPr>
            <a:r>
              <a:rPr lang="en-US" sz="950" b="1" spc="100" dirty="0">
                <a:solidFill>
                  <a:srgbClr val="1C76BC"/>
                </a:solidFill>
                <a:latin typeface="Avenir Next LT Pro"/>
                <a:cs typeface="Avenir Next LT Pro"/>
              </a:rPr>
              <a:t>TOP RISK</a:t>
            </a:r>
          </a:p>
        </p:txBody>
      </p:sp>
      <p:sp>
        <p:nvSpPr>
          <p:cNvPr id="530" name="TextBox"/>
          <p:cNvSpPr txBox="1"/>
          <p:nvPr/>
        </p:nvSpPr>
        <p:spPr>
          <a:xfrm>
            <a:off x="6270000" y="2620000"/>
            <a:ext cx="5200000" cy="340000"/>
          </a:xfrm>
          <a:prstGeom prst="rect">
            <a:avLst/>
          </a:prstGeom>
          <a:noFill/>
        </p:spPr>
        <p:txBody>
          <a:bodyPr wrap="square" lIns="0" tIns="0" rIns="0" bIns="0" anchor="t">
            <a:noAutofit/>
          </a:bodyPr>
          <a:lstStyle/>
          <a:p>
            <a:pPr marL="0" indent="0" algn="l">
              <a:buNone/>
            </a:pPr>
            <a:r>
              <a:rPr lang="en-US" sz="1100" dirty="0">
                <a:solidFill>
                  <a:srgbClr val="1F2937"/>
                </a:solidFill>
                <a:latin typeface="Calibri"/>
                <a:cs typeface="Calibri"/>
              </a:rPr>
              <a:t>ShopSphere Payment Service</a:t>
            </a:r>
          </a:p>
        </p:txBody>
      </p:sp>
      <p:sp>
        <p:nvSpPr>
          <p:cNvPr id="531" name="TextBox"/>
          <p:cNvSpPr txBox="1"/>
          <p:nvPr/>
        </p:nvSpPr>
        <p:spPr>
          <a:xfrm>
            <a:off x="4370000" y="3020000"/>
            <a:ext cx="1800000" cy="340000"/>
          </a:xfrm>
          <a:prstGeom prst="rect">
            <a:avLst/>
          </a:prstGeom>
          <a:noFill/>
        </p:spPr>
        <p:txBody>
          <a:bodyPr wrap="square" lIns="0" tIns="0" rIns="0" bIns="0" anchor="t">
            <a:noAutofit/>
          </a:bodyPr>
          <a:lstStyle/>
          <a:p>
            <a:pPr marL="0" indent="0" algn="l">
              <a:buNone/>
            </a:pPr>
            <a:r>
              <a:rPr lang="en-US" sz="950" b="1" spc="100" dirty="0">
                <a:solidFill>
                  <a:srgbClr val="1C76BC"/>
                </a:solidFill>
                <a:latin typeface="Avenir Next LT Pro"/>
                <a:cs typeface="Avenir Next LT Pro"/>
              </a:rPr>
              <a:t>WHY</a:t>
            </a:r>
          </a:p>
        </p:txBody>
      </p:sp>
      <p:sp>
        <p:nvSpPr>
          <p:cNvPr id="532" name="TextBox"/>
          <p:cNvSpPr txBox="1"/>
          <p:nvPr/>
        </p:nvSpPr>
        <p:spPr>
          <a:xfrm>
            <a:off x="6270000" y="3020000"/>
            <a:ext cx="5200000" cy="340000"/>
          </a:xfrm>
          <a:prstGeom prst="rect">
            <a:avLst/>
          </a:prstGeom>
          <a:noFill/>
        </p:spPr>
        <p:txBody>
          <a:bodyPr wrap="square" lIns="0" tIns="0" rIns="0" bIns="0" anchor="t">
            <a:noAutofit/>
          </a:bodyPr>
          <a:lstStyle/>
          <a:p>
            <a:pPr marL="0" indent="0" algn="l">
              <a:buNone/>
            </a:pPr>
            <a:r>
              <a:rPr lang="en-US" sz="1100" dirty="0">
                <a:solidFill>
                  <a:srgbClr val="1F2937"/>
                </a:solidFill>
                <a:latin typeface="Calibri"/>
                <a:cs typeface="Calibri"/>
              </a:rPr>
              <a:t>Unresolved critical failure in a core checkout workflow</a:t>
            </a:r>
          </a:p>
        </p:txBody>
      </p:sp>
      <p:sp>
        <p:nvSpPr>
          <p:cNvPr id="533" name="TextBox"/>
          <p:cNvSpPr txBox="1"/>
          <p:nvPr/>
        </p:nvSpPr>
        <p:spPr>
          <a:xfrm>
            <a:off x="4370000" y="3420000"/>
            <a:ext cx="1800000" cy="340000"/>
          </a:xfrm>
          <a:prstGeom prst="rect">
            <a:avLst/>
          </a:prstGeom>
          <a:noFill/>
        </p:spPr>
        <p:txBody>
          <a:bodyPr wrap="square" lIns="0" tIns="0" rIns="0" bIns="0" anchor="t">
            <a:noAutofit/>
          </a:bodyPr>
          <a:lstStyle/>
          <a:p>
            <a:pPr marL="0" indent="0" algn="l">
              <a:buNone/>
            </a:pPr>
            <a:r>
              <a:rPr lang="en-US" sz="950" b="1" spc="100" dirty="0">
                <a:solidFill>
                  <a:srgbClr val="1C76BC"/>
                </a:solidFill>
                <a:latin typeface="Avenir Next LT Pro"/>
                <a:cs typeface="Avenir Next LT Pro"/>
              </a:rPr>
              <a:t>WHAT CHANGES IT</a:t>
            </a:r>
          </a:p>
        </p:txBody>
      </p:sp>
      <p:sp>
        <p:nvSpPr>
          <p:cNvPr id="534" name="TextBox"/>
          <p:cNvSpPr txBox="1"/>
          <p:nvPr/>
        </p:nvSpPr>
        <p:spPr>
          <a:xfrm>
            <a:off x="6270000" y="3420000"/>
            <a:ext cx="5200000" cy="340000"/>
          </a:xfrm>
          <a:prstGeom prst="rect">
            <a:avLst/>
          </a:prstGeom>
          <a:noFill/>
        </p:spPr>
        <p:txBody>
          <a:bodyPr wrap="square" lIns="0" tIns="0" rIns="0" bIns="0" anchor="t">
            <a:noAutofit/>
          </a:bodyPr>
          <a:lstStyle/>
          <a:p>
            <a:pPr marL="0" indent="0" algn="l">
              <a:buNone/>
            </a:pPr>
            <a:r>
              <a:rPr lang="en-US" sz="1100" dirty="0">
                <a:solidFill>
                  <a:srgbClr val="1F2937"/>
                </a:solidFill>
                <a:latin typeface="Calibri"/>
                <a:cs typeface="Calibri"/>
              </a:rPr>
              <a:t>Confirm the fix, or reclassify the failure with new evidence</a:t>
            </a:r>
          </a:p>
        </p:txBody>
      </p:sp>
      <p:sp>
        <p:nvSpPr>
          <p:cNvPr id="535" name="Shape"/>
          <p:cNvSpPr/>
          <p:nvPr/>
        </p:nvSpPr>
        <p:spPr>
          <a:xfrm>
            <a:off x="460000" y="4180000"/>
            <a:ext cx="3556666" cy="108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30"/>
              </a:spcAft>
              <a:buNone/>
            </a:pPr>
            <a:r>
              <a:rPr lang="en-US" sz="1150" b="1" dirty="0">
                <a:solidFill>
                  <a:srgbClr val="1C76BC"/>
                </a:solidFill>
                <a:latin typeface="Avenir Next LT Pro"/>
                <a:cs typeface="Avenir Next LT Pro"/>
              </a:rPr>
              <a:t>Severity-weighted</a:t>
            </a:r>
          </a:p>
          <a:p>
            <a:pPr marL="0" indent="0" algn="ctr">
              <a:lnSpc>
                <a:spcPct val="104000"/>
              </a:lnSpc>
              <a:buNone/>
            </a:pPr>
            <a:r>
              <a:rPr lang="en-US" sz="1000" dirty="0">
                <a:solidFill>
                  <a:srgbClr val="5A6472"/>
                </a:solidFill>
                <a:latin typeface="Calibri"/>
                <a:cs typeface="Calibri"/>
              </a:rPr>
              <a:t>Every open failure counts, scaled by how bad it is</a:t>
            </a:r>
          </a:p>
        </p:txBody>
      </p:sp>
      <p:sp>
        <p:nvSpPr>
          <p:cNvPr id="536" name="Shape"/>
          <p:cNvSpPr/>
          <p:nvPr/>
        </p:nvSpPr>
        <p:spPr>
          <a:xfrm>
            <a:off x="4316666" y="4180000"/>
            <a:ext cx="3556666" cy="108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30"/>
              </a:spcAft>
              <a:buNone/>
            </a:pPr>
            <a:r>
              <a:rPr lang="en-US" sz="1150" b="1" dirty="0">
                <a:solidFill>
                  <a:srgbClr val="B939D8"/>
                </a:solidFill>
                <a:latin typeface="Avenir Next LT Pro"/>
                <a:cs typeface="Avenir Next LT Pro"/>
              </a:rPr>
              <a:t>Boosted for confirmed defects</a:t>
            </a:r>
          </a:p>
          <a:p>
            <a:pPr marL="0" indent="0" algn="ctr">
              <a:lnSpc>
                <a:spcPct val="104000"/>
              </a:lnSpc>
              <a:buNone/>
            </a:pPr>
            <a:r>
              <a:rPr lang="en-US" sz="1000" dirty="0">
                <a:solidFill>
                  <a:srgbClr val="5A6472"/>
                </a:solidFill>
                <a:latin typeface="Calibri"/>
                <a:cs typeface="Calibri"/>
              </a:rPr>
              <a:t>A verified application bug weighs more than a suspicion</a:t>
            </a:r>
          </a:p>
        </p:txBody>
      </p:sp>
      <p:sp>
        <p:nvSpPr>
          <p:cNvPr id="537" name="Shape"/>
          <p:cNvSpPr/>
          <p:nvPr/>
        </p:nvSpPr>
        <p:spPr>
          <a:xfrm>
            <a:off x="8173332" y="4180000"/>
            <a:ext cx="3556666" cy="108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30"/>
              </a:spcAft>
              <a:buNone/>
            </a:pPr>
            <a:r>
              <a:rPr lang="en-US" sz="1150" b="1" dirty="0">
                <a:solidFill>
                  <a:srgbClr val="55BF98"/>
                </a:solidFill>
                <a:latin typeface="Avenir Next LT Pro"/>
                <a:cs typeface="Avenir Next LT Pro"/>
              </a:rPr>
              <a:t>Discounted for known flakes</a:t>
            </a:r>
          </a:p>
          <a:p>
            <a:pPr marL="0" indent="0" algn="ctr">
              <a:lnSpc>
                <a:spcPct val="104000"/>
              </a:lnSpc>
              <a:buNone/>
            </a:pPr>
            <a:r>
              <a:rPr lang="en-US" sz="1000" dirty="0">
                <a:solidFill>
                  <a:srgbClr val="5A6472"/>
                </a:solidFill>
                <a:latin typeface="Calibri"/>
                <a:cs typeface="Calibri"/>
              </a:rPr>
              <a:t>Tests with a history of noise do not inflate the number</a:t>
            </a: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body" sz="quarter" idx="14"/>
          </p:nvPr>
        </p:nvSpPr>
        <p:spPr/>
        <p:txBody>
          <a:bodyPr/>
          <a:lstStyle/>
          <a:p>
            <a:r>
              <a:rPr lang="en-US" dirty="0"/>
              <a:t>Trained on More Than One Company's Bad Day</a:t>
            </a:r>
          </a:p>
        </p:txBody>
      </p:sp>
      <p:sp>
        <p:nvSpPr>
          <p:cNvPr id="3" name="Slide Number Placeholder"/>
          <p:cNvSpPr>
            <a:spLocks noGrp="1"/>
          </p:cNvSpPr>
          <p:nvPr>
            <p:ph type="sldNum" sz="quarter" idx="4"/>
          </p:nvPr>
        </p:nvSpPr>
        <p:spPr/>
        <p:txBody>
          <a:bodyPr/>
          <a:lstStyle/>
          <a:p>
            <a:fld id="{F58B522F-7218-4DD2-9A79-8098A090879F}" type="slidenum">
              <a:rPr lang="en-US" smtClean="0"/>
              <a:pPr/>
              <a:t>2</a:t>
            </a:fld>
            <a:endParaRPr lang="en-US"/>
          </a:p>
        </p:txBody>
      </p:sp>
      <p:sp>
        <p:nvSpPr>
          <p:cNvPr id="538" name="TextBox"/>
          <p:cNvSpPr txBox="1"/>
          <p:nvPr/>
        </p:nvSpPr>
        <p:spPr>
          <a:xfrm>
            <a:off x="460000" y="1010000"/>
            <a:ext cx="10600000" cy="560000"/>
          </a:xfrm>
          <a:prstGeom prst="rect">
            <a:avLst/>
          </a:prstGeom>
          <a:noFill/>
        </p:spPr>
        <p:txBody>
          <a:bodyPr wrap="square" lIns="0" tIns="0" rIns="0" bIns="0" anchor="t">
            <a:noAutofit/>
          </a:bodyPr>
          <a:lstStyle/>
          <a:p>
            <a:pPr marL="0" indent="0" algn="l">
              <a:lnSpc>
                <a:spcPct val="108000"/>
              </a:lnSpc>
              <a:buNone/>
            </a:pPr>
            <a:r>
              <a:rPr lang="en-US" sz="1250" dirty="0">
                <a:solidFill>
                  <a:srgbClr val="5A6472"/>
                </a:solidFill>
                <a:latin typeface="Calibri"/>
                <a:cs typeface="Calibri"/>
              </a:rPr>
              <a:t>Twelve sample scenarios across five fictional companies, exercising all six failure categories - so the classification logic has to prove itself rather than memorise one company's logs.</a:t>
            </a:r>
          </a:p>
        </p:txBody>
      </p:sp>
      <p:sp>
        <p:nvSpPr>
          <p:cNvPr id="539" name="Shape"/>
          <p:cNvSpPr/>
          <p:nvPr/>
        </p:nvSpPr>
        <p:spPr>
          <a:xfrm>
            <a:off x="460000" y="1720000"/>
            <a:ext cx="2094000" cy="76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00"/>
              </a:spcAft>
              <a:buNone/>
            </a:pPr>
            <a:r>
              <a:rPr lang="en-US" sz="1150" b="1" dirty="0">
                <a:solidFill>
                  <a:srgbClr val="1C76BC"/>
                </a:solidFill>
                <a:latin typeface="Avenir Next LT Pro"/>
                <a:cs typeface="Avenir Next LT Pro"/>
              </a:rPr>
              <a:t>ShopSphere</a:t>
            </a:r>
          </a:p>
          <a:p>
            <a:pPr marL="0" indent="0" algn="ctr">
              <a:buNone/>
            </a:pPr>
            <a:r>
              <a:rPr lang="en-US" sz="950" dirty="0">
                <a:solidFill>
                  <a:srgbClr val="5A6472"/>
                </a:solidFill>
                <a:latin typeface="Calibri"/>
                <a:cs typeface="Calibri"/>
              </a:rPr>
              <a:t>e-commerce</a:t>
            </a:r>
          </a:p>
        </p:txBody>
      </p:sp>
      <p:sp>
        <p:nvSpPr>
          <p:cNvPr id="540" name="Shape"/>
          <p:cNvSpPr/>
          <p:nvPr/>
        </p:nvSpPr>
        <p:spPr>
          <a:xfrm>
            <a:off x="2754000" y="1720000"/>
            <a:ext cx="2094000" cy="76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00"/>
              </a:spcAft>
              <a:buNone/>
            </a:pPr>
            <a:r>
              <a:rPr lang="en-US" sz="1150" b="1" dirty="0">
                <a:solidFill>
                  <a:srgbClr val="2A3C90"/>
                </a:solidFill>
                <a:latin typeface="Avenir Next LT Pro"/>
                <a:cs typeface="Avenir Next LT Pro"/>
              </a:rPr>
              <a:t>SecureBank Online</a:t>
            </a:r>
          </a:p>
          <a:p>
            <a:pPr marL="0" indent="0" algn="ctr">
              <a:buNone/>
            </a:pPr>
            <a:r>
              <a:rPr lang="en-US" sz="950" dirty="0">
                <a:solidFill>
                  <a:srgbClr val="5A6472"/>
                </a:solidFill>
                <a:latin typeface="Calibri"/>
                <a:cs typeface="Calibri"/>
              </a:rPr>
              <a:t>banking</a:t>
            </a:r>
          </a:p>
        </p:txBody>
      </p:sp>
      <p:sp>
        <p:nvSpPr>
          <p:cNvPr id="541" name="Shape"/>
          <p:cNvSpPr/>
          <p:nvPr/>
        </p:nvSpPr>
        <p:spPr>
          <a:xfrm>
            <a:off x="5048000" y="1720000"/>
            <a:ext cx="2094000" cy="76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00"/>
              </a:spcAft>
              <a:buNone/>
            </a:pPr>
            <a:r>
              <a:rPr lang="en-US" sz="1150" b="1" dirty="0">
                <a:solidFill>
                  <a:srgbClr val="24BFCC"/>
                </a:solidFill>
                <a:latin typeface="Avenir Next LT Pro"/>
                <a:cs typeface="Avenir Next LT Pro"/>
              </a:rPr>
              <a:t>SmartWarehouse</a:t>
            </a:r>
          </a:p>
          <a:p>
            <a:pPr marL="0" indent="0" algn="ctr">
              <a:buNone/>
            </a:pPr>
            <a:r>
              <a:rPr lang="en-US" sz="950" dirty="0">
                <a:solidFill>
                  <a:srgbClr val="5A6472"/>
                </a:solidFill>
                <a:latin typeface="Calibri"/>
                <a:cs typeface="Calibri"/>
              </a:rPr>
              <a:t>logistics</a:t>
            </a:r>
          </a:p>
        </p:txBody>
      </p:sp>
      <p:sp>
        <p:nvSpPr>
          <p:cNvPr id="542" name="Shape"/>
          <p:cNvSpPr/>
          <p:nvPr/>
        </p:nvSpPr>
        <p:spPr>
          <a:xfrm>
            <a:off x="7342000" y="1720000"/>
            <a:ext cx="2094000" cy="76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00"/>
              </a:spcAft>
              <a:buNone/>
            </a:pPr>
            <a:r>
              <a:rPr lang="en-US" sz="1150" b="1" dirty="0">
                <a:solidFill>
                  <a:srgbClr val="B939D8"/>
                </a:solidFill>
                <a:latin typeface="Avenir Next LT Pro"/>
                <a:cs typeface="Avenir Next LT Pro"/>
              </a:rPr>
              <a:t>QuickRide</a:t>
            </a:r>
          </a:p>
          <a:p>
            <a:pPr marL="0" indent="0" algn="ctr">
              <a:buNone/>
            </a:pPr>
            <a:r>
              <a:rPr lang="en-US" sz="950" dirty="0">
                <a:solidFill>
                  <a:srgbClr val="5A6472"/>
                </a:solidFill>
                <a:latin typeface="Calibri"/>
                <a:cs typeface="Calibri"/>
              </a:rPr>
              <a:t>ride-hailing</a:t>
            </a:r>
          </a:p>
        </p:txBody>
      </p:sp>
      <p:sp>
        <p:nvSpPr>
          <p:cNvPr id="543" name="Shape"/>
          <p:cNvSpPr/>
          <p:nvPr/>
        </p:nvSpPr>
        <p:spPr>
          <a:xfrm>
            <a:off x="9636000" y="1720000"/>
            <a:ext cx="2094000" cy="76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00"/>
              </a:spcAft>
              <a:buNone/>
            </a:pPr>
            <a:r>
              <a:rPr lang="en-US" sz="1150" b="1" dirty="0">
                <a:solidFill>
                  <a:srgbClr val="55BF98"/>
                </a:solidFill>
                <a:latin typeface="Avenir Next LT Pro"/>
                <a:cs typeface="Avenir Next LT Pro"/>
              </a:rPr>
              <a:t>MediCare Portal</a:t>
            </a:r>
          </a:p>
          <a:p>
            <a:pPr marL="0" indent="0" algn="ctr">
              <a:buNone/>
            </a:pPr>
            <a:r>
              <a:rPr lang="en-US" sz="950" dirty="0">
                <a:solidFill>
                  <a:srgbClr val="5A6472"/>
                </a:solidFill>
                <a:latin typeface="Calibri"/>
                <a:cs typeface="Calibri"/>
              </a:rPr>
              <a:t>healthcare</a:t>
            </a:r>
          </a:p>
        </p:txBody>
      </p:sp>
      <p:graphicFrame>
        <p:nvGraphicFramePr>
          <p:cNvPr id="544" name="Table"/>
          <p:cNvGraphicFramePr>
            <a:graphicFrameLocks noGrp="1"/>
          </p:cNvGraphicFramePr>
          <p:nvPr/>
        </p:nvGraphicFramePr>
        <p:xfrm>
          <a:off x="460000" y="2700000"/>
          <a:ext cx="11270000" cy="2830000"/>
        </p:xfrm>
        <a:graphic>
          <a:graphicData uri="http://schemas.openxmlformats.org/drawingml/2006/table">
            <a:tbl>
              <a:tblPr firstRow="1" bandRow="1">
                <a:tableStyleId>{5C22544A-7EE6-4342-B048-85BDC9FD1C3A}</a:tableStyleId>
              </a:tblPr>
              <a:tblGrid>
                <a:gridCol w="900000"/>
                <a:gridCol w="6370000"/>
                <a:gridCol w="4000000"/>
              </a:tblGrid>
              <a:tr h="430000">
                <a:tc>
                  <a:txBody>
                    <a:bodyPr/>
                    <a:lstStyle/>
                    <a:p>
                      <a:pPr marL="0" indent="0" algn="l">
                        <a:lnSpc>
                          <a:spcPct val="100000"/>
                        </a:lnSpc>
                        <a:buNone/>
                      </a:pPr>
                      <a:r>
                        <a:rPr lang="en-US" sz="1200" b="1" dirty="0">
                          <a:solidFill>
                            <a:srgbClr val="FFFFFF"/>
                          </a:solidFill>
                          <a:latin typeface="Avenir Next LT Pro"/>
                          <a:cs typeface="Avenir Next LT Pro"/>
                        </a:rPr>
                        <a:t>#</a:t>
                      </a:r>
                    </a:p>
                  </a:txBody>
                  <a:tcPr marL="90000" marR="90000" marT="30000" marB="30000" anchor="ctr">
                    <a:lnB w="9525">
                      <a:solidFill>
                        <a:srgbClr val="D8E2EE"/>
                      </a:solidFill>
                    </a:lnB>
                    <a:solidFill>
                      <a:srgbClr val="2A3C90"/>
                    </a:solidFill>
                  </a:tcPr>
                </a:tc>
                <a:tc>
                  <a:txBody>
                    <a:bodyPr/>
                    <a:lstStyle/>
                    <a:p>
                      <a:pPr marL="0" indent="0" algn="l">
                        <a:lnSpc>
                          <a:spcPct val="100000"/>
                        </a:lnSpc>
                        <a:buNone/>
                      </a:pPr>
                      <a:r>
                        <a:rPr lang="en-US" sz="1200" b="1" dirty="0">
                          <a:solidFill>
                            <a:srgbClr val="FFFFFF"/>
                          </a:solidFill>
                          <a:latin typeface="Avenir Next LT Pro"/>
                          <a:cs typeface="Avenir Next LT Pro"/>
                        </a:rPr>
                        <a:t>Failure Signature</a:t>
                      </a:r>
                    </a:p>
                  </a:txBody>
                  <a:tcPr marL="90000" marR="90000" marT="30000" marB="30000" anchor="ctr">
                    <a:lnB w="9525">
                      <a:solidFill>
                        <a:srgbClr val="D8E2EE"/>
                      </a:solidFill>
                    </a:lnB>
                    <a:solidFill>
                      <a:srgbClr val="2A3C90"/>
                    </a:solidFill>
                  </a:tcPr>
                </a:tc>
                <a:tc>
                  <a:txBody>
                    <a:bodyPr/>
                    <a:lstStyle/>
                    <a:p>
                      <a:pPr marL="0" indent="0" algn="l">
                        <a:lnSpc>
                          <a:spcPct val="100000"/>
                        </a:lnSpc>
                        <a:buNone/>
                      </a:pPr>
                      <a:r>
                        <a:rPr lang="en-US" sz="1200" b="1" dirty="0">
                          <a:solidFill>
                            <a:srgbClr val="FFFFFF"/>
                          </a:solidFill>
                          <a:latin typeface="Avenir Next LT Pro"/>
                          <a:cs typeface="Avenir Next LT Pro"/>
                        </a:rPr>
                        <a:t>Classification</a:t>
                      </a:r>
                    </a:p>
                  </a:txBody>
                  <a:tcPr marL="90000" marR="90000" marT="30000" marB="30000" anchor="ctr">
                    <a:lnB w="9525">
                      <a:solidFill>
                        <a:srgbClr val="D8E2EE"/>
                      </a:solidFill>
                    </a:lnB>
                    <a:solidFill>
                      <a:srgbClr val="2A3C90"/>
                    </a:solidFill>
                  </a:tcPr>
                </a:tc>
              </a:tr>
              <a:tr h="400000">
                <a:tc>
                  <a:txBody>
                    <a:bodyPr/>
                    <a:lstStyle/>
                    <a:p>
                      <a:pPr marL="0" indent="0" algn="l">
                        <a:lnSpc>
                          <a:spcPct val="100000"/>
                        </a:lnSpc>
                        <a:buNone/>
                      </a:pPr>
                      <a:r>
                        <a:rPr lang="en-US" sz="1050" b="1" dirty="0">
                          <a:solidFill>
                            <a:srgbClr val="5A6472"/>
                          </a:solidFill>
                          <a:latin typeface="Courier New"/>
                          <a:cs typeface="Courier New"/>
                        </a:rPr>
                        <a:t>01</a:t>
                      </a:r>
                    </a:p>
                  </a:txBody>
                  <a:tcPr marL="90000" marR="90000" marT="30000" marB="30000" anchor="ctr">
                    <a:lnT w="9525">
                      <a:solidFill>
                        <a:srgbClr val="D8E2EE"/>
                      </a:solidFill>
                    </a:lnT>
                    <a:lnB w="9525">
                      <a:solidFill>
                        <a:srgbClr val="D8E2EE"/>
                      </a:solidFill>
                    </a:lnB>
                    <a:solidFill>
                      <a:srgbClr val="F3F7FC"/>
                    </a:solidFill>
                  </a:tcPr>
                </a:tc>
                <a:tc>
                  <a:txBody>
                    <a:bodyPr/>
                    <a:lstStyle/>
                    <a:p>
                      <a:pPr marL="0" indent="0" algn="l">
                        <a:lnSpc>
                          <a:spcPct val="100000"/>
                        </a:lnSpc>
                        <a:buNone/>
                      </a:pPr>
                      <a:r>
                        <a:rPr lang="en-US" sz="1050" dirty="0">
                          <a:solidFill>
                            <a:srgbClr val="1F2937"/>
                          </a:solidFill>
                          <a:latin typeface="Courier New"/>
                          <a:cs typeface="Courier New"/>
                        </a:rPr>
                        <a:t>HTTP 500 + NullPointerException</a:t>
                      </a:r>
                    </a:p>
                  </a:txBody>
                  <a:tcPr marL="90000" marR="90000" marT="30000" marB="30000" anchor="ctr">
                    <a:lnT w="9525">
                      <a:solidFill>
                        <a:srgbClr val="D8E2EE"/>
                      </a:solidFill>
                    </a:lnT>
                    <a:lnB w="9525">
                      <a:solidFill>
                        <a:srgbClr val="D8E2EE"/>
                      </a:solidFill>
                    </a:lnB>
                    <a:solidFill>
                      <a:srgbClr val="F3F7FC"/>
                    </a:solidFill>
                  </a:tcPr>
                </a:tc>
                <a:tc>
                  <a:txBody>
                    <a:bodyPr/>
                    <a:lstStyle/>
                    <a:p>
                      <a:pPr marL="0" indent="0" algn="l">
                        <a:lnSpc>
                          <a:spcPct val="100000"/>
                        </a:lnSpc>
                        <a:buNone/>
                      </a:pPr>
                      <a:r>
                        <a:rPr lang="en-US" sz="1050" b="1" dirty="0">
                          <a:solidFill>
                            <a:srgbClr val="B42318"/>
                          </a:solidFill>
                          <a:latin typeface="Calibri"/>
                          <a:cs typeface="Calibri"/>
                        </a:rPr>
                        <a:t>Application Defect</a:t>
                      </a:r>
                    </a:p>
                  </a:txBody>
                  <a:tcPr marL="90000" marR="90000" marT="30000" marB="30000" anchor="ctr">
                    <a:lnT w="9525">
                      <a:solidFill>
                        <a:srgbClr val="D8E2EE"/>
                      </a:solidFill>
                    </a:lnT>
                    <a:lnB w="9525">
                      <a:solidFill>
                        <a:srgbClr val="D8E2EE"/>
                      </a:solidFill>
                    </a:lnB>
                    <a:solidFill>
                      <a:srgbClr val="F3F7FC"/>
                    </a:solidFill>
                  </a:tcPr>
                </a:tc>
              </a:tr>
              <a:tr h="400000">
                <a:tc>
                  <a:txBody>
                    <a:bodyPr/>
                    <a:lstStyle/>
                    <a:p>
                      <a:pPr marL="0" indent="0" algn="l">
                        <a:lnSpc>
                          <a:spcPct val="100000"/>
                        </a:lnSpc>
                        <a:buNone/>
                      </a:pPr>
                      <a:r>
                        <a:rPr lang="en-US" sz="1050" b="1" dirty="0">
                          <a:solidFill>
                            <a:srgbClr val="5A6472"/>
                          </a:solidFill>
                          <a:latin typeface="Courier New"/>
                          <a:cs typeface="Courier New"/>
                        </a:rPr>
                        <a:t>02</a:t>
                      </a:r>
                    </a:p>
                  </a:txBody>
                  <a:tcPr marL="90000" marR="90000" marT="30000" marB="30000" anchor="ctr">
                    <a:lnT w="9525">
                      <a:solidFill>
                        <a:srgbClr val="D8E2EE"/>
                      </a:solidFill>
                    </a:lnT>
                    <a:lnB w="9525">
                      <a:solidFill>
                        <a:srgbClr val="D8E2EE"/>
                      </a:solidFill>
                    </a:lnB>
                    <a:solidFill>
                      <a:srgbClr val="FFFFFF"/>
                    </a:solidFill>
                  </a:tcPr>
                </a:tc>
                <a:tc>
                  <a:txBody>
                    <a:bodyPr/>
                    <a:lstStyle/>
                    <a:p>
                      <a:pPr marL="0" indent="0" algn="l">
                        <a:lnSpc>
                          <a:spcPct val="100000"/>
                        </a:lnSpc>
                        <a:buNone/>
                      </a:pPr>
                      <a:r>
                        <a:rPr lang="en-US" sz="1050" dirty="0">
                          <a:solidFill>
                            <a:srgbClr val="1F2937"/>
                          </a:solidFill>
                          <a:latin typeface="Courier New"/>
                          <a:cs typeface="Courier New"/>
                        </a:rPr>
                        <a:t>API success + UI locator timeout</a:t>
                      </a:r>
                    </a:p>
                  </a:txBody>
                  <a:tcPr marL="90000" marR="90000" marT="30000" marB="30000" anchor="ctr">
                    <a:lnT w="9525">
                      <a:solidFill>
                        <a:srgbClr val="D8E2EE"/>
                      </a:solidFill>
                    </a:lnT>
                    <a:lnB w="9525">
                      <a:solidFill>
                        <a:srgbClr val="D8E2EE"/>
                      </a:solidFill>
                    </a:lnB>
                    <a:solidFill>
                      <a:srgbClr val="FFFFFF"/>
                    </a:solidFill>
                  </a:tcPr>
                </a:tc>
                <a:tc>
                  <a:txBody>
                    <a:bodyPr/>
                    <a:lstStyle/>
                    <a:p>
                      <a:pPr marL="0" indent="0" algn="l">
                        <a:lnSpc>
                          <a:spcPct val="100000"/>
                        </a:lnSpc>
                        <a:buNone/>
                      </a:pPr>
                      <a:r>
                        <a:rPr lang="en-US" sz="1050" b="1" dirty="0">
                          <a:solidFill>
                            <a:srgbClr val="8A5A00"/>
                          </a:solidFill>
                          <a:latin typeface="Calibri"/>
                          <a:cs typeface="Calibri"/>
                        </a:rPr>
                        <a:t>Test Automation Issue</a:t>
                      </a:r>
                    </a:p>
                  </a:txBody>
                  <a:tcPr marL="90000" marR="90000" marT="30000" marB="30000" anchor="ctr">
                    <a:lnT w="9525">
                      <a:solidFill>
                        <a:srgbClr val="D8E2EE"/>
                      </a:solidFill>
                    </a:lnT>
                    <a:lnB w="9525">
                      <a:solidFill>
                        <a:srgbClr val="D8E2EE"/>
                      </a:solidFill>
                    </a:lnB>
                    <a:solidFill>
                      <a:srgbClr val="FFFFFF"/>
                    </a:solidFill>
                  </a:tcPr>
                </a:tc>
              </a:tr>
              <a:tr h="400000">
                <a:tc>
                  <a:txBody>
                    <a:bodyPr/>
                    <a:lstStyle/>
                    <a:p>
                      <a:pPr marL="0" indent="0" algn="l">
                        <a:lnSpc>
                          <a:spcPct val="100000"/>
                        </a:lnSpc>
                        <a:buNone/>
                      </a:pPr>
                      <a:r>
                        <a:rPr lang="en-US" sz="1050" b="1" dirty="0">
                          <a:solidFill>
                            <a:srgbClr val="5A6472"/>
                          </a:solidFill>
                          <a:latin typeface="Courier New"/>
                          <a:cs typeface="Courier New"/>
                        </a:rPr>
                        <a:t>03</a:t>
                      </a:r>
                    </a:p>
                  </a:txBody>
                  <a:tcPr marL="90000" marR="90000" marT="30000" marB="30000" anchor="ctr">
                    <a:lnT w="9525">
                      <a:solidFill>
                        <a:srgbClr val="D8E2EE"/>
                      </a:solidFill>
                    </a:lnT>
                    <a:lnB w="9525">
                      <a:solidFill>
                        <a:srgbClr val="D8E2EE"/>
                      </a:solidFill>
                    </a:lnB>
                    <a:solidFill>
                      <a:srgbClr val="F3F7FC"/>
                    </a:solidFill>
                  </a:tcPr>
                </a:tc>
                <a:tc>
                  <a:txBody>
                    <a:bodyPr/>
                    <a:lstStyle/>
                    <a:p>
                      <a:pPr marL="0" indent="0" algn="l">
                        <a:lnSpc>
                          <a:spcPct val="100000"/>
                        </a:lnSpc>
                        <a:buNone/>
                      </a:pPr>
                      <a:r>
                        <a:rPr lang="en-US" sz="1050" dirty="0">
                          <a:solidFill>
                            <a:srgbClr val="1F2937"/>
                          </a:solidFill>
                          <a:latin typeface="Courier New"/>
                          <a:cs typeface="Courier New"/>
                        </a:rPr>
                        <a:t>Auth service unreachable</a:t>
                      </a:r>
                    </a:p>
                  </a:txBody>
                  <a:tcPr marL="90000" marR="90000" marT="30000" marB="30000" anchor="ctr">
                    <a:lnT w="9525">
                      <a:solidFill>
                        <a:srgbClr val="D8E2EE"/>
                      </a:solidFill>
                    </a:lnT>
                    <a:lnB w="9525">
                      <a:solidFill>
                        <a:srgbClr val="D8E2EE"/>
                      </a:solidFill>
                    </a:lnB>
                    <a:solidFill>
                      <a:srgbClr val="F3F7FC"/>
                    </a:solidFill>
                  </a:tcPr>
                </a:tc>
                <a:tc>
                  <a:txBody>
                    <a:bodyPr/>
                    <a:lstStyle/>
                    <a:p>
                      <a:pPr marL="0" indent="0" algn="l">
                        <a:lnSpc>
                          <a:spcPct val="100000"/>
                        </a:lnSpc>
                        <a:buNone/>
                      </a:pPr>
                      <a:r>
                        <a:rPr lang="en-US" sz="1050" b="1" dirty="0">
                          <a:solidFill>
                            <a:srgbClr val="1C5A94"/>
                          </a:solidFill>
                          <a:latin typeface="Calibri"/>
                          <a:cs typeface="Calibri"/>
                        </a:rPr>
                        <a:t>Environment Issue</a:t>
                      </a:r>
                    </a:p>
                  </a:txBody>
                  <a:tcPr marL="90000" marR="90000" marT="30000" marB="30000" anchor="ctr">
                    <a:lnT w="9525">
                      <a:solidFill>
                        <a:srgbClr val="D8E2EE"/>
                      </a:solidFill>
                    </a:lnT>
                    <a:lnB w="9525">
                      <a:solidFill>
                        <a:srgbClr val="D8E2EE"/>
                      </a:solidFill>
                    </a:lnB>
                    <a:solidFill>
                      <a:srgbClr val="F3F7FC"/>
                    </a:solidFill>
                  </a:tcPr>
                </a:tc>
              </a:tr>
              <a:tr h="400000">
                <a:tc>
                  <a:txBody>
                    <a:bodyPr/>
                    <a:lstStyle/>
                    <a:p>
                      <a:pPr marL="0" indent="0" algn="l">
                        <a:lnSpc>
                          <a:spcPct val="100000"/>
                        </a:lnSpc>
                        <a:buNone/>
                      </a:pPr>
                      <a:r>
                        <a:rPr lang="en-US" sz="1050" b="1" dirty="0">
                          <a:solidFill>
                            <a:srgbClr val="5A6472"/>
                          </a:solidFill>
                          <a:latin typeface="Courier New"/>
                          <a:cs typeface="Courier New"/>
                        </a:rPr>
                        <a:t>04</a:t>
                      </a:r>
                    </a:p>
                  </a:txBody>
                  <a:tcPr marL="90000" marR="90000" marT="30000" marB="30000" anchor="ctr">
                    <a:lnT w="9525">
                      <a:solidFill>
                        <a:srgbClr val="D8E2EE"/>
                      </a:solidFill>
                    </a:lnT>
                    <a:lnB w="9525">
                      <a:solidFill>
                        <a:srgbClr val="D8E2EE"/>
                      </a:solidFill>
                    </a:lnB>
                    <a:solidFill>
                      <a:srgbClr val="FFFFFF"/>
                    </a:solidFill>
                  </a:tcPr>
                </a:tc>
                <a:tc>
                  <a:txBody>
                    <a:bodyPr/>
                    <a:lstStyle/>
                    <a:p>
                      <a:pPr marL="0" indent="0" algn="l">
                        <a:lnSpc>
                          <a:spcPct val="100000"/>
                        </a:lnSpc>
                        <a:buNone/>
                      </a:pPr>
                      <a:r>
                        <a:rPr lang="en-US" sz="1050" dirty="0">
                          <a:solidFill>
                            <a:srgbClr val="1F2937"/>
                          </a:solidFill>
                          <a:latin typeface="Courier New"/>
                          <a:cs typeface="Courier New"/>
                        </a:rPr>
                        <a:t>401 with no service-down or code signal</a:t>
                      </a:r>
                    </a:p>
                  </a:txBody>
                  <a:tcPr marL="90000" marR="90000" marT="30000" marB="30000" anchor="ctr">
                    <a:lnT w="9525">
                      <a:solidFill>
                        <a:srgbClr val="D8E2EE"/>
                      </a:solidFill>
                    </a:lnT>
                    <a:lnB w="9525">
                      <a:solidFill>
                        <a:srgbClr val="D8E2EE"/>
                      </a:solidFill>
                    </a:lnB>
                    <a:solidFill>
                      <a:srgbClr val="FFFFFF"/>
                    </a:solidFill>
                  </a:tcPr>
                </a:tc>
                <a:tc>
                  <a:txBody>
                    <a:bodyPr/>
                    <a:lstStyle/>
                    <a:p>
                      <a:pPr marL="0" indent="0" algn="l">
                        <a:lnSpc>
                          <a:spcPct val="100000"/>
                        </a:lnSpc>
                        <a:buNone/>
                      </a:pPr>
                      <a:r>
                        <a:rPr lang="en-US" sz="1050" b="1" dirty="0">
                          <a:solidFill>
                            <a:srgbClr val="7B2C96"/>
                          </a:solidFill>
                          <a:latin typeface="Calibri"/>
                          <a:cs typeface="Calibri"/>
                        </a:rPr>
                        <a:t>Ambiguous - flagged, not guessed</a:t>
                      </a:r>
                    </a:p>
                  </a:txBody>
                  <a:tcPr marL="90000" marR="90000" marT="30000" marB="30000" anchor="ctr">
                    <a:lnT w="9525">
                      <a:solidFill>
                        <a:srgbClr val="D8E2EE"/>
                      </a:solidFill>
                    </a:lnT>
                    <a:lnB w="9525">
                      <a:solidFill>
                        <a:srgbClr val="D8E2EE"/>
                      </a:solidFill>
                    </a:lnB>
                    <a:solidFill>
                      <a:srgbClr val="FFFFFF"/>
                    </a:solidFill>
                  </a:tcPr>
                </a:tc>
              </a:tr>
              <a:tr h="400000">
                <a:tc>
                  <a:txBody>
                    <a:bodyPr/>
                    <a:lstStyle/>
                    <a:p>
                      <a:pPr marL="0" indent="0" algn="l">
                        <a:lnSpc>
                          <a:spcPct val="100000"/>
                        </a:lnSpc>
                        <a:buNone/>
                      </a:pPr>
                      <a:r>
                        <a:rPr lang="en-US" sz="1050" b="1" dirty="0">
                          <a:solidFill>
                            <a:srgbClr val="5A6472"/>
                          </a:solidFill>
                          <a:latin typeface="Courier New"/>
                          <a:cs typeface="Courier New"/>
                        </a:rPr>
                        <a:t>05</a:t>
                      </a:r>
                    </a:p>
                  </a:txBody>
                  <a:tcPr marL="90000" marR="90000" marT="30000" marB="30000" anchor="ctr">
                    <a:lnT w="9525">
                      <a:solidFill>
                        <a:srgbClr val="D8E2EE"/>
                      </a:solidFill>
                    </a:lnT>
                    <a:lnB w="9525">
                      <a:solidFill>
                        <a:srgbClr val="D8E2EE"/>
                      </a:solidFill>
                    </a:lnB>
                    <a:solidFill>
                      <a:srgbClr val="F3F7FC"/>
                    </a:solidFill>
                  </a:tcPr>
                </a:tc>
                <a:tc>
                  <a:txBody>
                    <a:bodyPr/>
                    <a:lstStyle/>
                    <a:p>
                      <a:pPr marL="0" indent="0" algn="l">
                        <a:lnSpc>
                          <a:spcPct val="100000"/>
                        </a:lnSpc>
                        <a:buNone/>
                      </a:pPr>
                      <a:r>
                        <a:rPr lang="en-US" sz="1050" dirty="0">
                          <a:solidFill>
                            <a:srgbClr val="1F2937"/>
                          </a:solidFill>
                          <a:latin typeface="Courier New"/>
                          <a:cs typeface="Courier New"/>
                        </a:rPr>
                        <a:t>Database connection refused</a:t>
                      </a:r>
                    </a:p>
                  </a:txBody>
                  <a:tcPr marL="90000" marR="90000" marT="30000" marB="30000" anchor="ctr">
                    <a:lnT w="9525">
                      <a:solidFill>
                        <a:srgbClr val="D8E2EE"/>
                      </a:solidFill>
                    </a:lnT>
                    <a:lnB w="9525">
                      <a:solidFill>
                        <a:srgbClr val="D8E2EE"/>
                      </a:solidFill>
                    </a:lnB>
                    <a:solidFill>
                      <a:srgbClr val="F3F7FC"/>
                    </a:solidFill>
                  </a:tcPr>
                </a:tc>
                <a:tc>
                  <a:txBody>
                    <a:bodyPr/>
                    <a:lstStyle/>
                    <a:p>
                      <a:pPr marL="0" indent="0" algn="l">
                        <a:lnSpc>
                          <a:spcPct val="100000"/>
                        </a:lnSpc>
                        <a:buNone/>
                      </a:pPr>
                      <a:r>
                        <a:rPr lang="en-US" sz="1050" b="1" dirty="0">
                          <a:solidFill>
                            <a:srgbClr val="1C5A94"/>
                          </a:solidFill>
                          <a:latin typeface="Calibri"/>
                          <a:cs typeface="Calibri"/>
                        </a:rPr>
                        <a:t>Environment Issue</a:t>
                      </a:r>
                    </a:p>
                  </a:txBody>
                  <a:tcPr marL="90000" marR="90000" marT="30000" marB="30000" anchor="ctr">
                    <a:lnT w="9525">
                      <a:solidFill>
                        <a:srgbClr val="D8E2EE"/>
                      </a:solidFill>
                    </a:lnT>
                    <a:lnB w="9525">
                      <a:solidFill>
                        <a:srgbClr val="D8E2EE"/>
                      </a:solidFill>
                    </a:lnB>
                    <a:solidFill>
                      <a:srgbClr val="F3F7FC"/>
                    </a:solidFill>
                  </a:tcPr>
                </a:tc>
              </a:tr>
              <a:tr h="400000">
                <a:tc>
                  <a:txBody>
                    <a:bodyPr/>
                    <a:lstStyle/>
                    <a:p>
                      <a:pPr marL="0" indent="0" algn="l">
                        <a:lnSpc>
                          <a:spcPct val="100000"/>
                        </a:lnSpc>
                        <a:buNone/>
                      </a:pPr>
                      <a:r>
                        <a:rPr lang="en-US" sz="1050" b="1" dirty="0">
                          <a:solidFill>
                            <a:srgbClr val="5A6472"/>
                          </a:solidFill>
                          <a:latin typeface="Courier New"/>
                          <a:cs typeface="Courier New"/>
                        </a:rPr>
                        <a:t>06</a:t>
                      </a:r>
                    </a:p>
                  </a:txBody>
                  <a:tcPr marL="90000" marR="90000" marT="30000" marB="30000" anchor="ctr">
                    <a:lnT w="9525">
                      <a:solidFill>
                        <a:srgbClr val="D8E2EE"/>
                      </a:solidFill>
                    </a:lnT>
                    <a:lnB w="9525">
                      <a:solidFill>
                        <a:srgbClr val="D8E2EE"/>
                      </a:solidFill>
                    </a:lnB>
                    <a:solidFill>
                      <a:srgbClr val="FFFFFF"/>
                    </a:solidFill>
                  </a:tcPr>
                </a:tc>
                <a:tc>
                  <a:txBody>
                    <a:bodyPr/>
                    <a:lstStyle/>
                    <a:p>
                      <a:pPr marL="0" indent="0" algn="l">
                        <a:lnSpc>
                          <a:spcPct val="100000"/>
                        </a:lnSpc>
                        <a:buNone/>
                      </a:pPr>
                      <a:r>
                        <a:rPr lang="en-US" sz="1050" dirty="0">
                          <a:solidFill>
                            <a:srgbClr val="1F2937"/>
                          </a:solidFill>
                          <a:latin typeface="Courier New"/>
                          <a:cs typeface="Courier New"/>
                        </a:rPr>
                        <a:t>HTTP 2xx but wrong business state</a:t>
                      </a:r>
                    </a:p>
                  </a:txBody>
                  <a:tcPr marL="90000" marR="90000" marT="30000" marB="30000" anchor="ctr">
                    <a:lnT w="9525">
                      <a:solidFill>
                        <a:srgbClr val="D8E2EE"/>
                      </a:solidFill>
                    </a:lnT>
                    <a:lnB w="9525">
                      <a:solidFill>
                        <a:srgbClr val="D8E2EE"/>
                      </a:solidFill>
                    </a:lnB>
                    <a:solidFill>
                      <a:srgbClr val="FFFFFF"/>
                    </a:solidFill>
                  </a:tcPr>
                </a:tc>
                <a:tc>
                  <a:txBody>
                    <a:bodyPr/>
                    <a:lstStyle/>
                    <a:p>
                      <a:pPr marL="0" indent="0" algn="l">
                        <a:lnSpc>
                          <a:spcPct val="100000"/>
                        </a:lnSpc>
                        <a:buNone/>
                      </a:pPr>
                      <a:r>
                        <a:rPr lang="en-US" sz="1050" b="1" dirty="0">
                          <a:solidFill>
                            <a:srgbClr val="B42318"/>
                          </a:solidFill>
                          <a:latin typeface="Calibri"/>
                          <a:cs typeface="Calibri"/>
                        </a:rPr>
                        <a:t>Application Defect (logic)</a:t>
                      </a:r>
                    </a:p>
                  </a:txBody>
                  <a:tcPr marL="90000" marR="90000" marT="30000" marB="30000" anchor="ctr">
                    <a:lnT w="9525">
                      <a:solidFill>
                        <a:srgbClr val="D8E2EE"/>
                      </a:solidFill>
                    </a:lnT>
                    <a:lnB w="9525">
                      <a:solidFill>
                        <a:srgbClr val="D8E2EE"/>
                      </a:solidFill>
                    </a:lnB>
                    <a:solidFill>
                      <a:srgbClr val="FFFFFF"/>
                    </a:solidFill>
                  </a:tcPr>
                </a:tc>
              </a:tr>
            </a:tbl>
          </a:graphicData>
        </a:graphic>
      </p:graphicFrame>
      <p:sp>
        <p:nvSpPr>
          <p:cNvPr id="545" name="TextBox"/>
          <p:cNvSpPr txBox="1"/>
          <p:nvPr/>
        </p:nvSpPr>
        <p:spPr>
          <a:xfrm>
            <a:off x="460000" y="5700000"/>
            <a:ext cx="11270000" cy="400000"/>
          </a:xfrm>
          <a:prstGeom prst="rect">
            <a:avLst/>
          </a:prstGeom>
          <a:noFill/>
        </p:spPr>
        <p:txBody>
          <a:bodyPr wrap="square" lIns="0" tIns="0" rIns="0" bIns="0" anchor="t">
            <a:noAutofit/>
          </a:bodyPr>
          <a:lstStyle/>
          <a:p>
            <a:pPr marL="0" indent="0" algn="ctr">
              <a:buNone/>
            </a:pPr>
            <a:r>
              <a:rPr lang="en-US" sz="1050" i="1" dirty="0">
                <a:solidFill>
                  <a:srgbClr val="5A6472"/>
                </a:solidFill>
                <a:latin typeface="Calibri"/>
                <a:cs typeface="Calibri"/>
              </a:rPr>
              <a:t>Row 04 is the one to notice - when the evidence genuinely does not decide the answer, the case is flagged as ambiguous rather than forced into a category.</a:t>
            </a:r>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body" sz="quarter" idx="14"/>
          </p:nvPr>
        </p:nvSpPr>
        <p:spPr/>
        <p:txBody>
          <a:bodyPr/>
          <a:lstStyle/>
          <a:p>
            <a:r>
              <a:rPr lang="en-US" dirty="0"/>
              <a:t>One Repo, One Deployment, Zero CORS</a:t>
            </a:r>
          </a:p>
        </p:txBody>
      </p:sp>
      <p:sp>
        <p:nvSpPr>
          <p:cNvPr id="3" name="Slide Number Placeholder"/>
          <p:cNvSpPr>
            <a:spLocks noGrp="1"/>
          </p:cNvSpPr>
          <p:nvPr>
            <p:ph type="sldNum" sz="quarter" idx="4"/>
          </p:nvPr>
        </p:nvSpPr>
        <p:spPr/>
        <p:txBody>
          <a:bodyPr/>
          <a:lstStyle/>
          <a:p>
            <a:fld id="{F58B522F-7218-4DD2-9A79-8098A090879F}" type="slidenum">
              <a:rPr lang="en-US" smtClean="0"/>
              <a:pPr/>
              <a:t>2</a:t>
            </a:fld>
            <a:endParaRPr lang="en-US"/>
          </a:p>
        </p:txBody>
      </p:sp>
      <p:sp>
        <p:nvSpPr>
          <p:cNvPr id="546" name="Shape"/>
          <p:cNvSpPr/>
          <p:nvPr/>
        </p:nvSpPr>
        <p:spPr>
          <a:xfrm>
            <a:off x="460000" y="1280000"/>
            <a:ext cx="3330000" cy="2320000"/>
          </a:xfrm>
          <a:prstGeom prst="roundRect">
            <a:avLst>
              <a:gd name="adj" fmla="val 10000"/>
            </a:avLst>
          </a:prstGeom>
          <a:solidFill>
            <a:srgbClr val="FFFFFF"/>
          </a:solidFill>
          <a:ln w="9525">
            <a:solidFill>
              <a:srgbClr val="D8E2EE"/>
            </a:solidFill>
          </a:ln>
        </p:spPr>
        <p:txBody>
          <a:bodyPr wrap="square" lIns="45720" tIns="45720" rIns="45720" bIns="45720" anchor="t">
            <a:noAutofit/>
          </a:bodyPr>
          <a:lstStyle/>
          <a:p>
            <a:endParaRPr lang="en-US"/>
          </a:p>
        </p:txBody>
      </p:sp>
      <p:sp>
        <p:nvSpPr>
          <p:cNvPr id="547" name="Shape"/>
          <p:cNvSpPr/>
          <p:nvPr/>
        </p:nvSpPr>
        <p:spPr>
          <a:xfrm>
            <a:off x="460000" y="1280000"/>
            <a:ext cx="3330000" cy="480000"/>
          </a:xfrm>
          <a:prstGeom prst="roundRect">
            <a:avLst>
              <a:gd name="adj" fmla="val 10000"/>
            </a:avLst>
          </a:prstGeom>
          <a:solidFill>
            <a:srgbClr val="1C76BC"/>
          </a:solidFill>
          <a:ln>
            <a:noFill/>
          </a:ln>
        </p:spPr>
        <p:txBody>
          <a:bodyPr wrap="square" lIns="45720" tIns="45720" rIns="45720" bIns="45720" anchor="ctr">
            <a:noAutofit/>
          </a:bodyPr>
          <a:lstStyle/>
          <a:p>
            <a:pPr marL="0" indent="0" algn="ctr">
              <a:buNone/>
            </a:pPr>
            <a:r>
              <a:rPr lang="en-US" sz="1050" b="1" spc="140" dirty="0">
                <a:solidFill>
                  <a:srgbClr val="FFFFFF"/>
                </a:solidFill>
                <a:latin typeface="Avenir Next LT Pro"/>
                <a:cs typeface="Avenir Next LT Pro"/>
              </a:rPr>
              <a:t>CLIENT</a:t>
            </a:r>
          </a:p>
        </p:txBody>
      </p:sp>
      <p:sp>
        <p:nvSpPr>
          <p:cNvPr id="548" name="TextBox"/>
          <p:cNvSpPr txBox="1"/>
          <p:nvPr/>
        </p:nvSpPr>
        <p:spPr>
          <a:xfrm>
            <a:off x="720000" y="1930000"/>
            <a:ext cx="2810000" cy="1700000"/>
          </a:xfrm>
          <a:prstGeom prst="rect">
            <a:avLst/>
          </a:prstGeom>
          <a:noFill/>
        </p:spPr>
        <p:txBody>
          <a:bodyPr wrap="square" lIns="0" tIns="0" rIns="0" bIns="0" anchor="t">
            <a:noAutofit/>
          </a:bodyPr>
          <a:lstStyle/>
          <a:p>
            <a:pPr marL="0" indent="0" algn="l">
              <a:spcAft>
                <a:spcPts val="200"/>
              </a:spcAft>
              <a:buNone/>
            </a:pPr>
            <a:r>
              <a:rPr lang="en-US" sz="1400" b="1" dirty="0">
                <a:solidFill>
                  <a:srgbClr val="1F2937"/>
                </a:solidFill>
                <a:latin typeface="Avenir Next LT Pro"/>
                <a:cs typeface="Avenir Next LT Pro"/>
              </a:rPr>
              <a:t>React 18 + Vite</a:t>
            </a:r>
          </a:p>
          <a:p>
            <a:pPr marL="0" indent="0" algn="l">
              <a:lnSpc>
                <a:spcPct val="102000"/>
              </a:lnSpc>
              <a:spcAft>
                <a:spcPts val="140"/>
              </a:spcAft>
              <a:buNone/>
            </a:pPr>
            <a:r>
              <a:rPr lang="en-US" sz="1050" dirty="0">
                <a:solidFill>
                  <a:srgbClr val="5A6472"/>
                </a:solidFill>
                <a:latin typeface="Calibri"/>
                <a:cs typeface="Calibri"/>
              </a:rPr>
              <a:t>•  TypeScript and Tailwind CSS</a:t>
            </a:r>
          </a:p>
          <a:p>
            <a:pPr marL="0" indent="0" algn="l">
              <a:lnSpc>
                <a:spcPct val="102000"/>
              </a:lnSpc>
              <a:spcAft>
                <a:spcPts val="140"/>
              </a:spcAft>
              <a:buNone/>
            </a:pPr>
            <a:r>
              <a:rPr lang="en-US" sz="1050" dirty="0">
                <a:solidFill>
                  <a:srgbClr val="5A6472"/>
                </a:solidFill>
                <a:latin typeface="Calibri"/>
                <a:cs typeface="Calibri"/>
              </a:rPr>
              <a:t>•  Recharts and React Router</a:t>
            </a:r>
          </a:p>
          <a:p>
            <a:pPr marL="0" indent="0" algn="l">
              <a:lnSpc>
                <a:spcPct val="102000"/>
              </a:lnSpc>
              <a:spcAft>
                <a:spcPts val="140"/>
              </a:spcAft>
              <a:buNone/>
            </a:pPr>
            <a:r>
              <a:rPr lang="en-US" sz="1050" dirty="0">
                <a:solidFill>
                  <a:srgbClr val="5A6472"/>
                </a:solidFill>
                <a:latin typeface="Calibri"/>
                <a:cs typeface="Calibri"/>
              </a:rPr>
              <a:t>•  Shared analysis context</a:t>
            </a:r>
          </a:p>
          <a:p>
            <a:pPr marL="0" indent="0" algn="l">
              <a:lnSpc>
                <a:spcPct val="102000"/>
              </a:lnSpc>
              <a:spcAft>
                <a:spcPts val="140"/>
              </a:spcAft>
              <a:buNone/>
            </a:pPr>
            <a:r>
              <a:rPr lang="en-US" sz="1050" dirty="0">
                <a:solidFill>
                  <a:srgbClr val="5A6472"/>
                </a:solidFill>
                <a:latin typeface="Calibri"/>
                <a:cs typeface="Calibri"/>
              </a:rPr>
              <a:t>•  Copy, download and export</a:t>
            </a:r>
          </a:p>
        </p:txBody>
      </p:sp>
      <p:sp>
        <p:nvSpPr>
          <p:cNvPr id="549" name="Arrow"/>
          <p:cNvSpPr/>
          <p:nvPr/>
        </p:nvSpPr>
        <p:spPr>
          <a:xfrm>
            <a:off x="3920000" y="2420000"/>
            <a:ext cx="380000" cy="190000"/>
          </a:xfrm>
          <a:prstGeom prst="rightArrow">
            <a:avLst>
              <a:gd name="adj1" fmla="val 50000"/>
              <a:gd name="adj2" fmla="val 50000"/>
            </a:avLst>
          </a:prstGeom>
          <a:solidFill>
            <a:srgbClr val="D8E2EE"/>
          </a:solidFill>
          <a:ln>
            <a:noFill/>
          </a:ln>
        </p:spPr>
        <p:txBody>
          <a:bodyPr/>
          <a:lstStyle/>
          <a:p>
            <a:endParaRPr lang="en-US"/>
          </a:p>
        </p:txBody>
      </p:sp>
      <p:sp>
        <p:nvSpPr>
          <p:cNvPr id="550" name="TextBox"/>
          <p:cNvSpPr txBox="1"/>
          <p:nvPr/>
        </p:nvSpPr>
        <p:spPr>
          <a:xfrm>
            <a:off x="3830000" y="2680000"/>
            <a:ext cx="560000" cy="260000"/>
          </a:xfrm>
          <a:prstGeom prst="rect">
            <a:avLst/>
          </a:prstGeom>
          <a:noFill/>
        </p:spPr>
        <p:txBody>
          <a:bodyPr wrap="square" lIns="0" tIns="0" rIns="0" bIns="0" anchor="t">
            <a:noAutofit/>
          </a:bodyPr>
          <a:lstStyle/>
          <a:p>
            <a:pPr marL="0" indent="0" algn="ctr">
              <a:buNone/>
            </a:pPr>
            <a:r>
              <a:rPr lang="en-US" sz="850" b="1" dirty="0">
                <a:solidFill>
                  <a:srgbClr val="5A6472"/>
                </a:solidFill>
                <a:latin typeface="Calibri"/>
                <a:cs typeface="Calibri"/>
              </a:rPr>
              <a:t>same origin</a:t>
            </a:r>
          </a:p>
        </p:txBody>
      </p:sp>
      <p:sp>
        <p:nvSpPr>
          <p:cNvPr id="551" name="Shape"/>
          <p:cNvSpPr/>
          <p:nvPr/>
        </p:nvSpPr>
        <p:spPr>
          <a:xfrm>
            <a:off x="4430000" y="1280000"/>
            <a:ext cx="3330000" cy="2320000"/>
          </a:xfrm>
          <a:prstGeom prst="roundRect">
            <a:avLst>
              <a:gd name="adj" fmla="val 10000"/>
            </a:avLst>
          </a:prstGeom>
          <a:solidFill>
            <a:srgbClr val="FFFFFF"/>
          </a:solidFill>
          <a:ln w="9525">
            <a:solidFill>
              <a:srgbClr val="D8E2EE"/>
            </a:solidFill>
          </a:ln>
        </p:spPr>
        <p:txBody>
          <a:bodyPr wrap="square" lIns="45720" tIns="45720" rIns="45720" bIns="45720" anchor="t">
            <a:noAutofit/>
          </a:bodyPr>
          <a:lstStyle/>
          <a:p>
            <a:endParaRPr lang="en-US"/>
          </a:p>
        </p:txBody>
      </p:sp>
      <p:sp>
        <p:nvSpPr>
          <p:cNvPr id="552" name="Shape"/>
          <p:cNvSpPr/>
          <p:nvPr/>
        </p:nvSpPr>
        <p:spPr>
          <a:xfrm>
            <a:off x="4430000" y="1280000"/>
            <a:ext cx="3330000" cy="480000"/>
          </a:xfrm>
          <a:prstGeom prst="roundRect">
            <a:avLst>
              <a:gd name="adj" fmla="val 10000"/>
            </a:avLst>
          </a:prstGeom>
          <a:solidFill>
            <a:srgbClr val="29AAE1"/>
          </a:solidFill>
          <a:ln>
            <a:noFill/>
          </a:ln>
        </p:spPr>
        <p:txBody>
          <a:bodyPr wrap="square" lIns="45720" tIns="45720" rIns="45720" bIns="45720" anchor="ctr">
            <a:noAutofit/>
          </a:bodyPr>
          <a:lstStyle/>
          <a:p>
            <a:pPr marL="0" indent="0" algn="ctr">
              <a:buNone/>
            </a:pPr>
            <a:r>
              <a:rPr lang="en-US" sz="1050" b="1" spc="140" dirty="0">
                <a:solidFill>
                  <a:srgbClr val="FFFFFF"/>
                </a:solidFill>
                <a:latin typeface="Avenir Next LT Pro"/>
                <a:cs typeface="Avenir Next LT Pro"/>
              </a:rPr>
              <a:t>API</a:t>
            </a:r>
          </a:p>
        </p:txBody>
      </p:sp>
      <p:sp>
        <p:nvSpPr>
          <p:cNvPr id="553" name="TextBox"/>
          <p:cNvSpPr txBox="1"/>
          <p:nvPr/>
        </p:nvSpPr>
        <p:spPr>
          <a:xfrm>
            <a:off x="4690000" y="1930000"/>
            <a:ext cx="2810000" cy="1700000"/>
          </a:xfrm>
          <a:prstGeom prst="rect">
            <a:avLst/>
          </a:prstGeom>
          <a:noFill/>
        </p:spPr>
        <p:txBody>
          <a:bodyPr wrap="square" lIns="0" tIns="0" rIns="0" bIns="0" anchor="t">
            <a:noAutofit/>
          </a:bodyPr>
          <a:lstStyle/>
          <a:p>
            <a:pPr marL="0" indent="0" algn="l">
              <a:spcAft>
                <a:spcPts val="200"/>
              </a:spcAft>
              <a:buNone/>
            </a:pPr>
            <a:r>
              <a:rPr lang="en-US" sz="1400" b="1" dirty="0">
                <a:solidFill>
                  <a:srgbClr val="1F2937"/>
                </a:solidFill>
                <a:latin typeface="Avenir Next LT Pro"/>
                <a:cs typeface="Avenir Next LT Pro"/>
              </a:rPr>
              <a:t>Express, One Function</a:t>
            </a:r>
          </a:p>
          <a:p>
            <a:pPr marL="0" indent="0" algn="l">
              <a:lnSpc>
                <a:spcPct val="102000"/>
              </a:lnSpc>
              <a:spcAft>
                <a:spcPts val="140"/>
              </a:spcAft>
              <a:buNone/>
            </a:pPr>
            <a:r>
              <a:rPr lang="en-US" sz="1050" dirty="0">
                <a:solidFill>
                  <a:srgbClr val="5A6472"/>
                </a:solidFill>
                <a:latin typeface="Calibri"/>
                <a:cs typeface="Calibri"/>
              </a:rPr>
              <a:t>•  Zod-validated everywhere</a:t>
            </a:r>
          </a:p>
          <a:p>
            <a:pPr marL="0" indent="0" algn="l">
              <a:lnSpc>
                <a:spcPct val="102000"/>
              </a:lnSpc>
              <a:spcAft>
                <a:spcPts val="140"/>
              </a:spcAft>
              <a:buNone/>
            </a:pPr>
            <a:r>
              <a:rPr lang="en-US" sz="1050" dirty="0">
                <a:solidFill>
                  <a:srgbClr val="5A6472"/>
                </a:solidFill>
                <a:latin typeface="Calibri"/>
                <a:cs typeface="Calibri"/>
              </a:rPr>
              <a:t>•  Runs as a serverless function</a:t>
            </a:r>
          </a:p>
          <a:p>
            <a:pPr marL="0" indent="0" algn="l">
              <a:lnSpc>
                <a:spcPct val="102000"/>
              </a:lnSpc>
              <a:spcAft>
                <a:spcPts val="140"/>
              </a:spcAft>
              <a:buNone/>
            </a:pPr>
            <a:r>
              <a:rPr lang="en-US" sz="1050" dirty="0">
                <a:solidFill>
                  <a:srgbClr val="5A6472"/>
                </a:solidFill>
                <a:latin typeface="Calibri"/>
                <a:cs typeface="Calibri"/>
              </a:rPr>
              <a:t>•  Or as a plain Node process</a:t>
            </a:r>
          </a:p>
          <a:p>
            <a:pPr marL="0" indent="0" algn="l">
              <a:lnSpc>
                <a:spcPct val="102000"/>
              </a:lnSpc>
              <a:spcAft>
                <a:spcPts val="140"/>
              </a:spcAft>
              <a:buNone/>
            </a:pPr>
            <a:r>
              <a:rPr lang="en-US" sz="1050" dirty="0">
                <a:solidFill>
                  <a:srgbClr val="5A6472"/>
                </a:solidFill>
                <a:latin typeface="Calibri"/>
                <a:cs typeface="Calibri"/>
              </a:rPr>
              <a:t>•  Typed, structured errors</a:t>
            </a:r>
          </a:p>
        </p:txBody>
      </p:sp>
      <p:sp>
        <p:nvSpPr>
          <p:cNvPr id="554" name="Arrow"/>
          <p:cNvSpPr/>
          <p:nvPr/>
        </p:nvSpPr>
        <p:spPr>
          <a:xfrm>
            <a:off x="7890000" y="2420000"/>
            <a:ext cx="380000" cy="190000"/>
          </a:xfrm>
          <a:prstGeom prst="rightArrow">
            <a:avLst>
              <a:gd name="adj1" fmla="val 50000"/>
              <a:gd name="adj2" fmla="val 50000"/>
            </a:avLst>
          </a:prstGeom>
          <a:solidFill>
            <a:srgbClr val="D8E2EE"/>
          </a:solidFill>
          <a:ln>
            <a:noFill/>
          </a:ln>
        </p:spPr>
        <p:txBody>
          <a:bodyPr/>
          <a:lstStyle/>
          <a:p>
            <a:endParaRPr lang="en-US"/>
          </a:p>
        </p:txBody>
      </p:sp>
      <p:sp>
        <p:nvSpPr>
          <p:cNvPr id="555" name="TextBox"/>
          <p:cNvSpPr txBox="1"/>
          <p:nvPr/>
        </p:nvSpPr>
        <p:spPr>
          <a:xfrm>
            <a:off x="7800000" y="2680000"/>
            <a:ext cx="560000" cy="260000"/>
          </a:xfrm>
          <a:prstGeom prst="rect">
            <a:avLst/>
          </a:prstGeom>
          <a:noFill/>
        </p:spPr>
        <p:txBody>
          <a:bodyPr wrap="square" lIns="0" tIns="0" rIns="0" bIns="0" anchor="t">
            <a:noAutofit/>
          </a:bodyPr>
          <a:lstStyle/>
          <a:p>
            <a:pPr marL="0" indent="0" algn="ctr">
              <a:buNone/>
            </a:pPr>
            <a:r>
              <a:rPr lang="en-US" sz="850" b="1" dirty="0">
                <a:solidFill>
                  <a:srgbClr val="5A6472"/>
                </a:solidFill>
                <a:latin typeface="Calibri"/>
                <a:cs typeface="Calibri"/>
              </a:rPr>
              <a:t>swappable</a:t>
            </a:r>
          </a:p>
        </p:txBody>
      </p:sp>
      <p:sp>
        <p:nvSpPr>
          <p:cNvPr id="556" name="Shape"/>
          <p:cNvSpPr/>
          <p:nvPr/>
        </p:nvSpPr>
        <p:spPr>
          <a:xfrm>
            <a:off x="8400000" y="1280000"/>
            <a:ext cx="3330000" cy="2320000"/>
          </a:xfrm>
          <a:prstGeom prst="roundRect">
            <a:avLst>
              <a:gd name="adj" fmla="val 10000"/>
            </a:avLst>
          </a:prstGeom>
          <a:solidFill>
            <a:srgbClr val="FFFFFF"/>
          </a:solidFill>
          <a:ln w="9525">
            <a:solidFill>
              <a:srgbClr val="D8E2EE"/>
            </a:solidFill>
          </a:ln>
        </p:spPr>
        <p:txBody>
          <a:bodyPr wrap="square" lIns="45720" tIns="45720" rIns="45720" bIns="45720" anchor="t">
            <a:noAutofit/>
          </a:bodyPr>
          <a:lstStyle/>
          <a:p>
            <a:endParaRPr lang="en-US"/>
          </a:p>
        </p:txBody>
      </p:sp>
      <p:sp>
        <p:nvSpPr>
          <p:cNvPr id="557" name="Shape"/>
          <p:cNvSpPr/>
          <p:nvPr/>
        </p:nvSpPr>
        <p:spPr>
          <a:xfrm>
            <a:off x="8400000" y="1280000"/>
            <a:ext cx="3330000" cy="480000"/>
          </a:xfrm>
          <a:prstGeom prst="roundRect">
            <a:avLst>
              <a:gd name="adj" fmla="val 10000"/>
            </a:avLst>
          </a:prstGeom>
          <a:solidFill>
            <a:srgbClr val="24BFCC"/>
          </a:solidFill>
          <a:ln>
            <a:noFill/>
          </a:ln>
        </p:spPr>
        <p:txBody>
          <a:bodyPr wrap="square" lIns="45720" tIns="45720" rIns="45720" bIns="45720" anchor="ctr">
            <a:noAutofit/>
          </a:bodyPr>
          <a:lstStyle/>
          <a:p>
            <a:pPr marL="0" indent="0" algn="ctr">
              <a:buNone/>
            </a:pPr>
            <a:r>
              <a:rPr lang="en-US" sz="1050" b="1" spc="140" dirty="0">
                <a:solidFill>
                  <a:srgbClr val="FFFFFF"/>
                </a:solidFill>
                <a:latin typeface="Avenir Next LT Pro"/>
                <a:cs typeface="Avenir Next LT Pro"/>
              </a:rPr>
              <a:t>AI</a:t>
            </a:r>
          </a:p>
        </p:txBody>
      </p:sp>
      <p:sp>
        <p:nvSpPr>
          <p:cNvPr id="558" name="TextBox"/>
          <p:cNvSpPr txBox="1"/>
          <p:nvPr/>
        </p:nvSpPr>
        <p:spPr>
          <a:xfrm>
            <a:off x="8660000" y="1930000"/>
            <a:ext cx="2810000" cy="1700000"/>
          </a:xfrm>
          <a:prstGeom prst="rect">
            <a:avLst/>
          </a:prstGeom>
          <a:noFill/>
        </p:spPr>
        <p:txBody>
          <a:bodyPr wrap="square" lIns="0" tIns="0" rIns="0" bIns="0" anchor="t">
            <a:noAutofit/>
          </a:bodyPr>
          <a:lstStyle/>
          <a:p>
            <a:pPr marL="0" indent="0" algn="l">
              <a:spcAft>
                <a:spcPts val="200"/>
              </a:spcAft>
              <a:buNone/>
            </a:pPr>
            <a:r>
              <a:rPr lang="en-US" sz="1400" b="1" dirty="0">
                <a:solidFill>
                  <a:srgbClr val="1F2937"/>
                </a:solidFill>
                <a:latin typeface="Avenir Next LT Pro"/>
                <a:cs typeface="Avenir Next LT Pro"/>
              </a:rPr>
              <a:t>LLMProvider</a:t>
            </a:r>
          </a:p>
          <a:p>
            <a:pPr marL="0" indent="0" algn="l">
              <a:lnSpc>
                <a:spcPct val="102000"/>
              </a:lnSpc>
              <a:spcAft>
                <a:spcPts val="140"/>
              </a:spcAft>
              <a:buNone/>
            </a:pPr>
            <a:r>
              <a:rPr lang="en-US" sz="1050" dirty="0">
                <a:solidFill>
                  <a:srgbClr val="5A6472"/>
                </a:solidFill>
                <a:latin typeface="Calibri"/>
                <a:cs typeface="Calibri"/>
              </a:rPr>
              <a:t>•  Anthropic Claude</a:t>
            </a:r>
          </a:p>
          <a:p>
            <a:pPr marL="0" indent="0" algn="l">
              <a:lnSpc>
                <a:spcPct val="102000"/>
              </a:lnSpc>
              <a:spcAft>
                <a:spcPts val="140"/>
              </a:spcAft>
              <a:buNone/>
            </a:pPr>
            <a:r>
              <a:rPr lang="en-US" sz="1050" dirty="0">
                <a:solidFill>
                  <a:srgbClr val="5A6472"/>
                </a:solidFill>
                <a:latin typeface="Calibri"/>
                <a:cs typeface="Calibri"/>
              </a:rPr>
              <a:t>•  OpenAI</a:t>
            </a:r>
          </a:p>
          <a:p>
            <a:pPr marL="0" indent="0" algn="l">
              <a:lnSpc>
                <a:spcPct val="102000"/>
              </a:lnSpc>
              <a:spcAft>
                <a:spcPts val="140"/>
              </a:spcAft>
              <a:buNone/>
            </a:pPr>
            <a:r>
              <a:rPr lang="en-US" sz="1050" dirty="0">
                <a:solidFill>
                  <a:srgbClr val="5A6472"/>
                </a:solidFill>
                <a:latin typeface="Calibri"/>
                <a:cs typeface="Calibri"/>
              </a:rPr>
              <a:t>•  Rule-based mock, zero keys</a:t>
            </a:r>
          </a:p>
          <a:p>
            <a:pPr marL="0" indent="0" algn="l">
              <a:lnSpc>
                <a:spcPct val="102000"/>
              </a:lnSpc>
              <a:spcAft>
                <a:spcPts val="140"/>
              </a:spcAft>
              <a:buNone/>
            </a:pPr>
            <a:r>
              <a:rPr lang="en-US" sz="1050" dirty="0">
                <a:solidFill>
                  <a:srgbClr val="5A6472"/>
                </a:solidFill>
                <a:latin typeface="Calibri"/>
                <a:cs typeface="Calibri"/>
              </a:rPr>
              <a:t>•  One automatic correction retry</a:t>
            </a:r>
          </a:p>
        </p:txBody>
      </p:sp>
      <p:sp>
        <p:nvSpPr>
          <p:cNvPr id="559" name="Shape"/>
          <p:cNvSpPr/>
          <p:nvPr/>
        </p:nvSpPr>
        <p:spPr>
          <a:xfrm>
            <a:off x="460000" y="3900000"/>
            <a:ext cx="11270000" cy="1060000"/>
          </a:xfrm>
          <a:prstGeom prst="roundRect">
            <a:avLst>
              <a:gd name="adj" fmla="val 10000"/>
            </a:avLst>
          </a:prstGeom>
          <a:solidFill>
            <a:srgbClr val="F3F7FC"/>
          </a:solidFill>
          <a:ln w="9525">
            <a:solidFill>
              <a:srgbClr val="D8E2EE"/>
            </a:solidFill>
          </a:ln>
        </p:spPr>
        <p:txBody>
          <a:bodyPr wrap="square" lIns="45720" tIns="45720" rIns="45720" bIns="45720" anchor="ctr">
            <a:noAutofit/>
          </a:bodyPr>
          <a:lstStyle/>
          <a:p>
            <a:pPr marL="0" indent="0" algn="ctr">
              <a:spcAft>
                <a:spcPts val="140"/>
              </a:spcAft>
              <a:buNone/>
            </a:pPr>
            <a:r>
              <a:rPr lang="en-US" sz="1300" b="1" dirty="0">
                <a:solidFill>
                  <a:srgbClr val="2A3C90"/>
                </a:solidFill>
                <a:latin typeface="Avenir Next LT Pro"/>
                <a:cs typeface="Avenir Next LT Pro"/>
              </a:rPr>
              <a:t>Structured outputs are validated with Zod on every call.</a:t>
            </a:r>
          </a:p>
          <a:p>
            <a:pPr marL="0" indent="0" algn="ctr">
              <a:buNone/>
            </a:pPr>
            <a:r>
              <a:rPr lang="en-US" sz="1100" dirty="0">
                <a:solidFill>
                  <a:srgbClr val="5A6472"/>
                </a:solidFill>
                <a:latin typeface="Calibri"/>
                <a:cs typeface="Calibri"/>
              </a:rPr>
              <a:t>If a response fails validation, one automatic retry with a correction prompt runs before any error is ever surfaced to the user.</a:t>
            </a:r>
          </a:p>
        </p:txBody>
      </p:sp>
      <p:sp>
        <p:nvSpPr>
          <p:cNvPr id="560" name="TextBox"/>
          <p:cNvSpPr txBox="1"/>
          <p:nvPr/>
        </p:nvSpPr>
        <p:spPr>
          <a:xfrm>
            <a:off x="460000" y="5200000"/>
            <a:ext cx="11270000" cy="400000"/>
          </a:xfrm>
          <a:prstGeom prst="rect">
            <a:avLst/>
          </a:prstGeom>
          <a:noFill/>
        </p:spPr>
        <p:txBody>
          <a:bodyPr wrap="square" lIns="0" tIns="0" rIns="0" bIns="0" anchor="t">
            <a:noAutofit/>
          </a:bodyPr>
          <a:lstStyle/>
          <a:p>
            <a:pPr marL="0" indent="0" algn="ctr">
              <a:buNone/>
            </a:pPr>
            <a:r>
              <a:rPr lang="en-US" sz="1100" i="1" dirty="0">
                <a:solidFill>
                  <a:srgbClr val="5A6472"/>
                </a:solidFill>
                <a:latin typeface="Calibri"/>
                <a:cs typeface="Calibri"/>
              </a:rPr>
              <a:t>One repository, one deployment, no cross-origin configuration to get wrong.</a:t>
            </a:r>
          </a:p>
        </p:txBody>
      </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body" sz="quarter" idx="14"/>
          </p:nvPr>
        </p:nvSpPr>
        <p:spPr/>
        <p:txBody>
          <a:bodyPr/>
          <a:lstStyle/>
          <a:p>
            <a:r>
              <a:rPr lang="en-US" dirty="0"/>
              <a:t>Verified for Real, Not Just Reviewed</a:t>
            </a:r>
          </a:p>
        </p:txBody>
      </p:sp>
      <p:sp>
        <p:nvSpPr>
          <p:cNvPr id="3" name="Slide Number Placeholder"/>
          <p:cNvSpPr>
            <a:spLocks noGrp="1"/>
          </p:cNvSpPr>
          <p:nvPr>
            <p:ph type="sldNum" sz="quarter" idx="4"/>
          </p:nvPr>
        </p:nvSpPr>
        <p:spPr/>
        <p:txBody>
          <a:bodyPr/>
          <a:lstStyle/>
          <a:p>
            <a:fld id="{F58B522F-7218-4DD2-9A79-8098A090879F}" type="slidenum">
              <a:rPr lang="en-US" smtClean="0"/>
              <a:pPr/>
              <a:t>2</a:t>
            </a:fld>
            <a:endParaRPr lang="en-US"/>
          </a:p>
        </p:txBody>
      </p:sp>
      <p:sp>
        <p:nvSpPr>
          <p:cNvPr id="561" name="TextBox"/>
          <p:cNvSpPr txBox="1"/>
          <p:nvPr/>
        </p:nvSpPr>
        <p:spPr>
          <a:xfrm>
            <a:off x="460000" y="1010000"/>
            <a:ext cx="10600000" cy="560000"/>
          </a:xfrm>
          <a:prstGeom prst="rect">
            <a:avLst/>
          </a:prstGeom>
          <a:noFill/>
        </p:spPr>
        <p:txBody>
          <a:bodyPr wrap="square" lIns="0" tIns="0" rIns="0" bIns="0" anchor="t">
            <a:noAutofit/>
          </a:bodyPr>
          <a:lstStyle/>
          <a:p>
            <a:pPr marL="0" indent="0" algn="l">
              <a:lnSpc>
                <a:spcPct val="108000"/>
              </a:lnSpc>
              <a:buNone/>
            </a:pPr>
            <a:r>
              <a:rPr lang="en-US" sz="1300" dirty="0">
                <a:solidFill>
                  <a:srgbClr val="5A6472"/>
                </a:solidFill>
                <a:latin typeface="Calibri"/>
                <a:cs typeface="Calibri"/>
              </a:rPr>
              <a:t>Every claim in this deck was checked against the running application - not asserted from memory.</a:t>
            </a:r>
          </a:p>
        </p:txBody>
      </p:sp>
      <p:sp>
        <p:nvSpPr>
          <p:cNvPr id="562" name="Shape"/>
          <p:cNvSpPr/>
          <p:nvPr/>
        </p:nvSpPr>
        <p:spPr>
          <a:xfrm>
            <a:off x="460000" y="1700000"/>
            <a:ext cx="2592500" cy="15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00"/>
              </a:spcAft>
              <a:buNone/>
            </a:pPr>
            <a:r>
              <a:rPr lang="en-US" sz="4000" b="1" dirty="0">
                <a:solidFill>
                  <a:srgbClr val="1C76BC"/>
                </a:solidFill>
                <a:latin typeface="Avenir Next LT Pro"/>
                <a:cs typeface="Avenir Next LT Pro"/>
              </a:rPr>
              <a:t>27</a:t>
            </a:r>
          </a:p>
          <a:p>
            <a:pPr marL="0" indent="0" algn="ctr">
              <a:buNone/>
            </a:pPr>
            <a:r>
              <a:rPr lang="en-US" sz="900" b="1" spc="80" dirty="0">
                <a:solidFill>
                  <a:srgbClr val="5A6472"/>
                </a:solidFill>
                <a:latin typeface="Calibri"/>
                <a:cs typeface="Calibri"/>
              </a:rPr>
              <a:t>AUTOMATED TESTS</a:t>
            </a:r>
          </a:p>
        </p:txBody>
      </p:sp>
      <p:sp>
        <p:nvSpPr>
          <p:cNvPr id="563" name="Shape"/>
          <p:cNvSpPr/>
          <p:nvPr/>
        </p:nvSpPr>
        <p:spPr>
          <a:xfrm>
            <a:off x="3352500" y="1700000"/>
            <a:ext cx="2592500" cy="15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00"/>
              </a:spcAft>
              <a:buNone/>
            </a:pPr>
            <a:r>
              <a:rPr lang="en-US" sz="4000" b="1" dirty="0">
                <a:solidFill>
                  <a:srgbClr val="29AAE1"/>
                </a:solidFill>
                <a:latin typeface="Avenir Next LT Pro"/>
                <a:cs typeface="Avenir Next LT Pro"/>
              </a:rPr>
              <a:t>12</a:t>
            </a:r>
          </a:p>
          <a:p>
            <a:pPr marL="0" indent="0" algn="ctr">
              <a:buNone/>
            </a:pPr>
            <a:r>
              <a:rPr lang="en-US" sz="900" b="1" spc="80" dirty="0">
                <a:solidFill>
                  <a:srgbClr val="5A6472"/>
                </a:solidFill>
                <a:latin typeface="Calibri"/>
                <a:cs typeface="Calibri"/>
              </a:rPr>
              <a:t>VERIFIED SCENARIOS</a:t>
            </a:r>
          </a:p>
        </p:txBody>
      </p:sp>
      <p:sp>
        <p:nvSpPr>
          <p:cNvPr id="564" name="Shape"/>
          <p:cNvSpPr/>
          <p:nvPr/>
        </p:nvSpPr>
        <p:spPr>
          <a:xfrm>
            <a:off x="6245000" y="1700000"/>
            <a:ext cx="2592500" cy="15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00"/>
              </a:spcAft>
              <a:buNone/>
            </a:pPr>
            <a:r>
              <a:rPr lang="en-US" sz="4000" b="1" dirty="0">
                <a:solidFill>
                  <a:srgbClr val="24BFCC"/>
                </a:solidFill>
                <a:latin typeface="Avenir Next LT Pro"/>
                <a:cs typeface="Avenir Next LT Pro"/>
              </a:rPr>
              <a:t>10</a:t>
            </a:r>
          </a:p>
          <a:p>
            <a:pPr marL="0" indent="0" algn="ctr">
              <a:buNone/>
            </a:pPr>
            <a:r>
              <a:rPr lang="en-US" sz="900" b="1" spc="80" dirty="0">
                <a:solidFill>
                  <a:srgbClr val="5A6472"/>
                </a:solidFill>
                <a:latin typeface="Calibri"/>
                <a:cs typeface="Calibri"/>
              </a:rPr>
              <a:t>CLASSIFICATION RULES</a:t>
            </a:r>
          </a:p>
        </p:txBody>
      </p:sp>
      <p:sp>
        <p:nvSpPr>
          <p:cNvPr id="565" name="Shape"/>
          <p:cNvSpPr/>
          <p:nvPr/>
        </p:nvSpPr>
        <p:spPr>
          <a:xfrm>
            <a:off x="9137500" y="1700000"/>
            <a:ext cx="2592500" cy="15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spcAft>
                <a:spcPts val="100"/>
              </a:spcAft>
              <a:buNone/>
            </a:pPr>
            <a:r>
              <a:rPr lang="en-US" sz="4000" b="1" dirty="0">
                <a:solidFill>
                  <a:srgbClr val="55BF98"/>
                </a:solidFill>
                <a:latin typeface="Avenir Next LT Pro"/>
                <a:cs typeface="Avenir Next LT Pro"/>
              </a:rPr>
              <a:t>0</a:t>
            </a:r>
          </a:p>
          <a:p>
            <a:pPr marL="0" indent="0" algn="ctr">
              <a:buNone/>
            </a:pPr>
            <a:r>
              <a:rPr lang="en-US" sz="900" b="1" spc="80" dirty="0">
                <a:solidFill>
                  <a:srgbClr val="5A6472"/>
                </a:solidFill>
                <a:latin typeface="Calibri"/>
                <a:cs typeface="Calibri"/>
              </a:rPr>
              <a:t>API KEYS REQUIRED</a:t>
            </a:r>
          </a:p>
        </p:txBody>
      </p:sp>
      <p:sp>
        <p:nvSpPr>
          <p:cNvPr id="566" name="Shape"/>
          <p:cNvSpPr/>
          <p:nvPr/>
        </p:nvSpPr>
        <p:spPr>
          <a:xfrm>
            <a:off x="460000" y="3480000"/>
            <a:ext cx="11270000" cy="1620000"/>
          </a:xfrm>
          <a:prstGeom prst="roundRect">
            <a:avLst>
              <a:gd name="adj" fmla="val 10000"/>
            </a:avLst>
          </a:prstGeom>
          <a:solidFill>
            <a:srgbClr val="F3F7FC"/>
          </a:solidFill>
          <a:ln w="9525">
            <a:solidFill>
              <a:srgbClr val="D8E2EE"/>
            </a:solidFill>
          </a:ln>
        </p:spPr>
        <p:txBody>
          <a:bodyPr wrap="square" lIns="45720" tIns="45720" rIns="45720" bIns="45720" anchor="t">
            <a:noAutofit/>
          </a:bodyPr>
          <a:lstStyle/>
          <a:p>
            <a:endParaRPr lang="en-US"/>
          </a:p>
        </p:txBody>
      </p:sp>
      <p:sp>
        <p:nvSpPr>
          <p:cNvPr id="567" name="TextBox"/>
          <p:cNvSpPr txBox="1"/>
          <p:nvPr/>
        </p:nvSpPr>
        <p:spPr>
          <a:xfrm>
            <a:off x="760000" y="3720000"/>
            <a:ext cx="6000000" cy="300000"/>
          </a:xfrm>
          <a:prstGeom prst="rect">
            <a:avLst/>
          </a:prstGeom>
          <a:noFill/>
        </p:spPr>
        <p:txBody>
          <a:bodyPr wrap="square" lIns="0" tIns="0" rIns="0" bIns="0" anchor="t">
            <a:noAutofit/>
          </a:bodyPr>
          <a:lstStyle/>
          <a:p>
            <a:pPr marL="0" indent="0" algn="l">
              <a:buNone/>
            </a:pPr>
            <a:r>
              <a:rPr lang="en-US" sz="1050" b="1" spc="150" dirty="0">
                <a:solidFill>
                  <a:srgbClr val="2A3C90"/>
                </a:solidFill>
                <a:latin typeface="Avenir Next LT Pro"/>
                <a:cs typeface="Avenir Next LT Pro"/>
              </a:rPr>
              <a:t>CAUGHT ALONG THE WAY, NOT SWEPT UNDER THE RUG</a:t>
            </a:r>
          </a:p>
        </p:txBody>
      </p:sp>
      <p:sp>
        <p:nvSpPr>
          <p:cNvPr id="568" name="TextBox"/>
          <p:cNvSpPr txBox="1"/>
          <p:nvPr/>
        </p:nvSpPr>
        <p:spPr>
          <a:xfrm>
            <a:off x="760000" y="4120000"/>
            <a:ext cx="10670000" cy="800000"/>
          </a:xfrm>
          <a:prstGeom prst="rect">
            <a:avLst/>
          </a:prstGeom>
          <a:noFill/>
        </p:spPr>
        <p:txBody>
          <a:bodyPr wrap="square" lIns="0" tIns="0" rIns="0" bIns="0" anchor="t">
            <a:noAutofit/>
          </a:bodyPr>
          <a:lstStyle/>
          <a:p>
            <a:pPr marL="0" indent="0" algn="l">
              <a:lnSpc>
                <a:spcPct val="110000"/>
              </a:lnSpc>
              <a:buNone/>
            </a:pPr>
            <a:r>
              <a:rPr lang="en-US" sz="1150" dirty="0">
                <a:solidFill>
                  <a:srgbClr val="5A6472"/>
                </a:solidFill>
                <a:latin typeface="Calibri"/>
                <a:cs typeface="Calibri"/>
              </a:rPr>
              <a:t>An over-broad exclusion regex was silently hiding a valid Environment Issue behind a false “insufficient evidence” verdict. It was found only by running every sample scenario through the real engine and reading the output by hand - then locked down with a regression test so it cannot come back.</a:t>
            </a:r>
          </a:p>
        </p:txBody>
      </p:sp>
      <p:sp>
        <p:nvSpPr>
          <p:cNvPr id="569" name="TextBox"/>
          <p:cNvSpPr txBox="1"/>
          <p:nvPr/>
        </p:nvSpPr>
        <p:spPr>
          <a:xfrm>
            <a:off x="460000" y="5320000"/>
            <a:ext cx="11270000" cy="400000"/>
          </a:xfrm>
          <a:prstGeom prst="rect">
            <a:avLst/>
          </a:prstGeom>
          <a:noFill/>
        </p:spPr>
        <p:txBody>
          <a:bodyPr wrap="square" lIns="0" tIns="0" rIns="0" bIns="0" anchor="t">
            <a:noAutofit/>
          </a:bodyPr>
          <a:lstStyle/>
          <a:p>
            <a:pPr marL="0" indent="0" algn="ctr">
              <a:buNone/>
            </a:pPr>
            <a:r>
              <a:rPr lang="en-US" sz="1100" b="1" i="1" dirty="0">
                <a:solidFill>
                  <a:srgbClr val="2A3C90"/>
                </a:solidFill>
                <a:latin typeface="Avenir Next LT Pro"/>
                <a:cs typeface="Avenir Next LT Pro"/>
              </a:rPr>
              <a:t>A demo that has never failed in front of its author has not been tested yet.</a:t>
            </a:r>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body" sz="quarter" idx="14"/>
          </p:nvPr>
        </p:nvSpPr>
        <p:spPr/>
        <p:txBody>
          <a:bodyPr/>
          <a:lstStyle/>
          <a:p>
            <a:r>
              <a:rPr lang="en-US" dirty="0"/>
              <a:t>Case Closed</a:t>
            </a:r>
          </a:p>
        </p:txBody>
      </p:sp>
      <p:sp>
        <p:nvSpPr>
          <p:cNvPr id="3" name="Slide Number Placeholder"/>
          <p:cNvSpPr>
            <a:spLocks noGrp="1"/>
          </p:cNvSpPr>
          <p:nvPr>
            <p:ph type="sldNum" sz="quarter" idx="4"/>
          </p:nvPr>
        </p:nvSpPr>
        <p:spPr/>
        <p:txBody>
          <a:bodyPr/>
          <a:lstStyle/>
          <a:p>
            <a:fld id="{F58B522F-7218-4DD2-9A79-8098A090879F}" type="slidenum">
              <a:rPr lang="en-US" smtClean="0"/>
              <a:pPr/>
              <a:t>2</a:t>
            </a:fld>
            <a:endParaRPr lang="en-US"/>
          </a:p>
        </p:txBody>
      </p:sp>
      <p:sp>
        <p:nvSpPr>
          <p:cNvPr id="570" name="Shape"/>
          <p:cNvSpPr/>
          <p:nvPr/>
        </p:nvSpPr>
        <p:spPr>
          <a:xfrm>
            <a:off x="460000" y="1420000"/>
            <a:ext cx="2637500" cy="9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buNone/>
            </a:pPr>
            <a:r>
              <a:rPr lang="en-US" sz="1350" b="1" dirty="0">
                <a:solidFill>
                  <a:srgbClr val="1C76BC"/>
                </a:solidFill>
                <a:latin typeface="Avenir Next LT Pro"/>
                <a:cs typeface="Avenir Next LT Pro"/>
              </a:rPr>
              <a:t>Evidence-led</a:t>
            </a:r>
          </a:p>
        </p:txBody>
      </p:sp>
      <p:sp>
        <p:nvSpPr>
          <p:cNvPr id="571" name="Shape"/>
          <p:cNvSpPr/>
          <p:nvPr/>
        </p:nvSpPr>
        <p:spPr>
          <a:xfrm>
            <a:off x="3337500" y="1420000"/>
            <a:ext cx="2637500" cy="9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buNone/>
            </a:pPr>
            <a:r>
              <a:rPr lang="en-US" sz="1350" b="1" dirty="0">
                <a:solidFill>
                  <a:srgbClr val="29AAE1"/>
                </a:solidFill>
                <a:latin typeface="Avenir Next LT Pro"/>
                <a:cs typeface="Avenir Next LT Pro"/>
              </a:rPr>
              <a:t>Honest</a:t>
            </a:r>
          </a:p>
        </p:txBody>
      </p:sp>
      <p:sp>
        <p:nvSpPr>
          <p:cNvPr id="572" name="Shape"/>
          <p:cNvSpPr/>
          <p:nvPr/>
        </p:nvSpPr>
        <p:spPr>
          <a:xfrm>
            <a:off x="6215000" y="1420000"/>
            <a:ext cx="2637500" cy="9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buNone/>
            </a:pPr>
            <a:r>
              <a:rPr lang="en-US" sz="1350" b="1" dirty="0">
                <a:solidFill>
                  <a:srgbClr val="24BFCC"/>
                </a:solidFill>
                <a:latin typeface="Avenir Next LT Pro"/>
                <a:cs typeface="Avenir Next LT Pro"/>
              </a:rPr>
              <a:t>Fast</a:t>
            </a:r>
          </a:p>
        </p:txBody>
      </p:sp>
      <p:sp>
        <p:nvSpPr>
          <p:cNvPr id="573" name="Shape"/>
          <p:cNvSpPr/>
          <p:nvPr/>
        </p:nvSpPr>
        <p:spPr>
          <a:xfrm>
            <a:off x="9092500" y="1420000"/>
            <a:ext cx="2637500" cy="9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buNone/>
            </a:pPr>
            <a:r>
              <a:rPr lang="en-US" sz="1350" b="1" dirty="0">
                <a:solidFill>
                  <a:srgbClr val="55BF98"/>
                </a:solidFill>
                <a:latin typeface="Avenir Next LT Pro"/>
                <a:cs typeface="Avenir Next LT Pro"/>
              </a:rPr>
              <a:t>Reproducible</a:t>
            </a:r>
          </a:p>
        </p:txBody>
      </p:sp>
      <p:sp>
        <p:nvSpPr>
          <p:cNvPr id="574" name="Shape"/>
          <p:cNvSpPr/>
          <p:nvPr/>
        </p:nvSpPr>
        <p:spPr>
          <a:xfrm>
            <a:off x="460000" y="2560000"/>
            <a:ext cx="2637500" cy="9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buNone/>
            </a:pPr>
            <a:r>
              <a:rPr lang="en-US" sz="1350" b="1" dirty="0">
                <a:solidFill>
                  <a:srgbClr val="2A3C90"/>
                </a:solidFill>
                <a:latin typeface="Avenir Next LT Pro"/>
                <a:cs typeface="Avenir Next LT Pro"/>
              </a:rPr>
              <a:t>Jira-ready</a:t>
            </a:r>
          </a:p>
        </p:txBody>
      </p:sp>
      <p:sp>
        <p:nvSpPr>
          <p:cNvPr id="575" name="Shape"/>
          <p:cNvSpPr/>
          <p:nvPr/>
        </p:nvSpPr>
        <p:spPr>
          <a:xfrm>
            <a:off x="3337500" y="2560000"/>
            <a:ext cx="2637500" cy="9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buNone/>
            </a:pPr>
            <a:r>
              <a:rPr lang="en-US" sz="1350" b="1" dirty="0">
                <a:solidFill>
                  <a:srgbClr val="B939D8"/>
                </a:solidFill>
                <a:latin typeface="Avenir Next LT Pro"/>
                <a:cs typeface="Avenir Next LT Pro"/>
              </a:rPr>
              <a:t>Zero-setup</a:t>
            </a:r>
          </a:p>
        </p:txBody>
      </p:sp>
      <p:sp>
        <p:nvSpPr>
          <p:cNvPr id="576" name="Shape"/>
          <p:cNvSpPr/>
          <p:nvPr/>
        </p:nvSpPr>
        <p:spPr>
          <a:xfrm>
            <a:off x="6215000" y="2560000"/>
            <a:ext cx="2637500" cy="9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buNone/>
            </a:pPr>
            <a:r>
              <a:rPr lang="en-US" sz="1350" b="1" dirty="0">
                <a:solidFill>
                  <a:srgbClr val="1C76BC"/>
                </a:solidFill>
                <a:latin typeface="Avenir Next LT Pro"/>
                <a:cs typeface="Avenir Next LT Pro"/>
              </a:rPr>
              <a:t>Swappable AI</a:t>
            </a:r>
          </a:p>
        </p:txBody>
      </p:sp>
      <p:sp>
        <p:nvSpPr>
          <p:cNvPr id="577" name="Shape"/>
          <p:cNvSpPr/>
          <p:nvPr/>
        </p:nvSpPr>
        <p:spPr>
          <a:xfrm>
            <a:off x="9092500" y="2560000"/>
            <a:ext cx="2637500" cy="900000"/>
          </a:xfrm>
          <a:prstGeom prst="roundRect">
            <a:avLst>
              <a:gd name="adj" fmla="val 10000"/>
            </a:avLst>
          </a:prstGeom>
          <a:solidFill>
            <a:srgbClr val="FFFFFF"/>
          </a:solidFill>
          <a:ln w="9525">
            <a:solidFill>
              <a:srgbClr val="D8E2EE"/>
            </a:solidFill>
          </a:ln>
        </p:spPr>
        <p:txBody>
          <a:bodyPr wrap="square" lIns="45720" tIns="45720" rIns="45720" bIns="45720" anchor="ctr">
            <a:noAutofit/>
          </a:bodyPr>
          <a:lstStyle/>
          <a:p>
            <a:pPr marL="0" indent="0" algn="ctr">
              <a:buNone/>
            </a:pPr>
            <a:r>
              <a:rPr lang="en-US" sz="1350" b="1" dirty="0">
                <a:solidFill>
                  <a:srgbClr val="29AAE1"/>
                </a:solidFill>
                <a:latin typeface="Avenir Next LT Pro"/>
                <a:cs typeface="Avenir Next LT Pro"/>
              </a:rPr>
              <a:t>Verified</a:t>
            </a:r>
          </a:p>
        </p:txBody>
      </p:sp>
      <p:sp>
        <p:nvSpPr>
          <p:cNvPr id="578" name="TextBox"/>
          <p:cNvSpPr txBox="1"/>
          <p:nvPr/>
        </p:nvSpPr>
        <p:spPr>
          <a:xfrm>
            <a:off x="460000" y="1020000"/>
            <a:ext cx="11270000" cy="340000"/>
          </a:xfrm>
          <a:prstGeom prst="rect">
            <a:avLst/>
          </a:prstGeom>
          <a:noFill/>
        </p:spPr>
        <p:txBody>
          <a:bodyPr wrap="square" lIns="0" tIns="0" rIns="0" bIns="0" anchor="t">
            <a:noAutofit/>
          </a:bodyPr>
          <a:lstStyle/>
          <a:p>
            <a:pPr marL="0" indent="0" algn="ctr">
              <a:buNone/>
            </a:pPr>
            <a:r>
              <a:rPr lang="en-US" sz="1300" b="1" dirty="0">
                <a:solidFill>
                  <a:srgbClr val="2A3C90"/>
                </a:solidFill>
                <a:latin typeface="Avenir Next LT Pro"/>
                <a:cs typeface="Avenir Next LT Pro"/>
              </a:rPr>
              <a:t>AI QA Detective in eight words</a:t>
            </a:r>
          </a:p>
        </p:txBody>
      </p:sp>
      <p:sp>
        <p:nvSpPr>
          <p:cNvPr id="579" name="Shape"/>
          <p:cNvSpPr/>
          <p:nvPr/>
        </p:nvSpPr>
        <p:spPr>
          <a:xfrm>
            <a:off x="460000" y="3800000"/>
            <a:ext cx="11270000" cy="1120000"/>
          </a:xfrm>
          <a:prstGeom prst="roundRect">
            <a:avLst>
              <a:gd name="adj" fmla="val 10000"/>
            </a:avLst>
          </a:prstGeom>
          <a:solidFill>
            <a:srgbClr val="2A3C90"/>
          </a:solidFill>
          <a:ln>
            <a:noFill/>
          </a:ln>
        </p:spPr>
        <p:txBody>
          <a:bodyPr wrap="square" lIns="45720" tIns="45720" rIns="45720" bIns="45720" anchor="ctr">
            <a:noAutofit/>
          </a:bodyPr>
          <a:lstStyle/>
          <a:p>
            <a:pPr marL="0" indent="0" algn="ctr">
              <a:spcAft>
                <a:spcPts val="160"/>
              </a:spcAft>
              <a:buNone/>
            </a:pPr>
            <a:r>
              <a:rPr lang="en-US" sz="1600" b="1" dirty="0">
                <a:solidFill>
                  <a:srgbClr val="FFFFFF"/>
                </a:solidFill>
                <a:latin typeface="Avenir Next LT Pro"/>
                <a:cs typeface="Avenir Next LT Pro"/>
              </a:rPr>
              <a:t>Try the live investigation</a:t>
            </a:r>
          </a:p>
          <a:p>
            <a:pPr marL="0" indent="0" algn="ctr">
              <a:buNone/>
            </a:pPr>
            <a:r>
              <a:rPr lang="en-US" sz="1150" dirty="0">
                <a:solidFill>
                  <a:srgbClr val="AEC4E8"/>
                </a:solidFill>
                <a:latin typeface="Calibri"/>
                <a:cs typeface="Calibri"/>
              </a:rPr>
              <a:t>Runs in Mock AI mode - no API key, no signup, no setup.</a:t>
            </a:r>
          </a:p>
        </p:txBody>
      </p:sp>
      <p:sp>
        <p:nvSpPr>
          <p:cNvPr id="580" name="TextBox"/>
          <p:cNvSpPr txBox="1"/>
          <p:nvPr/>
        </p:nvSpPr>
        <p:spPr>
          <a:xfrm>
            <a:off x="460000" y="5120000"/>
            <a:ext cx="11270000" cy="420000"/>
          </a:xfrm>
          <a:prstGeom prst="rect">
            <a:avLst/>
          </a:prstGeom>
          <a:noFill/>
        </p:spPr>
        <p:txBody>
          <a:bodyPr wrap="square" lIns="0" tIns="0" rIns="0" bIns="0" anchor="t">
            <a:noAutofit/>
          </a:bodyPr>
          <a:lstStyle/>
          <a:p>
            <a:pPr marL="0" indent="0" algn="ctr">
              <a:buNone/>
            </a:pPr>
            <a:r>
              <a:rPr lang="en-US" sz="1000" b="1" spc="120" dirty="0">
                <a:solidFill>
                  <a:srgbClr val="1C76BC"/>
                </a:solidFill>
                <a:latin typeface="Avenir Next LT Pro"/>
                <a:cs typeface="Avenir Next LT Pro"/>
              </a:rPr>
              <a:t>COMING NEXT   </a:t>
            </a:r>
            <a:r>
              <a:rPr lang="en-US" sz="1100" dirty="0">
                <a:solidFill>
                  <a:srgbClr val="5A6472"/>
                </a:solidFill>
                <a:latin typeface="Calibri"/>
                <a:cs typeface="Calibri"/>
              </a:rPr>
              <a:t>CI/CD hooks · real Playwright execution · Slack alerts · embeddings</a:t>
            </a:r>
          </a:p>
        </p:txBody>
      </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E02854C-1751-4911-BA44-D20D9F1EAFFF}"/>
              </a:ext>
            </a:extLst>
          </p:cNvPr>
          <p:cNvSpPr>
            <a:spLocks noGrp="1"/>
          </p:cNvSpPr>
          <p:nvPr>
            <p:ph type="body" sz="quarter" idx="11"/>
          </p:nvPr>
        </p:nvSpPr>
        <p:spPr/>
        <p:txBody>
          <a:bodyPr/>
          <a:lstStyle/>
          <a:p>
            <a:r>
              <a:rPr lang="en-US"/>
              <a:t>Thank You</a:t>
            </a:r>
          </a:p>
        </p:txBody>
      </p:sp>
      <p:sp>
        <p:nvSpPr>
          <p:cNvPr id="581" name="TextBox"/>
          <p:cNvSpPr txBox="1"/>
          <p:nvPr/>
        </p:nvSpPr>
        <p:spPr>
          <a:xfrm>
            <a:off x="685800" y="2620000"/>
            <a:ext cx="6944770" cy="900000"/>
          </a:xfrm>
          <a:prstGeom prst="rect">
            <a:avLst/>
          </a:prstGeom>
          <a:noFill/>
        </p:spPr>
        <p:txBody>
          <a:bodyPr wrap="square" lIns="0" tIns="0" rIns="0" bIns="0" anchor="t">
            <a:noAutofit/>
          </a:bodyPr>
          <a:lstStyle/>
          <a:p>
            <a:pPr marL="0" indent="0" algn="l">
              <a:lnSpc>
                <a:spcPct val="110000"/>
              </a:lnSpc>
              <a:buNone/>
            </a:pPr>
            <a:r>
              <a:rPr lang="en-US" sz="1300" dirty="0">
                <a:solidFill>
                  <a:srgbClr val="AEC4E8"/>
                </a:solidFill>
                <a:latin typeface="Calibri"/>
                <a:cs typeface="Calibri"/>
              </a:rPr>
              <a:t>Questions, live demo, or a walk through the code - happy to go wherever you want.</a:t>
            </a:r>
          </a:p>
        </p:txBody>
      </p:sp>
      <p:sp>
        <p:nvSpPr>
          <p:cNvPr id="582" name="Shape"/>
          <p:cNvSpPr/>
          <p:nvPr/>
        </p:nvSpPr>
        <p:spPr>
          <a:xfrm>
            <a:off x="7900000" y="2180000"/>
            <a:ext cx="3600000" cy="1180000"/>
          </a:xfrm>
          <a:prstGeom prst="roundRect">
            <a:avLst>
              <a:gd name="adj" fmla="val 10000"/>
            </a:avLst>
          </a:prstGeom>
          <a:solidFill>
            <a:srgbClr val="16294F"/>
          </a:solidFill>
          <a:ln w="9525">
            <a:solidFill>
              <a:srgbClr val="2F4A80"/>
            </a:solidFill>
          </a:ln>
        </p:spPr>
        <p:txBody>
          <a:bodyPr wrap="square" lIns="45720" tIns="45720" rIns="45720" bIns="45720" anchor="ctr">
            <a:noAutofit/>
          </a:bodyPr>
          <a:lstStyle/>
          <a:p>
            <a:pPr marL="0" indent="0" algn="ctr">
              <a:spcAft>
                <a:spcPts val="160"/>
              </a:spcAft>
              <a:buNone/>
            </a:pPr>
            <a:r>
              <a:rPr lang="en-US" sz="950" b="1" spc="140" dirty="0">
                <a:solidFill>
                  <a:srgbClr val="29AAE1"/>
                </a:solidFill>
                <a:latin typeface="Avenir Next LT Pro"/>
                <a:cs typeface="Avenir Next LT Pro"/>
              </a:rPr>
              <a:t>LIVE DEMO</a:t>
            </a:r>
          </a:p>
          <a:p>
            <a:pPr marL="0" indent="0" algn="ctr">
              <a:spcAft>
                <a:spcPts val="120"/>
              </a:spcAft>
              <a:buNone/>
            </a:pPr>
            <a:r>
              <a:rPr lang="en-US" sz="1300" b="1" dirty="0">
                <a:solidFill>
                  <a:srgbClr val="FFFFFF"/>
                </a:solidFill>
                <a:latin typeface="Avenir Next LT Pro"/>
                <a:cs typeface="Avenir Next LT Pro"/>
              </a:rPr>
              <a:t>Runs in Mock AI mode</a:t>
            </a:r>
          </a:p>
          <a:p>
            <a:pPr marL="0" indent="0" algn="ctr">
              <a:buNone/>
            </a:pPr>
            <a:r>
              <a:rPr lang="en-US" sz="1050" dirty="0">
                <a:solidFill>
                  <a:srgbClr val="AEC4E8"/>
                </a:solidFill>
                <a:latin typeface="Calibri"/>
                <a:cs typeface="Calibri"/>
              </a:rPr>
              <a:t>No API key · No signup</a:t>
            </a:r>
          </a:p>
        </p:txBody>
      </p:sp>
    </p:spTree>
    <p:extLst>
      <p:ext uri="{BB962C8B-B14F-4D97-AF65-F5344CB8AC3E}">
        <p14:creationId xmlns:p14="http://schemas.microsoft.com/office/powerpoint/2010/main" val="108207250"/>
      </p:ext>
    </p:extLst>
  </p:cSld>
  <p:clrMapOvr>
    <a:masterClrMapping/>
  </p:clrMapOvr>
</p:sld>
</file>

<file path=ppt/theme/theme1.xml><?xml version="1.0" encoding="utf-8"?>
<a:theme xmlns:a="http://schemas.openxmlformats.org/drawingml/2006/main" name="AA Theme - White">
  <a:themeElements>
    <a:clrScheme name="AlignedAutomation">
      <a:dk1>
        <a:sysClr val="windowText" lastClr="000000"/>
      </a:dk1>
      <a:lt1>
        <a:sysClr val="window" lastClr="FFFFFF"/>
      </a:lt1>
      <a:dk2>
        <a:srgbClr val="2A3C90"/>
      </a:dk2>
      <a:lt2>
        <a:srgbClr val="E7E6E6"/>
      </a:lt2>
      <a:accent1>
        <a:srgbClr val="1C76BC"/>
      </a:accent1>
      <a:accent2>
        <a:srgbClr val="29AAE1"/>
      </a:accent2>
      <a:accent3>
        <a:srgbClr val="B939D8"/>
      </a:accent3>
      <a:accent4>
        <a:srgbClr val="24BFCC"/>
      </a:accent4>
      <a:accent5>
        <a:srgbClr val="55BF98"/>
      </a:accent5>
      <a:accent6>
        <a:srgbClr val="FFD965"/>
      </a:accent6>
      <a:hlink>
        <a:srgbClr val="27A9E1"/>
      </a:hlink>
      <a:folHlink>
        <a:srgbClr val="954F72"/>
      </a:folHlink>
    </a:clrScheme>
    <a:fontScheme name="Custom 1">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1" id="{1F8BEEA2-4414-4C64-A897-E75AA82FD635}" vid="{7C6FEB5C-9681-4E6A-B706-21B213EC226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32C9BCD6F3DB54588CE97B08D1A356C" ma:contentTypeVersion="8" ma:contentTypeDescription="Create a new document." ma:contentTypeScope="" ma:versionID="c17cec7ecaca043a7175045e5c4a17fc">
  <xsd:schema xmlns:xsd="http://www.w3.org/2001/XMLSchema" xmlns:xs="http://www.w3.org/2001/XMLSchema" xmlns:p="http://schemas.microsoft.com/office/2006/metadata/properties" xmlns:ns2="4de4a894-8ab4-49f5-852a-57cf6b725b5d" targetNamespace="http://schemas.microsoft.com/office/2006/metadata/properties" ma:root="true" ma:fieldsID="2e79c878ca786527a66ed1d0cbcd235c" ns2:_="">
    <xsd:import namespace="4de4a894-8ab4-49f5-852a-57cf6b725b5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ObjectDetectorVersions"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e4a894-8ab4-49f5-852a-57cf6b725b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B8E54C-67FE-46A7-8E34-6D2CC4A93B23}">
  <ds:schemaRefs>
    <ds:schemaRef ds:uri="http://schemas.microsoft.com/sharepoint/v3/contenttype/forms"/>
  </ds:schemaRefs>
</ds:datastoreItem>
</file>

<file path=customXml/itemProps2.xml><?xml version="1.0" encoding="utf-8"?>
<ds:datastoreItem xmlns:ds="http://schemas.openxmlformats.org/officeDocument/2006/customXml" ds:itemID="{DF4D70D1-F81D-448B-B273-FCD711A6394A}">
  <ds:schemaRefs>
    <ds:schemaRef ds:uri="8fac8a58-19fc-4d34-96c4-61eecd4701c8"/>
    <ds:schemaRef ds:uri="http://www.w3.org/XML/1998/namespace"/>
    <ds:schemaRef ds:uri="http://schemas.microsoft.com/office/2006/documentManagement/types"/>
    <ds:schemaRef ds:uri="ad818e24-60bf-46ca-b22f-7dadaea7dd2b"/>
    <ds:schemaRef ds:uri="http://purl.org/dc/terms/"/>
    <ds:schemaRef ds:uri="http://purl.org/dc/dcmitype/"/>
    <ds:schemaRef ds:uri="http://schemas.microsoft.com/office/infopath/2007/PartnerControls"/>
    <ds:schemaRef ds:uri="http://schemas.openxmlformats.org/package/2006/metadata/core-propertie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A97C1358-6975-4BF5-857B-0E817871B2C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de4a894-8ab4-49f5-852a-57cf6b725b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3dcd35b5-f9c5-48ca-8653-821568ad3397}" enabled="0" method="" siteId="{3dcd35b5-f9c5-48ca-8653-821568ad3397}" removed="1"/>
  <clbl:label id="{ab600bf3-54ae-4595-bfc0-4225f2e608de}" enabled="1" method="Standard" siteId="{fbe62081-06d8-481d-baa0-34149cfefa5f}" contentBits="0" removed="0"/>
</clbl:labelList>
</file>

<file path=docProps/app.xml><?xml version="1.0" encoding="utf-8"?>
<Properties xmlns="http://schemas.openxmlformats.org/officeDocument/2006/extended-properties" xmlns:vt="http://schemas.openxmlformats.org/officeDocument/2006/docPropsVTypes">
  <TotalTime>7418</TotalTime>
  <Words>2299</Words>
  <Application>Microsoft Office PowerPoint</Application>
  <PresentationFormat>Widescreen</PresentationFormat>
  <Paragraphs>358</Paragraphs>
  <Slides>15</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Avenir Next LT Pro</vt:lpstr>
      <vt:lpstr>Avenir Next LT Pro Demi</vt:lpstr>
      <vt:lpstr>Calibri</vt:lpstr>
      <vt:lpstr>Courier New</vt:lpstr>
      <vt:lpstr>AA Theme - White</vt:lpstr>
      <vt:lpstr>Playwright Automation Testing</vt:lpstr>
      <vt:lpstr>Agenda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Summary</dc:title>
  <dc:creator>Gulati, Gaurav</dc:creator>
  <cp:lastModifiedBy>Nitin Gawali</cp:lastModifiedBy>
  <cp:revision>73</cp:revision>
  <dcterms:created xsi:type="dcterms:W3CDTF">2020-12-11T07:47:59Z</dcterms:created>
  <dcterms:modified xsi:type="dcterms:W3CDTF">2026-07-17T06:31:38Z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b600bf3-54ae-4595-bfc0-4225f2e608de_Enabled">
    <vt:lpwstr>true</vt:lpwstr>
  </property>
  <property fmtid="{D5CDD505-2E9C-101B-9397-08002B2CF9AE}" pid="3" name="MSIP_Label_ab600bf3-54ae-4595-bfc0-4225f2e608de_SetDate">
    <vt:lpwstr>2020-12-11T07:47:59Z</vt:lpwstr>
  </property>
  <property fmtid="{D5CDD505-2E9C-101B-9397-08002B2CF9AE}" pid="4" name="MSIP_Label_ab600bf3-54ae-4595-bfc0-4225f2e608de_Method">
    <vt:lpwstr>Standard</vt:lpwstr>
  </property>
  <property fmtid="{D5CDD505-2E9C-101B-9397-08002B2CF9AE}" pid="5" name="MSIP_Label_ab600bf3-54ae-4595-bfc0-4225f2e608de_Name">
    <vt:lpwstr>ab600bf3-54ae-4595-bfc0-4225f2e608de</vt:lpwstr>
  </property>
  <property fmtid="{D5CDD505-2E9C-101B-9397-08002B2CF9AE}" pid="6" name="MSIP_Label_ab600bf3-54ae-4595-bfc0-4225f2e608de_SiteId">
    <vt:lpwstr>fbe62081-06d8-481d-baa0-34149cfefa5f</vt:lpwstr>
  </property>
  <property fmtid="{D5CDD505-2E9C-101B-9397-08002B2CF9AE}" pid="7" name="MSIP_Label_ab600bf3-54ae-4595-bfc0-4225f2e608de_ActionId">
    <vt:lpwstr>be90e867-09a6-48d0-bb1b-20e1a9fac1ff</vt:lpwstr>
  </property>
  <property fmtid="{D5CDD505-2E9C-101B-9397-08002B2CF9AE}" pid="8" name="MSIP_Label_ab600bf3-54ae-4595-bfc0-4225f2e608de_ContentBits">
    <vt:lpwstr>0</vt:lpwstr>
  </property>
  <property fmtid="{D5CDD505-2E9C-101B-9397-08002B2CF9AE}" pid="9" name="ContentTypeId">
    <vt:lpwstr>0x010100432C9BCD6F3DB54588CE97B08D1A356C</vt:lpwstr>
  </property>
  <property fmtid="{D5CDD505-2E9C-101B-9397-08002B2CF9AE}" pid="10" name="MediaServiceImageTags">
    <vt:lpwstr/>
  </property>
</Properties>
</file>